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68" r:id="rId3"/>
    <p:sldId id="273" r:id="rId4"/>
    <p:sldId id="257" r:id="rId5"/>
    <p:sldId id="274" r:id="rId6"/>
    <p:sldId id="258" r:id="rId7"/>
    <p:sldId id="259" r:id="rId8"/>
    <p:sldId id="269" r:id="rId9"/>
    <p:sldId id="260" r:id="rId10"/>
    <p:sldId id="261" r:id="rId11"/>
    <p:sldId id="270" r:id="rId12"/>
    <p:sldId id="271" r:id="rId13"/>
    <p:sldId id="262" r:id="rId14"/>
    <p:sldId id="263" r:id="rId15"/>
    <p:sldId id="264"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napToObjects="1">
      <p:cViewPr varScale="1">
        <p:scale>
          <a:sx n="47" d="100"/>
          <a:sy n="47" d="100"/>
        </p:scale>
        <p:origin x="1864" y="2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5510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 we’re exploring Deep Learning — a special branch of Machine Learning that has made huge breakthroughs in speech recognition, image processing, and natural language understanding. We’ll look at what it is, how it works, where it’s used, and why it’s different from traditional ML.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Deep Learning is a special branch of Machine Learning inspired by how our brain’s neurons work.</a:t>
            </a:r>
          </a:p>
          <a:p>
            <a:r>
              <a:t>It uses networks with many layers — that’s why it’s called ‘deep’.</a:t>
            </a:r>
          </a:p>
          <a:p>
            <a:r>
              <a:t>Deep Learning powers speech recognition, facial recognition, and the tech behind modern chatbots.</a:t>
            </a:r>
          </a:p>
          <a:p>
            <a:r>
              <a:t>If ML is a bicycle, DL is a sports car — faster, more powerful, but needing more data and fuel.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Deep Learning is inspired by how the human brain processes information. It uses layers of ‘artificial neurons’ to learn directly from data. The word deep refers to having many layers — the more layers, the more complex patterns it can learn.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Machine Learning can work with smaller data and often requires humans to decide which features are important. Deep Learning needs more data and computing power, but it can automatically learn features — this makes it more powerful for unstructured data like images, audio, and text.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neural network takes inputs, passes them through layers of neurons, and produces an output. Each connection has a weight — the network learns these weights during training. For example, to detect if an image is a cat or dog, neurons might detect shapes, patterns, and colors, and combine that knowledge to decide.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Training is like trial and error at high speed. The model makes a guess, checks how far off it is, and adjusts its internal settings. This happens millions of times until the model becomes accurate.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Different architectures suit different problems: CNNs excel at vision tasks. RNNs work well with sequences, like language or time series. Transformers, which we’ll discuss more in the LLM session, are the current state-of-the-art for NLP.</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Deep Learning shines because it can learn directly from raw data, no hand-crafted rules needed. And with more data, it keeps getting better. Pre-trained models can even transfer knowledge from one task to another.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DL is behind many AI breakthroughs: diagnosing diseases from scans, powering smart assistants, making self-driving cars see, and enabling instant translation.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DL isn’t perfect — it’s data-hungry and resource-intensive. It can be a black box, meaning it’s hard to explain why it made a decision, and if your data has bias, the model will too.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short: DL is ML on steroids — it handles complex, unstructured data incredibly well, but comes with big requirements for data, compute, and transparency.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that we understand the engine, in the next session we’ll see how AI uses it to create — that’s where Generative AI comes in.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46F798CA-DE84-44B4-16D3-7CC6C70A3017}"/>
              </a:ext>
            </a:extLst>
          </p:cNvPr>
          <p:cNvSpPr txBox="1"/>
          <p:nvPr userDrawn="1">
            <p:extLst>
              <p:ext uri="{1162E1C5-73C7-4A58-AE30-91384D911F3F}">
                <p184:classification xmlns:p184="http://schemas.microsoft.com/office/powerpoint/2018/4/main" val="ftr"/>
              </p:ext>
            </p:extLst>
          </p:nvPr>
        </p:nvSpPr>
        <p:spPr>
          <a:xfrm>
            <a:off x="190500" y="6560820"/>
            <a:ext cx="419100" cy="106680"/>
          </a:xfrm>
          <a:prstGeom prst="rect">
            <a:avLst/>
          </a:prstGeom>
        </p:spPr>
        <p:txBody>
          <a:bodyPr horzOverflow="overflow" lIns="0" tIns="0" rIns="0" bIns="0">
            <a:spAutoFit/>
          </a:bodyPr>
          <a:lstStyle/>
          <a:p>
            <a:pPr algn="l"/>
            <a:r>
              <a:rPr lang="en-US" sz="7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C2 General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jpg"/><Relationship Id="rId5" Type="http://schemas.openxmlformats.org/officeDocument/2006/relationships/image" Target="../media/image11.jpeg"/><Relationship Id="rId4" Type="http://schemas.openxmlformats.org/officeDocument/2006/relationships/image" Target="../media/image10.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wireframe of a brain&#10;&#10;AI-generated content may be incorrect.">
            <a:extLst>
              <a:ext uri="{FF2B5EF4-FFF2-40B4-BE49-F238E27FC236}">
                <a16:creationId xmlns:a16="http://schemas.microsoft.com/office/drawing/2014/main" id="{FA4E30E1-267F-030A-B3D0-966189350FC0}"/>
              </a:ext>
            </a:extLst>
          </p:cNvPr>
          <p:cNvPicPr>
            <a:picLocks noChangeAspect="1"/>
          </p:cNvPicPr>
          <p:nvPr/>
        </p:nvPicPr>
        <p:blipFill>
          <a:blip r:embed="rId3"/>
          <a:srcRect l="13923" t="9091" r="5168"/>
          <a:stretch>
            <a:fillRect/>
          </a:stretch>
        </p:blipFill>
        <p:spPr>
          <a:xfrm>
            <a:off x="20" y="10"/>
            <a:ext cx="9143980" cy="6857990"/>
          </a:xfrm>
          <a:prstGeom prst="rect">
            <a:avLst/>
          </a:prstGeom>
        </p:spPr>
      </p:pic>
      <p:sp>
        <p:nvSpPr>
          <p:cNvPr id="17" name="Rectangle 16">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5" y="-511"/>
            <a:ext cx="4592270" cy="9144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03414" y="3091928"/>
            <a:ext cx="6808922" cy="2387600"/>
          </a:xfrm>
        </p:spPr>
        <p:txBody>
          <a:bodyPr vert="horz" lIns="91440" tIns="45720" rIns="91440" bIns="45720" rtlCol="0" anchor="b">
            <a:normAutofit/>
          </a:bodyPr>
          <a:lstStyle/>
          <a:p>
            <a:pPr algn="l" defTabSz="914400">
              <a:lnSpc>
                <a:spcPct val="90000"/>
              </a:lnSpc>
            </a:pPr>
            <a:r>
              <a:rPr lang="en-US" sz="5700">
                <a:solidFill>
                  <a:schemeClr val="bg1"/>
                </a:solidFill>
              </a:rPr>
              <a:t>Deep Learning – Powering Modern AI</a:t>
            </a:r>
          </a:p>
        </p:txBody>
      </p:sp>
      <p:sp>
        <p:nvSpPr>
          <p:cNvPr id="19" name="Rectangle: Rounded Corners 18">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03414" y="5624945"/>
            <a:ext cx="6808922" cy="592975"/>
          </a:xfrm>
        </p:spPr>
        <p:txBody>
          <a:bodyPr vert="horz" lIns="91440" tIns="45720" rIns="91440" bIns="45720" rtlCol="0" anchor="ctr">
            <a:normAutofit/>
          </a:bodyPr>
          <a:lstStyle/>
          <a:p>
            <a:pPr marL="0" indent="0" defTabSz="914400">
              <a:lnSpc>
                <a:spcPct val="90000"/>
              </a:lnSpc>
              <a:spcBef>
                <a:spcPts val="1000"/>
              </a:spcBef>
              <a:buNone/>
            </a:pPr>
            <a:r>
              <a:rPr lang="en-US" sz="2400">
                <a:solidFill>
                  <a:schemeClr val="bg1"/>
                </a:solidFill>
              </a:rPr>
              <a:t>Neural Networks and Beyond</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5594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Content Placeholder 14" descr="A diagram of machine learning&#10;&#10;AI-generated content may be incorrect.">
            <a:extLst>
              <a:ext uri="{FF2B5EF4-FFF2-40B4-BE49-F238E27FC236}">
                <a16:creationId xmlns:a16="http://schemas.microsoft.com/office/drawing/2014/main" id="{8569B23B-A427-8D0A-5133-E98C3D069207}"/>
              </a:ext>
            </a:extLst>
          </p:cNvPr>
          <p:cNvPicPr>
            <a:picLocks noGrp="1" noChangeAspect="1"/>
          </p:cNvPicPr>
          <p:nvPr>
            <p:ph idx="1"/>
          </p:nvPr>
        </p:nvPicPr>
        <p:blipFill>
          <a:blip r:embed="rId2"/>
          <a:stretch>
            <a:fillRect/>
          </a:stretch>
        </p:blipFill>
        <p:spPr>
          <a:xfrm>
            <a:off x="1786466" y="643467"/>
            <a:ext cx="5571066" cy="5571066"/>
          </a:xfrm>
          <a:prstGeom prst="rect">
            <a:avLst/>
          </a:prstGeom>
        </p:spPr>
      </p:pic>
    </p:spTree>
    <p:extLst>
      <p:ext uri="{BB962C8B-B14F-4D97-AF65-F5344CB8AC3E}">
        <p14:creationId xmlns:p14="http://schemas.microsoft.com/office/powerpoint/2010/main" val="4130435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p:cNvSpPr>
            <a:spLocks noGrp="1"/>
          </p:cNvSpPr>
          <p:nvPr>
            <p:ph type="title"/>
          </p:nvPr>
        </p:nvSpPr>
        <p:spPr>
          <a:xfrm>
            <a:off x="628650" y="448721"/>
            <a:ext cx="3530753" cy="1225650"/>
          </a:xfrm>
        </p:spPr>
        <p:txBody>
          <a:bodyPr anchor="b">
            <a:normAutofit/>
          </a:bodyPr>
          <a:lstStyle/>
          <a:p>
            <a:r>
              <a:rPr lang="en-US" sz="3300" b="1" dirty="0">
                <a:solidFill>
                  <a:schemeClr val="bg1"/>
                </a:solidFill>
              </a:rPr>
              <a:t>Artificial Neuron</a:t>
            </a:r>
          </a:p>
        </p:txBody>
      </p:sp>
      <p:cxnSp>
        <p:nvCxnSpPr>
          <p:cNvPr id="34" name="Straight Connector 33">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3904" y="1749756"/>
            <a:ext cx="353872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673326" y="1909192"/>
            <a:ext cx="3439885" cy="3647710"/>
          </a:xfrm>
        </p:spPr>
        <p:txBody>
          <a:bodyPr>
            <a:normAutofit/>
          </a:bodyPr>
          <a:lstStyle/>
          <a:p>
            <a:pPr marL="0" indent="0">
              <a:buNone/>
            </a:pPr>
            <a:endParaRPr lang="en-US" sz="1700" dirty="0">
              <a:solidFill>
                <a:schemeClr val="bg1"/>
              </a:solidFill>
            </a:endParaRPr>
          </a:p>
          <a:p>
            <a:r>
              <a:rPr lang="en-US" sz="1700" dirty="0">
                <a:solidFill>
                  <a:schemeClr val="bg1"/>
                </a:solidFill>
              </a:rPr>
              <a:t>An artificial neuron takes multiple inputs and assigns weights to them.</a:t>
            </a:r>
          </a:p>
          <a:p>
            <a:r>
              <a:rPr lang="en-US" sz="1700" dirty="0">
                <a:solidFill>
                  <a:schemeClr val="bg1"/>
                </a:solidFill>
              </a:rPr>
              <a:t>It adds the weighted inputs and a bias, then passes the result through an activation function.</a:t>
            </a:r>
          </a:p>
          <a:p>
            <a:r>
              <a:rPr lang="en-US" sz="1700" dirty="0">
                <a:solidFill>
                  <a:schemeClr val="bg1"/>
                </a:solidFill>
              </a:rPr>
              <a:t>The final output helps the neural network learn patterns and make predictions.</a:t>
            </a:r>
          </a:p>
          <a:p>
            <a:endParaRPr lang="en-US" sz="1700" dirty="0">
              <a:solidFill>
                <a:schemeClr val="bg1"/>
              </a:solidFill>
            </a:endParaRPr>
          </a:p>
        </p:txBody>
      </p:sp>
      <p:cxnSp>
        <p:nvCxnSpPr>
          <p:cNvPr id="36" name="Straight Connector 35">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5520" y="5707672"/>
            <a:ext cx="353549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A diagram of a cell body and an object with text&#10;&#10;AI-generated content may be incorrect.">
            <a:extLst>
              <a:ext uri="{FF2B5EF4-FFF2-40B4-BE49-F238E27FC236}">
                <a16:creationId xmlns:a16="http://schemas.microsoft.com/office/drawing/2014/main" id="{F6B9E6FA-A678-D025-D1CD-AA0A87D56912}"/>
              </a:ext>
            </a:extLst>
          </p:cNvPr>
          <p:cNvPicPr>
            <a:picLocks noChangeAspect="1"/>
          </p:cNvPicPr>
          <p:nvPr/>
        </p:nvPicPr>
        <p:blipFill>
          <a:blip r:embed="rId3"/>
          <a:stretch>
            <a:fillRect/>
          </a:stretch>
        </p:blipFill>
        <p:spPr>
          <a:xfrm>
            <a:off x="4894089" y="1226973"/>
            <a:ext cx="4249911" cy="440405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50000"/>
                </a:schemeClr>
              </a:solidFill>
            </a:endParaRPr>
          </a:p>
        </p:txBody>
      </p:sp>
      <p:sp>
        <p:nvSpPr>
          <p:cNvPr id="2" name="Title 1"/>
          <p:cNvSpPr>
            <a:spLocks noGrp="1"/>
          </p:cNvSpPr>
          <p:nvPr>
            <p:ph type="ctrTitle"/>
          </p:nvPr>
        </p:nvSpPr>
        <p:spPr>
          <a:xfrm>
            <a:off x="1449677" y="949325"/>
            <a:ext cx="6053779" cy="2387600"/>
          </a:xfrm>
        </p:spPr>
        <p:txBody>
          <a:bodyPr>
            <a:normAutofit/>
          </a:bodyPr>
          <a:lstStyle/>
          <a:p>
            <a:pPr algn="l"/>
            <a:r>
              <a:rPr lang="en-US" sz="5700">
                <a:solidFill>
                  <a:schemeClr val="bg1"/>
                </a:solidFill>
              </a:rPr>
              <a:t>What is Deep Learning?</a:t>
            </a:r>
          </a:p>
        </p:txBody>
      </p:sp>
      <p:sp>
        <p:nvSpPr>
          <p:cNvPr id="3" name="Subtitle 2"/>
          <p:cNvSpPr>
            <a:spLocks noGrp="1"/>
          </p:cNvSpPr>
          <p:nvPr>
            <p:ph type="subTitle" idx="1"/>
          </p:nvPr>
        </p:nvSpPr>
        <p:spPr>
          <a:xfrm>
            <a:off x="1449676" y="3429000"/>
            <a:ext cx="6053773" cy="1655762"/>
          </a:xfrm>
        </p:spPr>
        <p:txBody>
          <a:bodyPr>
            <a:normAutofit/>
          </a:bodyPr>
          <a:lstStyle/>
          <a:p>
            <a:pPr algn="l">
              <a:lnSpc>
                <a:spcPct val="90000"/>
              </a:lnSpc>
            </a:pPr>
            <a:r>
              <a:rPr lang="en-US" sz="2800">
                <a:solidFill>
                  <a:schemeClr val="bg1"/>
                </a:solidFill>
              </a:rPr>
              <a:t>Definition: A subset of Machine Learning that uses multi-layered neural networks to automatically learn complex patterns from large amounts of data.</a:t>
            </a:r>
          </a:p>
        </p:txBody>
      </p:sp>
      <p:cxnSp>
        <p:nvCxnSpPr>
          <p:cNvPr id="44" name="Straight Connector 43">
            <a:extLst>
              <a:ext uri="{FF2B5EF4-FFF2-40B4-BE49-F238E27FC236}">
                <a16:creationId xmlns:a16="http://schemas.microsoft.com/office/drawing/2014/main" id="{EC4521DE-248E-440D-AAD6-FD9E7D34B3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8963"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42C13FA-4C0F-42D0-9626-5BA6040D8C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6252485"/>
            <a:ext cx="9144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19F7815-3AA2-7679-26F4-A63338C8B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501" y="4843169"/>
            <a:ext cx="9147501" cy="2016059"/>
            <a:chOff x="-4668" y="4843169"/>
            <a:chExt cx="12196668" cy="2016059"/>
          </a:xfrm>
        </p:grpSpPr>
        <p:sp>
          <p:nvSpPr>
            <p:cNvPr id="11" name="Rectangle 10">
              <a:extLst>
                <a:ext uri="{FF2B5EF4-FFF2-40B4-BE49-F238E27FC236}">
                  <a16:creationId xmlns:a16="http://schemas.microsoft.com/office/drawing/2014/main" id="{656154CE-3587-5C44-2A6B-1FE49B302C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668" y="4843169"/>
              <a:ext cx="12196668" cy="2015947"/>
            </a:xfrm>
            <a:prstGeom prst="rect">
              <a:avLst/>
            </a:prstGeom>
            <a:gradFill>
              <a:gsLst>
                <a:gs pos="0">
                  <a:schemeClr val="accent5"/>
                </a:gs>
                <a:gs pos="100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E7A46DB-98C4-E666-AEC5-DF8B5DD9E7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68" y="4844400"/>
              <a:ext cx="10565988" cy="2014828"/>
            </a:xfrm>
            <a:prstGeom prst="rect">
              <a:avLst/>
            </a:prstGeom>
            <a:gradFill flip="none" rotWithShape="1">
              <a:gsLst>
                <a:gs pos="3000">
                  <a:schemeClr val="accent2"/>
                </a:gs>
                <a:gs pos="40000">
                  <a:schemeClr val="accent2">
                    <a:alpha val="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9F8962A-028A-2EBA-FBCF-F9B0334400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68" y="4843170"/>
              <a:ext cx="10309010" cy="2006799"/>
            </a:xfrm>
            <a:prstGeom prst="rect">
              <a:avLst/>
            </a:prstGeom>
            <a:gradFill>
              <a:gsLst>
                <a:gs pos="0">
                  <a:schemeClr val="accent5">
                    <a:alpha val="76000"/>
                  </a:schemeClr>
                </a:gs>
                <a:gs pos="67000">
                  <a:schemeClr val="accent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F139663-D7C2-5898-E610-2183584AC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105876" y="4851203"/>
              <a:ext cx="8086124" cy="2006797"/>
            </a:xfrm>
            <a:prstGeom prst="rect">
              <a:avLst/>
            </a:prstGeom>
            <a:gradFill flip="none" rotWithShape="1">
              <a:gsLst>
                <a:gs pos="0">
                  <a:schemeClr val="accent5">
                    <a:lumMod val="50000"/>
                    <a:alpha val="36000"/>
                  </a:schemeClr>
                </a:gs>
                <a:gs pos="45000">
                  <a:schemeClr val="accent5">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 name="Title 1">
            <a:extLst>
              <a:ext uri="{FF2B5EF4-FFF2-40B4-BE49-F238E27FC236}">
                <a16:creationId xmlns:a16="http://schemas.microsoft.com/office/drawing/2014/main" id="{88ED6639-30BF-5B9A-3C27-4EBBFBB36EAD}"/>
              </a:ext>
            </a:extLst>
          </p:cNvPr>
          <p:cNvSpPr>
            <a:spLocks noGrp="1"/>
          </p:cNvSpPr>
          <p:nvPr>
            <p:ph type="title"/>
          </p:nvPr>
        </p:nvSpPr>
        <p:spPr>
          <a:xfrm>
            <a:off x="1208722" y="5167418"/>
            <a:ext cx="6712268" cy="702264"/>
          </a:xfrm>
        </p:spPr>
        <p:txBody>
          <a:bodyPr vert="horz" lIns="91440" tIns="45720" rIns="91440" bIns="45720" rtlCol="0" anchor="b">
            <a:normAutofit/>
          </a:bodyPr>
          <a:lstStyle/>
          <a:p>
            <a:pPr defTabSz="914400">
              <a:lnSpc>
                <a:spcPct val="90000"/>
              </a:lnSpc>
            </a:pPr>
            <a:r>
              <a:rPr lang="en-US" sz="3100" kern="1200">
                <a:solidFill>
                  <a:srgbClr val="FFFFFF"/>
                </a:solidFill>
                <a:latin typeface="+mj-lt"/>
                <a:ea typeface="+mj-ea"/>
                <a:cs typeface="+mj-cs"/>
              </a:rPr>
              <a:t>Multi Layer Network</a:t>
            </a:r>
          </a:p>
        </p:txBody>
      </p:sp>
      <p:pic>
        <p:nvPicPr>
          <p:cNvPr id="5" name="Content Placeholder 4" descr="A diagram of a number&#10;&#10;AI-generated content may be incorrect.">
            <a:extLst>
              <a:ext uri="{FF2B5EF4-FFF2-40B4-BE49-F238E27FC236}">
                <a16:creationId xmlns:a16="http://schemas.microsoft.com/office/drawing/2014/main" id="{FCBD3390-6D3A-50DC-9922-93FC697409F7}"/>
              </a:ext>
            </a:extLst>
          </p:cNvPr>
          <p:cNvPicPr>
            <a:picLocks noGrp="1" noChangeAspect="1"/>
          </p:cNvPicPr>
          <p:nvPr>
            <p:ph idx="1"/>
          </p:nvPr>
        </p:nvPicPr>
        <p:blipFill>
          <a:blip r:embed="rId2"/>
          <a:stretch>
            <a:fillRect/>
          </a:stretch>
        </p:blipFill>
        <p:spPr>
          <a:xfrm>
            <a:off x="0" y="8031"/>
            <a:ext cx="9143999" cy="4825990"/>
          </a:xfrm>
          <a:prstGeom prst="rect">
            <a:avLst/>
          </a:prstGeom>
        </p:spPr>
      </p:pic>
    </p:spTree>
    <p:extLst>
      <p:ext uri="{BB962C8B-B14F-4D97-AF65-F5344CB8AC3E}">
        <p14:creationId xmlns:p14="http://schemas.microsoft.com/office/powerpoint/2010/main" val="1172810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Graphic 212">
            <a:extLst>
              <a:ext uri="{FF2B5EF4-FFF2-40B4-BE49-F238E27FC236}">
                <a16:creationId xmlns:a16="http://schemas.microsoft.com/office/drawing/2014/main" id="{55C61911-45B2-48BF-AC7A-1EB579B42C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6779" y="798490"/>
            <a:ext cx="685924"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Graphic 212">
            <a:extLst>
              <a:ext uri="{FF2B5EF4-FFF2-40B4-BE49-F238E27FC236}">
                <a16:creationId xmlns:a16="http://schemas.microsoft.com/office/drawing/2014/main" id="{2DE4D4CE-6DAE-4A05-BE5B-6BCE3F4EC7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6779" y="798490"/>
            <a:ext cx="685924"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 name="Title 1"/>
          <p:cNvSpPr>
            <a:spLocks noGrp="1"/>
          </p:cNvSpPr>
          <p:nvPr>
            <p:ph type="ctrTitle"/>
          </p:nvPr>
        </p:nvSpPr>
        <p:spPr>
          <a:xfrm>
            <a:off x="826775" y="1264801"/>
            <a:ext cx="3085928" cy="4296387"/>
          </a:xfrm>
        </p:spPr>
        <p:txBody>
          <a:bodyPr vert="horz" lIns="91440" tIns="45720" rIns="91440" bIns="45720" rtlCol="0" anchor="ctr">
            <a:normAutofit/>
          </a:bodyPr>
          <a:lstStyle/>
          <a:p>
            <a:pPr defTabSz="914400">
              <a:lnSpc>
                <a:spcPct val="90000"/>
              </a:lnSpc>
            </a:pPr>
            <a:r>
              <a:rPr lang="en-US" kern="1200">
                <a:solidFill>
                  <a:schemeClr val="bg1"/>
                </a:solidFill>
                <a:latin typeface="+mj-lt"/>
                <a:ea typeface="+mj-ea"/>
                <a:cs typeface="+mj-cs"/>
              </a:rPr>
              <a:t>ML vs DL</a:t>
            </a:r>
          </a:p>
        </p:txBody>
      </p:sp>
      <p:grpSp>
        <p:nvGrpSpPr>
          <p:cNvPr id="38" name="Group 37">
            <a:extLst>
              <a:ext uri="{FF2B5EF4-FFF2-40B4-BE49-F238E27FC236}">
                <a16:creationId xmlns:a16="http://schemas.microsoft.com/office/drawing/2014/main" id="{B8CB1D39-68D4-4372-BF3B-2A33A7495E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396390" cy="717514"/>
            <a:chOff x="0" y="377893"/>
            <a:chExt cx="1861854" cy="717514"/>
          </a:xfrm>
          <a:solidFill>
            <a:schemeClr val="bg1"/>
          </a:solidFill>
        </p:grpSpPr>
        <p:sp>
          <p:nvSpPr>
            <p:cNvPr id="24" name="Freeform: Shape 23">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39" name="Freeform: Shape 38">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7" name="Oval 26">
            <a:extLst>
              <a:ext uri="{FF2B5EF4-FFF2-40B4-BE49-F238E27FC236}">
                <a16:creationId xmlns:a16="http://schemas.microsoft.com/office/drawing/2014/main" id="{10C23D31-5B0A-4956-A59F-A24F57D2A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991" y="4604761"/>
            <a:ext cx="239955"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9" name="Oval 28">
            <a:extLst>
              <a:ext uri="{FF2B5EF4-FFF2-40B4-BE49-F238E27FC236}">
                <a16:creationId xmlns:a16="http://schemas.microsoft.com/office/drawing/2014/main" id="{F4C6FC6E-4AAF-4628-B7E5-85DF9D32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991" y="4604761"/>
            <a:ext cx="239955" cy="31994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Subtitle 2"/>
          <p:cNvSpPr>
            <a:spLocks noGrp="1"/>
          </p:cNvSpPr>
          <p:nvPr>
            <p:ph type="subTitle" idx="1"/>
          </p:nvPr>
        </p:nvSpPr>
        <p:spPr>
          <a:xfrm>
            <a:off x="4676151" y="1345827"/>
            <a:ext cx="3912879" cy="4351338"/>
          </a:xfrm>
        </p:spPr>
        <p:txBody>
          <a:bodyPr vert="horz" lIns="91440" tIns="45720" rIns="91440" bIns="45720" rtlCol="0">
            <a:normAutofit/>
          </a:bodyPr>
          <a:lstStyle/>
          <a:p>
            <a:pPr indent="-228600" algn="l" defTabSz="914400">
              <a:lnSpc>
                <a:spcPct val="90000"/>
              </a:lnSpc>
              <a:buFont typeface="Arial" panose="020B0604020202020204" pitchFamily="34" charset="0"/>
              <a:buChar char="•"/>
            </a:pPr>
            <a:r>
              <a:rPr lang="en-US" sz="2500">
                <a:solidFill>
                  <a:schemeClr val="bg1"/>
                </a:solidFill>
              </a:rPr>
              <a:t>ML vs DL Comparison:</a:t>
            </a:r>
          </a:p>
          <a:p>
            <a:pPr indent="-228600" algn="l" defTabSz="914400">
              <a:lnSpc>
                <a:spcPct val="90000"/>
              </a:lnSpc>
              <a:buFont typeface="Arial" panose="020B0604020202020204" pitchFamily="34" charset="0"/>
              <a:buChar char="•"/>
            </a:pPr>
            <a:r>
              <a:rPr lang="en-US" sz="2500">
                <a:solidFill>
                  <a:schemeClr val="bg1"/>
                </a:solidFill>
              </a:rPr>
              <a:t>Data Requirement: ML – smaller datasets; DL – huge datasets</a:t>
            </a:r>
          </a:p>
          <a:p>
            <a:pPr indent="-228600" algn="l" defTabSz="914400">
              <a:lnSpc>
                <a:spcPct val="90000"/>
              </a:lnSpc>
              <a:buFont typeface="Arial" panose="020B0604020202020204" pitchFamily="34" charset="0"/>
              <a:buChar char="•"/>
            </a:pPr>
            <a:r>
              <a:rPr lang="en-US" sz="2500">
                <a:solidFill>
                  <a:schemeClr val="bg1"/>
                </a:solidFill>
              </a:rPr>
              <a:t>Feature Engineering: ML – manual; DL – automatic</a:t>
            </a:r>
          </a:p>
          <a:p>
            <a:pPr indent="-228600" algn="l" defTabSz="914400">
              <a:lnSpc>
                <a:spcPct val="90000"/>
              </a:lnSpc>
              <a:buFont typeface="Arial" panose="020B0604020202020204" pitchFamily="34" charset="0"/>
              <a:buChar char="•"/>
            </a:pPr>
            <a:r>
              <a:rPr lang="en-US" sz="2500">
                <a:solidFill>
                  <a:schemeClr val="bg1"/>
                </a:solidFill>
              </a:rPr>
              <a:t>Processing Power: ML – moderate; DL – high (GPUs)</a:t>
            </a:r>
          </a:p>
          <a:p>
            <a:pPr indent="-228600" algn="l" defTabSz="914400">
              <a:lnSpc>
                <a:spcPct val="90000"/>
              </a:lnSpc>
              <a:buFont typeface="Arial" panose="020B0604020202020204" pitchFamily="34" charset="0"/>
              <a:buChar char="•"/>
            </a:pPr>
            <a:r>
              <a:rPr lang="en-US" sz="2500">
                <a:solidFill>
                  <a:schemeClr val="bg1"/>
                </a:solidFill>
              </a:rPr>
              <a:t>Examples: ML – spam detection; DL – image recognition</a:t>
            </a:r>
          </a:p>
        </p:txBody>
      </p:sp>
      <p:grpSp>
        <p:nvGrpSpPr>
          <p:cNvPr id="31"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21453" y="5987064"/>
            <a:ext cx="790849" cy="469689"/>
            <a:chOff x="9841624" y="4115729"/>
            <a:chExt cx="602169" cy="268223"/>
          </a:xfrm>
          <a:solidFill>
            <a:schemeClr val="bg1"/>
          </a:solidFill>
        </p:grpSpPr>
        <p:sp>
          <p:nvSpPr>
            <p:cNvPr id="32" name="Freeform: Shape 31">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pic>
        <p:nvPicPr>
          <p:cNvPr id="5" name="Picture 4" descr="A machine learning vs deep learning&#10;&#10;AI-generated content may be incorrect.">
            <a:extLst>
              <a:ext uri="{FF2B5EF4-FFF2-40B4-BE49-F238E27FC236}">
                <a16:creationId xmlns:a16="http://schemas.microsoft.com/office/drawing/2014/main" id="{48063F08-4AE5-31BC-74B0-E1EEB3D6FBCD}"/>
              </a:ext>
            </a:extLst>
          </p:cNvPr>
          <p:cNvPicPr>
            <a:picLocks noChangeAspect="1"/>
          </p:cNvPicPr>
          <p:nvPr/>
        </p:nvPicPr>
        <p:blipFill>
          <a:blip r:embed="rId3"/>
          <a:stretch>
            <a:fillRect/>
          </a:stretch>
        </p:blipFill>
        <p:spPr>
          <a:xfrm>
            <a:off x="0" y="0"/>
            <a:ext cx="457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50000"/>
                </a:schemeClr>
              </a:solidFill>
            </a:endParaRPr>
          </a:p>
        </p:txBody>
      </p:sp>
      <p:sp>
        <p:nvSpPr>
          <p:cNvPr id="2" name="Title 1"/>
          <p:cNvSpPr>
            <a:spLocks noGrp="1"/>
          </p:cNvSpPr>
          <p:nvPr>
            <p:ph type="ctrTitle"/>
          </p:nvPr>
        </p:nvSpPr>
        <p:spPr>
          <a:xfrm>
            <a:off x="1449677" y="949325"/>
            <a:ext cx="6053779" cy="2387600"/>
          </a:xfrm>
        </p:spPr>
        <p:txBody>
          <a:bodyPr>
            <a:normAutofit/>
          </a:bodyPr>
          <a:lstStyle/>
          <a:p>
            <a:pPr algn="l"/>
            <a:r>
              <a:rPr lang="en-US" sz="5700">
                <a:solidFill>
                  <a:schemeClr val="bg1"/>
                </a:solidFill>
              </a:rPr>
              <a:t>How a Neural Network Works</a:t>
            </a:r>
          </a:p>
        </p:txBody>
      </p:sp>
      <p:sp>
        <p:nvSpPr>
          <p:cNvPr id="3" name="Subtitle 2"/>
          <p:cNvSpPr>
            <a:spLocks noGrp="1"/>
          </p:cNvSpPr>
          <p:nvPr>
            <p:ph type="subTitle" idx="1"/>
          </p:nvPr>
        </p:nvSpPr>
        <p:spPr>
          <a:xfrm>
            <a:off x="1449676" y="3429000"/>
            <a:ext cx="6053773" cy="1655762"/>
          </a:xfrm>
        </p:spPr>
        <p:txBody>
          <a:bodyPr>
            <a:normAutofit/>
          </a:bodyPr>
          <a:lstStyle/>
          <a:p>
            <a:pPr algn="l">
              <a:lnSpc>
                <a:spcPct val="90000"/>
              </a:lnSpc>
            </a:pPr>
            <a:r>
              <a:rPr lang="en-US" sz="1800">
                <a:solidFill>
                  <a:schemeClr val="bg1"/>
                </a:solidFill>
              </a:rPr>
              <a:t>Neural Network Structure:</a:t>
            </a:r>
          </a:p>
          <a:p>
            <a:pPr algn="l">
              <a:lnSpc>
                <a:spcPct val="90000"/>
              </a:lnSpc>
            </a:pPr>
            <a:r>
              <a:rPr lang="en-US" sz="1800">
                <a:solidFill>
                  <a:schemeClr val="bg1"/>
                </a:solidFill>
              </a:rPr>
              <a:t>Input Layer → Hidden Layers → Output Layer</a:t>
            </a:r>
          </a:p>
          <a:p>
            <a:pPr algn="l">
              <a:lnSpc>
                <a:spcPct val="90000"/>
              </a:lnSpc>
            </a:pPr>
            <a:r>
              <a:rPr lang="en-US" sz="1800">
                <a:solidFill>
                  <a:schemeClr val="bg1"/>
                </a:solidFill>
              </a:rPr>
              <a:t>Each connection has a weight</a:t>
            </a:r>
          </a:p>
          <a:p>
            <a:pPr algn="l">
              <a:lnSpc>
                <a:spcPct val="90000"/>
              </a:lnSpc>
            </a:pPr>
            <a:r>
              <a:rPr lang="en-US" sz="1800">
                <a:solidFill>
                  <a:schemeClr val="bg1"/>
                </a:solidFill>
              </a:rPr>
              <a:t>Learns weights during training</a:t>
            </a:r>
          </a:p>
          <a:p>
            <a:pPr algn="l">
              <a:lnSpc>
                <a:spcPct val="90000"/>
              </a:lnSpc>
            </a:pPr>
            <a:r>
              <a:rPr lang="en-US" sz="1800">
                <a:solidFill>
                  <a:schemeClr val="bg1"/>
                </a:solidFill>
              </a:rPr>
              <a:t>Example: Predicting if a photo is a cat or dog</a:t>
            </a:r>
          </a:p>
        </p:txBody>
      </p:sp>
      <p:cxnSp>
        <p:nvCxnSpPr>
          <p:cNvPr id="10" name="Straight Connector 9">
            <a:extLst>
              <a:ext uri="{FF2B5EF4-FFF2-40B4-BE49-F238E27FC236}">
                <a16:creationId xmlns:a16="http://schemas.microsoft.com/office/drawing/2014/main" id="{EC4521DE-248E-440D-AAD6-FD9E7D34B3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8963"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2C13FA-4C0F-42D0-9626-5BA6040D8C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6252485"/>
            <a:ext cx="9144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A343C-0C3E-B285-F276-D4182F805C70}"/>
              </a:ext>
            </a:extLst>
          </p:cNvPr>
          <p:cNvSpPr>
            <a:spLocks noGrp="1"/>
          </p:cNvSpPr>
          <p:nvPr>
            <p:ph type="title"/>
          </p:nvPr>
        </p:nvSpPr>
        <p:spPr/>
        <p:txBody>
          <a:bodyPr/>
          <a:lstStyle/>
          <a:p>
            <a:endParaRPr lang="en-US"/>
          </a:p>
        </p:txBody>
      </p:sp>
      <p:pic>
        <p:nvPicPr>
          <p:cNvPr id="5" name="Content Placeholder 4" descr="A diagram of a network&#10;&#10;AI-generated content may be incorrect.">
            <a:extLst>
              <a:ext uri="{FF2B5EF4-FFF2-40B4-BE49-F238E27FC236}">
                <a16:creationId xmlns:a16="http://schemas.microsoft.com/office/drawing/2014/main" id="{5458C0FA-3E78-6A1A-B7B5-F4EF6886146D}"/>
              </a:ext>
            </a:extLst>
          </p:cNvPr>
          <p:cNvPicPr>
            <a:picLocks noGrp="1" noChangeAspect="1"/>
          </p:cNvPicPr>
          <p:nvPr>
            <p:ph idx="1"/>
          </p:nvPr>
        </p:nvPicPr>
        <p:blipFill>
          <a:blip r:embed="rId2"/>
          <a:stretch>
            <a:fillRect/>
          </a:stretch>
        </p:blipFill>
        <p:spPr>
          <a:xfrm>
            <a:off x="350729" y="274638"/>
            <a:ext cx="8336071" cy="6138688"/>
          </a:xfrm>
        </p:spPr>
      </p:pic>
    </p:spTree>
    <p:extLst>
      <p:ext uri="{BB962C8B-B14F-4D97-AF65-F5344CB8AC3E}">
        <p14:creationId xmlns:p14="http://schemas.microsoft.com/office/powerpoint/2010/main" val="2094449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Graphic 212">
            <a:extLst>
              <a:ext uri="{FF2B5EF4-FFF2-40B4-BE49-F238E27FC236}">
                <a16:creationId xmlns:a16="http://schemas.microsoft.com/office/drawing/2014/main" id="{55C61911-45B2-48BF-AC7A-1EB579B42C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6779" y="798490"/>
            <a:ext cx="685924"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2" name="Graphic 212">
            <a:extLst>
              <a:ext uri="{FF2B5EF4-FFF2-40B4-BE49-F238E27FC236}">
                <a16:creationId xmlns:a16="http://schemas.microsoft.com/office/drawing/2014/main" id="{2DE4D4CE-6DAE-4A05-BE5B-6BCE3F4EC7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6779" y="798490"/>
            <a:ext cx="685924"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 name="Title 1"/>
          <p:cNvSpPr>
            <a:spLocks noGrp="1"/>
          </p:cNvSpPr>
          <p:nvPr>
            <p:ph type="ctrTitle"/>
          </p:nvPr>
        </p:nvSpPr>
        <p:spPr>
          <a:xfrm>
            <a:off x="826775" y="1264801"/>
            <a:ext cx="3085928" cy="4296387"/>
          </a:xfrm>
        </p:spPr>
        <p:txBody>
          <a:bodyPr vert="horz" lIns="91440" tIns="45720" rIns="91440" bIns="45720" rtlCol="0" anchor="ctr">
            <a:normAutofit/>
          </a:bodyPr>
          <a:lstStyle/>
          <a:p>
            <a:pPr defTabSz="914400">
              <a:lnSpc>
                <a:spcPct val="90000"/>
              </a:lnSpc>
            </a:pPr>
            <a:r>
              <a:rPr lang="en-US" kern="1200">
                <a:solidFill>
                  <a:schemeClr val="bg1"/>
                </a:solidFill>
                <a:latin typeface="+mj-lt"/>
                <a:ea typeface="+mj-ea"/>
                <a:cs typeface="+mj-cs"/>
              </a:rPr>
              <a:t>Training Deep Learning Models</a:t>
            </a:r>
          </a:p>
        </p:txBody>
      </p:sp>
      <p:grpSp>
        <p:nvGrpSpPr>
          <p:cNvPr id="14" name="Group 13">
            <a:extLst>
              <a:ext uri="{FF2B5EF4-FFF2-40B4-BE49-F238E27FC236}">
                <a16:creationId xmlns:a16="http://schemas.microsoft.com/office/drawing/2014/main" id="{B8CB1D39-68D4-4372-BF3B-2A33A7495E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396390" cy="717514"/>
            <a:chOff x="0" y="377893"/>
            <a:chExt cx="1861854" cy="717514"/>
          </a:xfrm>
          <a:solidFill>
            <a:schemeClr val="bg1"/>
          </a:solidFill>
        </p:grpSpPr>
        <p:sp>
          <p:nvSpPr>
            <p:cNvPr id="15" name="Freeform: Shape 14">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18" name="Oval 17">
            <a:extLst>
              <a:ext uri="{FF2B5EF4-FFF2-40B4-BE49-F238E27FC236}">
                <a16:creationId xmlns:a16="http://schemas.microsoft.com/office/drawing/2014/main" id="{10C23D31-5B0A-4956-A59F-A24F57D2A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991" y="4604761"/>
            <a:ext cx="239955"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F4C6FC6E-4AAF-4628-B7E5-85DF9D32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4991" y="4604761"/>
            <a:ext cx="239955" cy="31994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Subtitle 2"/>
          <p:cNvSpPr>
            <a:spLocks noGrp="1"/>
          </p:cNvSpPr>
          <p:nvPr>
            <p:ph type="subTitle" idx="1"/>
          </p:nvPr>
        </p:nvSpPr>
        <p:spPr>
          <a:xfrm>
            <a:off x="4676151" y="1345827"/>
            <a:ext cx="3912879" cy="4351338"/>
          </a:xfrm>
        </p:spPr>
        <p:txBody>
          <a:bodyPr vert="horz" lIns="91440" tIns="45720" rIns="91440" bIns="45720" rtlCol="0">
            <a:normAutofit/>
          </a:bodyPr>
          <a:lstStyle/>
          <a:p>
            <a:pPr indent="-228600" algn="l" defTabSz="914400">
              <a:lnSpc>
                <a:spcPct val="90000"/>
              </a:lnSpc>
              <a:buFont typeface="Arial" panose="020B0604020202020204" pitchFamily="34" charset="0"/>
              <a:buChar char="•"/>
            </a:pPr>
            <a:r>
              <a:rPr lang="en-US" sz="3000">
                <a:solidFill>
                  <a:schemeClr val="bg1"/>
                </a:solidFill>
              </a:rPr>
              <a:t>Training Steps:</a:t>
            </a:r>
          </a:p>
          <a:p>
            <a:pPr indent="-228600" algn="l" defTabSz="914400">
              <a:lnSpc>
                <a:spcPct val="90000"/>
              </a:lnSpc>
              <a:buFont typeface="Arial" panose="020B0604020202020204" pitchFamily="34" charset="0"/>
              <a:buChar char="•"/>
            </a:pPr>
            <a:r>
              <a:rPr lang="en-US" sz="3000">
                <a:solidFill>
                  <a:schemeClr val="bg1"/>
                </a:solidFill>
              </a:rPr>
              <a:t>1. Input data</a:t>
            </a:r>
          </a:p>
          <a:p>
            <a:pPr indent="-228600" algn="l" defTabSz="914400">
              <a:lnSpc>
                <a:spcPct val="90000"/>
              </a:lnSpc>
              <a:buFont typeface="Arial" panose="020B0604020202020204" pitchFamily="34" charset="0"/>
              <a:buChar char="•"/>
            </a:pPr>
            <a:r>
              <a:rPr lang="en-US" sz="3000">
                <a:solidFill>
                  <a:schemeClr val="bg1"/>
                </a:solidFill>
              </a:rPr>
              <a:t>2. Forward pass</a:t>
            </a:r>
          </a:p>
          <a:p>
            <a:pPr indent="-228600" algn="l" defTabSz="914400">
              <a:lnSpc>
                <a:spcPct val="90000"/>
              </a:lnSpc>
              <a:buFont typeface="Arial" panose="020B0604020202020204" pitchFamily="34" charset="0"/>
              <a:buChar char="•"/>
            </a:pPr>
            <a:r>
              <a:rPr lang="en-US" sz="3000">
                <a:solidFill>
                  <a:schemeClr val="bg1"/>
                </a:solidFill>
              </a:rPr>
              <a:t>3. Compare prediction to correct answer (loss)</a:t>
            </a:r>
          </a:p>
          <a:p>
            <a:pPr indent="-228600" algn="l" defTabSz="914400">
              <a:lnSpc>
                <a:spcPct val="90000"/>
              </a:lnSpc>
              <a:buFont typeface="Arial" panose="020B0604020202020204" pitchFamily="34" charset="0"/>
              <a:buChar char="•"/>
            </a:pPr>
            <a:r>
              <a:rPr lang="en-US" sz="3000">
                <a:solidFill>
                  <a:schemeClr val="bg1"/>
                </a:solidFill>
              </a:rPr>
              <a:t>4. Adjust weights (backpropagation)</a:t>
            </a:r>
          </a:p>
          <a:p>
            <a:pPr indent="-228600" algn="l" defTabSz="914400">
              <a:lnSpc>
                <a:spcPct val="90000"/>
              </a:lnSpc>
              <a:buFont typeface="Arial" panose="020B0604020202020204" pitchFamily="34" charset="0"/>
              <a:buChar char="•"/>
            </a:pPr>
            <a:r>
              <a:rPr lang="en-US" sz="3000">
                <a:solidFill>
                  <a:schemeClr val="bg1"/>
                </a:solidFill>
              </a:rPr>
              <a:t>5. Repeat until accurate</a:t>
            </a:r>
          </a:p>
        </p:txBody>
      </p:sp>
      <p:grpSp>
        <p:nvGrpSpPr>
          <p:cNvPr id="22"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21453" y="5987064"/>
            <a:ext cx="790849" cy="469689"/>
            <a:chOff x="9841624" y="4115729"/>
            <a:chExt cx="602169" cy="268223"/>
          </a:xfrm>
          <a:solidFill>
            <a:schemeClr val="bg1"/>
          </a:solidFill>
        </p:grpSpPr>
        <p:sp>
          <p:nvSpPr>
            <p:cNvPr id="23" name="Freeform: Shape 22">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826776" y="694268"/>
            <a:ext cx="2665132" cy="5477932"/>
          </a:xfrm>
        </p:spPr>
        <p:txBody>
          <a:bodyPr vert="horz" lIns="91440" tIns="45720" rIns="91440" bIns="45720" rtlCol="0" anchor="ctr">
            <a:normAutofit/>
          </a:bodyPr>
          <a:lstStyle/>
          <a:p>
            <a:pPr defTabSz="914400">
              <a:lnSpc>
                <a:spcPct val="90000"/>
              </a:lnSpc>
            </a:pPr>
            <a:r>
              <a:rPr lang="en-US" sz="3400" kern="1200">
                <a:solidFill>
                  <a:schemeClr val="bg1"/>
                </a:solidFill>
                <a:latin typeface="+mj-lt"/>
                <a:ea typeface="+mj-ea"/>
                <a:cs typeface="+mj-cs"/>
              </a:rPr>
              <a:t>Common DL Architectures</a:t>
            </a:r>
          </a:p>
        </p:txBody>
      </p:sp>
      <p:grpSp>
        <p:nvGrpSpPr>
          <p:cNvPr id="34" name="Graphic 38">
            <a:extLst>
              <a:ext uri="{FF2B5EF4-FFF2-40B4-BE49-F238E27FC236}">
                <a16:creationId xmlns:a16="http://schemas.microsoft.com/office/drawing/2014/main" id="{1E8369D0-2C3B-4E27-AC6C-A246AC28CD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35" name="Freeform: Shape 34">
              <a:extLst>
                <a:ext uri="{FF2B5EF4-FFF2-40B4-BE49-F238E27FC236}">
                  <a16:creationId xmlns:a16="http://schemas.microsoft.com/office/drawing/2014/main" id="{A3D5586F-4573-4C57-9793-1EBFDC8963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5EED35EF-93A0-4921-941C-ECC67AE2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38" name="Graphic 4">
            <a:extLst>
              <a:ext uri="{FF2B5EF4-FFF2-40B4-BE49-F238E27FC236}">
                <a16:creationId xmlns:a16="http://schemas.microsoft.com/office/drawing/2014/main" id="{C6F74901-2A71-43C3-837C-27CCD6B6D6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553033" y="2203010"/>
            <a:ext cx="731374" cy="975171"/>
            <a:chOff x="5829300" y="3162300"/>
            <a:chExt cx="532256" cy="532257"/>
          </a:xfrm>
          <a:solidFill>
            <a:schemeClr val="bg1"/>
          </a:solidFill>
        </p:grpSpPr>
        <p:sp>
          <p:nvSpPr>
            <p:cNvPr id="39" name="Freeform: Shape 38">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517B7142-9D64-4D34-B23C-9471326AD6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E8EB71CD-AB26-440E-A0D5-E1081DB5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34423BD2-7458-4680-AF49-5013C9D30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sp>
        <p:nvSpPr>
          <p:cNvPr id="53" name="Oval 52">
            <a:extLst>
              <a:ext uri="{FF2B5EF4-FFF2-40B4-BE49-F238E27FC236}">
                <a16:creationId xmlns:a16="http://schemas.microsoft.com/office/drawing/2014/main" id="{EC11F68A-CC71-4196-BBF3-20CDCD75D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626" y="4752208"/>
            <a:ext cx="273766"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5" name="Oval 54">
            <a:extLst>
              <a:ext uri="{FF2B5EF4-FFF2-40B4-BE49-F238E27FC236}">
                <a16:creationId xmlns:a16="http://schemas.microsoft.com/office/drawing/2014/main" id="{085F9950-F10E-4E64-962B-F7034578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626" y="4752208"/>
            <a:ext cx="273766" cy="36502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Subtitle 2"/>
          <p:cNvSpPr>
            <a:spLocks noGrp="1"/>
          </p:cNvSpPr>
          <p:nvPr>
            <p:ph type="subTitle" idx="1"/>
          </p:nvPr>
        </p:nvSpPr>
        <p:spPr>
          <a:xfrm>
            <a:off x="4676151" y="1130846"/>
            <a:ext cx="3912879" cy="4351338"/>
          </a:xfrm>
        </p:spPr>
        <p:txBody>
          <a:bodyPr vert="horz" lIns="91440" tIns="45720" rIns="91440" bIns="45720" rtlCol="0">
            <a:normAutofit/>
          </a:bodyPr>
          <a:lstStyle/>
          <a:p>
            <a:pPr algn="l" defTabSz="914400">
              <a:lnSpc>
                <a:spcPct val="90000"/>
              </a:lnSpc>
            </a:pPr>
            <a:r>
              <a:rPr lang="en-US" sz="2700" b="1" dirty="0">
                <a:solidFill>
                  <a:schemeClr val="bg1"/>
                </a:solidFill>
              </a:rPr>
              <a:t>DL Architectures:</a:t>
            </a:r>
          </a:p>
          <a:p>
            <a:pPr indent="-228600" algn="l" defTabSz="914400">
              <a:lnSpc>
                <a:spcPct val="90000"/>
              </a:lnSpc>
              <a:buFont typeface="Arial" panose="020B0604020202020204" pitchFamily="34" charset="0"/>
              <a:buChar char="•"/>
            </a:pPr>
            <a:r>
              <a:rPr lang="en-US" sz="2700" dirty="0">
                <a:solidFill>
                  <a:schemeClr val="bg1"/>
                </a:solidFill>
              </a:rPr>
              <a:t>CNN (Convolutional Neural Network): for images</a:t>
            </a:r>
          </a:p>
          <a:p>
            <a:pPr indent="-228600" algn="l" defTabSz="914400">
              <a:lnSpc>
                <a:spcPct val="90000"/>
              </a:lnSpc>
              <a:buFont typeface="Arial" panose="020B0604020202020204" pitchFamily="34" charset="0"/>
              <a:buChar char="•"/>
            </a:pPr>
            <a:r>
              <a:rPr lang="en-US" sz="2700" dirty="0">
                <a:solidFill>
                  <a:schemeClr val="bg1"/>
                </a:solidFill>
              </a:rPr>
              <a:t>RNN (Recurrent Neural Network): for sequences like text or speech</a:t>
            </a:r>
          </a:p>
          <a:p>
            <a:pPr indent="-228600" algn="l" defTabSz="914400">
              <a:lnSpc>
                <a:spcPct val="90000"/>
              </a:lnSpc>
              <a:buFont typeface="Arial" panose="020B0604020202020204" pitchFamily="34" charset="0"/>
              <a:buChar char="•"/>
            </a:pPr>
            <a:r>
              <a:rPr lang="en-US" sz="2700" dirty="0">
                <a:solidFill>
                  <a:schemeClr val="bg1"/>
                </a:solidFill>
              </a:rPr>
              <a:t>Transformers: for language understanding (used in LLMs)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DDACF0-62E6-EC9B-D27E-F7265700460E}"/>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Working of CNN</a:t>
            </a:r>
          </a:p>
        </p:txBody>
      </p:sp>
      <p:pic>
        <p:nvPicPr>
          <p:cNvPr id="5" name="Content Placeholder 4" descr="A diagram of a network&#10;&#10;AI-generated content may be incorrect.">
            <a:extLst>
              <a:ext uri="{FF2B5EF4-FFF2-40B4-BE49-F238E27FC236}">
                <a16:creationId xmlns:a16="http://schemas.microsoft.com/office/drawing/2014/main" id="{10691ED9-F593-7A01-4A07-0E332D264537}"/>
              </a:ext>
            </a:extLst>
          </p:cNvPr>
          <p:cNvPicPr>
            <a:picLocks noGrp="1" noChangeAspect="1"/>
          </p:cNvPicPr>
          <p:nvPr>
            <p:ph idx="1"/>
          </p:nvPr>
        </p:nvPicPr>
        <p:blipFill>
          <a:blip r:embed="rId2"/>
          <a:stretch>
            <a:fillRect/>
          </a:stretch>
        </p:blipFill>
        <p:spPr>
          <a:xfrm>
            <a:off x="482600" y="1950309"/>
            <a:ext cx="8178799" cy="3844035"/>
          </a:xfrm>
          <a:prstGeom prst="rect">
            <a:avLst/>
          </a:prstGeom>
        </p:spPr>
      </p:pic>
    </p:spTree>
    <p:extLst>
      <p:ext uri="{BB962C8B-B14F-4D97-AF65-F5344CB8AC3E}">
        <p14:creationId xmlns:p14="http://schemas.microsoft.com/office/powerpoint/2010/main" val="3826007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6FBF-43F5-B594-C163-7FA3F762A5E5}"/>
              </a:ext>
            </a:extLst>
          </p:cNvPr>
          <p:cNvSpPr>
            <a:spLocks noGrp="1"/>
          </p:cNvSpPr>
          <p:nvPr>
            <p:ph type="title"/>
          </p:nvPr>
        </p:nvSpPr>
        <p:spPr/>
        <p:txBody>
          <a:bodyPr/>
          <a:lstStyle/>
          <a:p>
            <a:endParaRPr lang="en-US"/>
          </a:p>
        </p:txBody>
      </p:sp>
      <p:pic>
        <p:nvPicPr>
          <p:cNvPr id="4" name="1738756837318">
            <a:hlinkClick r:id="" action="ppaction://media"/>
            <a:extLst>
              <a:ext uri="{FF2B5EF4-FFF2-40B4-BE49-F238E27FC236}">
                <a16:creationId xmlns:a16="http://schemas.microsoft.com/office/drawing/2014/main" id="{6DC94F3F-5394-C972-E5AD-2B59703D91CB}"/>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457200" y="274638"/>
            <a:ext cx="8229600" cy="6308724"/>
          </a:xfrm>
        </p:spPr>
      </p:pic>
    </p:spTree>
    <p:extLst>
      <p:ext uri="{BB962C8B-B14F-4D97-AF65-F5344CB8AC3E}">
        <p14:creationId xmlns:p14="http://schemas.microsoft.com/office/powerpoint/2010/main" val="3275321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935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826776" y="694268"/>
            <a:ext cx="2665132" cy="5477932"/>
          </a:xfrm>
        </p:spPr>
        <p:txBody>
          <a:bodyPr vert="horz" lIns="91440" tIns="45720" rIns="91440" bIns="45720" rtlCol="0" anchor="ctr">
            <a:normAutofit/>
          </a:bodyPr>
          <a:lstStyle/>
          <a:p>
            <a:pPr defTabSz="914400">
              <a:lnSpc>
                <a:spcPct val="90000"/>
              </a:lnSpc>
            </a:pPr>
            <a:r>
              <a:rPr lang="en-US" kern="1200">
                <a:solidFill>
                  <a:schemeClr val="bg1"/>
                </a:solidFill>
                <a:latin typeface="+mj-lt"/>
                <a:ea typeface="+mj-ea"/>
                <a:cs typeface="+mj-cs"/>
              </a:rPr>
              <a:t>Why Deep Learning Works So Well</a:t>
            </a:r>
          </a:p>
        </p:txBody>
      </p:sp>
      <p:grpSp>
        <p:nvGrpSpPr>
          <p:cNvPr id="10" name="Graphic 38">
            <a:extLst>
              <a:ext uri="{FF2B5EF4-FFF2-40B4-BE49-F238E27FC236}">
                <a16:creationId xmlns:a16="http://schemas.microsoft.com/office/drawing/2014/main" id="{1E8369D0-2C3B-4E27-AC6C-A246AC28CD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1" name="Freeform: Shape 10">
              <a:extLst>
                <a:ext uri="{FF2B5EF4-FFF2-40B4-BE49-F238E27FC236}">
                  <a16:creationId xmlns:a16="http://schemas.microsoft.com/office/drawing/2014/main" id="{A3D5586F-4573-4C57-9793-1EBFDC8963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5EED35EF-93A0-4921-941C-ECC67AE2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14" name="Graphic 4">
            <a:extLst>
              <a:ext uri="{FF2B5EF4-FFF2-40B4-BE49-F238E27FC236}">
                <a16:creationId xmlns:a16="http://schemas.microsoft.com/office/drawing/2014/main" id="{C6F74901-2A71-43C3-837C-27CCD6B6D6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553033" y="2203010"/>
            <a:ext cx="731374" cy="975171"/>
            <a:chOff x="5829300" y="3162300"/>
            <a:chExt cx="532256" cy="532257"/>
          </a:xfrm>
          <a:solidFill>
            <a:schemeClr val="bg1"/>
          </a:solidFill>
        </p:grpSpPr>
        <p:sp>
          <p:nvSpPr>
            <p:cNvPr id="15"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17B7142-9D64-4D34-B23C-9471326AD6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8EB71CD-AB26-440E-A0D5-E1081DB5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4423BD2-7458-4680-AF49-5013C9D30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sp>
        <p:nvSpPr>
          <p:cNvPr id="29" name="Oval 28">
            <a:extLst>
              <a:ext uri="{FF2B5EF4-FFF2-40B4-BE49-F238E27FC236}">
                <a16:creationId xmlns:a16="http://schemas.microsoft.com/office/drawing/2014/main" id="{EC11F68A-CC71-4196-BBF3-20CDCD75D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626" y="4752208"/>
            <a:ext cx="273766"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1" name="Oval 30">
            <a:extLst>
              <a:ext uri="{FF2B5EF4-FFF2-40B4-BE49-F238E27FC236}">
                <a16:creationId xmlns:a16="http://schemas.microsoft.com/office/drawing/2014/main" id="{085F9950-F10E-4E64-962B-F7034578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626" y="4752208"/>
            <a:ext cx="273766" cy="36502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Subtitle 2"/>
          <p:cNvSpPr>
            <a:spLocks noGrp="1"/>
          </p:cNvSpPr>
          <p:nvPr>
            <p:ph type="subTitle" idx="1"/>
          </p:nvPr>
        </p:nvSpPr>
        <p:spPr>
          <a:xfrm>
            <a:off x="4676151" y="1130846"/>
            <a:ext cx="3912879" cy="4351338"/>
          </a:xfrm>
        </p:spPr>
        <p:txBody>
          <a:bodyPr vert="horz" lIns="91440" tIns="45720" rIns="91440" bIns="45720" rtlCol="0">
            <a:normAutofit/>
          </a:bodyPr>
          <a:lstStyle/>
          <a:p>
            <a:pPr indent="-228600" algn="l" defTabSz="914400">
              <a:lnSpc>
                <a:spcPct val="90000"/>
              </a:lnSpc>
              <a:buFont typeface="Arial" panose="020B0604020202020204" pitchFamily="34" charset="0"/>
              <a:buChar char="•"/>
            </a:pPr>
            <a:r>
              <a:rPr lang="en-US" sz="2700" dirty="0">
                <a:solidFill>
                  <a:schemeClr val="bg1"/>
                </a:solidFill>
              </a:rPr>
              <a:t>Strengths of DL:</a:t>
            </a:r>
          </a:p>
          <a:p>
            <a:pPr indent="-228600" algn="l" defTabSz="914400">
              <a:lnSpc>
                <a:spcPct val="90000"/>
              </a:lnSpc>
              <a:buFont typeface="Arial" panose="020B0604020202020204" pitchFamily="34" charset="0"/>
              <a:buChar char="•"/>
            </a:pPr>
            <a:r>
              <a:rPr lang="en-US" sz="2700" dirty="0">
                <a:solidFill>
                  <a:schemeClr val="bg1"/>
                </a:solidFill>
              </a:rPr>
              <a:t>Handles unstructured data (images, audio, text)</a:t>
            </a:r>
          </a:p>
          <a:p>
            <a:pPr indent="-228600" algn="l" defTabSz="914400">
              <a:lnSpc>
                <a:spcPct val="90000"/>
              </a:lnSpc>
              <a:buFont typeface="Arial" panose="020B0604020202020204" pitchFamily="34" charset="0"/>
              <a:buChar char="•"/>
            </a:pPr>
            <a:r>
              <a:rPr lang="en-US" sz="2700" dirty="0">
                <a:solidFill>
                  <a:schemeClr val="bg1"/>
                </a:solidFill>
              </a:rPr>
              <a:t>Learns features automatically</a:t>
            </a:r>
          </a:p>
          <a:p>
            <a:pPr indent="-228600" algn="l" defTabSz="914400">
              <a:lnSpc>
                <a:spcPct val="90000"/>
              </a:lnSpc>
              <a:buFont typeface="Arial" panose="020B0604020202020204" pitchFamily="34" charset="0"/>
              <a:buChar char="•"/>
            </a:pPr>
            <a:r>
              <a:rPr lang="en-US" sz="2700" dirty="0">
                <a:solidFill>
                  <a:schemeClr val="bg1"/>
                </a:solidFill>
              </a:rPr>
              <a:t>Scales with more data and computation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93B08880-F4DE-42E0-AE26-F56F563496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28650" y="1641752"/>
            <a:ext cx="3295650" cy="1323439"/>
          </a:xfrm>
        </p:spPr>
        <p:txBody>
          <a:bodyPr vert="horz" lIns="91440" tIns="45720" rIns="91440" bIns="45720" rtlCol="0" anchor="t">
            <a:normAutofit/>
          </a:bodyPr>
          <a:lstStyle/>
          <a:p>
            <a:pPr algn="l" defTabSz="914400">
              <a:lnSpc>
                <a:spcPct val="90000"/>
              </a:lnSpc>
            </a:pPr>
            <a:r>
              <a:rPr lang="en-US" sz="3500" kern="1200">
                <a:solidFill>
                  <a:schemeClr val="bg1"/>
                </a:solidFill>
                <a:latin typeface="+mj-lt"/>
                <a:ea typeface="+mj-ea"/>
                <a:cs typeface="+mj-cs"/>
              </a:rPr>
              <a:t>Real-World Applications</a:t>
            </a:r>
          </a:p>
        </p:txBody>
      </p:sp>
      <p:sp>
        <p:nvSpPr>
          <p:cNvPr id="3" name="Subtitle 2"/>
          <p:cNvSpPr>
            <a:spLocks noGrp="1"/>
          </p:cNvSpPr>
          <p:nvPr>
            <p:ph type="subTitle" idx="1"/>
          </p:nvPr>
        </p:nvSpPr>
        <p:spPr>
          <a:xfrm>
            <a:off x="628650" y="3146400"/>
            <a:ext cx="3295650" cy="2454300"/>
          </a:xfrm>
        </p:spPr>
        <p:txBody>
          <a:bodyPr vert="horz" lIns="91440" tIns="45720" rIns="91440" bIns="45720" rtlCol="0">
            <a:normAutofit/>
          </a:bodyPr>
          <a:lstStyle/>
          <a:p>
            <a:pPr indent="-228600" algn="l" defTabSz="914400">
              <a:lnSpc>
                <a:spcPct val="90000"/>
              </a:lnSpc>
              <a:buFont typeface="Arial" panose="020B0604020202020204" pitchFamily="34" charset="0"/>
              <a:buChar char="•"/>
            </a:pPr>
            <a:r>
              <a:rPr lang="en-US" sz="1900">
                <a:solidFill>
                  <a:schemeClr val="bg1">
                    <a:alpha val="80000"/>
                  </a:schemeClr>
                </a:solidFill>
              </a:rPr>
              <a:t>DL Applications:</a:t>
            </a:r>
          </a:p>
          <a:p>
            <a:pPr indent="-228600" algn="l" defTabSz="914400">
              <a:lnSpc>
                <a:spcPct val="90000"/>
              </a:lnSpc>
              <a:buFont typeface="Arial" panose="020B0604020202020204" pitchFamily="34" charset="0"/>
              <a:buChar char="•"/>
            </a:pPr>
            <a:r>
              <a:rPr lang="en-US" sz="1900">
                <a:solidFill>
                  <a:schemeClr val="bg1">
                    <a:alpha val="80000"/>
                  </a:schemeClr>
                </a:solidFill>
              </a:rPr>
              <a:t>Image recognition in healthcare (detecting diseases)</a:t>
            </a:r>
          </a:p>
          <a:p>
            <a:pPr indent="-228600" algn="l" defTabSz="914400">
              <a:lnSpc>
                <a:spcPct val="90000"/>
              </a:lnSpc>
              <a:buFont typeface="Arial" panose="020B0604020202020204" pitchFamily="34" charset="0"/>
              <a:buChar char="•"/>
            </a:pPr>
            <a:r>
              <a:rPr lang="en-US" sz="1900">
                <a:solidFill>
                  <a:schemeClr val="bg1">
                    <a:alpha val="80000"/>
                  </a:schemeClr>
                </a:solidFill>
              </a:rPr>
              <a:t>Speech recognition (Siri, Alexa)</a:t>
            </a:r>
          </a:p>
          <a:p>
            <a:pPr indent="-228600" algn="l" defTabSz="914400">
              <a:lnSpc>
                <a:spcPct val="90000"/>
              </a:lnSpc>
              <a:buFont typeface="Arial" panose="020B0604020202020204" pitchFamily="34" charset="0"/>
              <a:buChar char="•"/>
            </a:pPr>
            <a:r>
              <a:rPr lang="en-US" sz="1900">
                <a:solidFill>
                  <a:schemeClr val="bg1">
                    <a:alpha val="80000"/>
                  </a:schemeClr>
                </a:solidFill>
              </a:rPr>
              <a:t>Self-driving cars (object detection)</a:t>
            </a:r>
          </a:p>
        </p:txBody>
      </p:sp>
      <p:pic>
        <p:nvPicPr>
          <p:cNvPr id="7" name="Picture 6" descr="A close-up of a person's face&#10;&#10;AI-generated content may be incorrect.">
            <a:extLst>
              <a:ext uri="{FF2B5EF4-FFF2-40B4-BE49-F238E27FC236}">
                <a16:creationId xmlns:a16="http://schemas.microsoft.com/office/drawing/2014/main" id="{7EE5BFC2-494E-3EE1-1155-4A3C88A3880B}"/>
              </a:ext>
            </a:extLst>
          </p:cNvPr>
          <p:cNvPicPr>
            <a:picLocks noChangeAspect="1"/>
          </p:cNvPicPr>
          <p:nvPr/>
        </p:nvPicPr>
        <p:blipFill>
          <a:blip r:embed="rId3"/>
          <a:srcRect t="1664" r="3" b="5087"/>
          <a:stretch>
            <a:fillRect/>
          </a:stretch>
        </p:blipFill>
        <p:spPr>
          <a:xfrm>
            <a:off x="4377334" y="1"/>
            <a:ext cx="4766666" cy="3333749"/>
          </a:xfrm>
          <a:custGeom>
            <a:avLst/>
            <a:gdLst/>
            <a:ahLst/>
            <a:cxnLst/>
            <a:rect l="l" t="t" r="r" b="b"/>
            <a:pathLst>
              <a:path w="6355554" h="3333749">
                <a:moveTo>
                  <a:pt x="3079" y="0"/>
                </a:moveTo>
                <a:lnTo>
                  <a:pt x="6355554" y="0"/>
                </a:lnTo>
                <a:lnTo>
                  <a:pt x="6355554" y="3333749"/>
                </a:lnTo>
                <a:lnTo>
                  <a:pt x="174108" y="3333749"/>
                </a:lnTo>
                <a:lnTo>
                  <a:pt x="133459" y="3178655"/>
                </a:lnTo>
                <a:cubicBezTo>
                  <a:pt x="59462" y="2881722"/>
                  <a:pt x="221" y="2577554"/>
                  <a:pt x="0" y="2257425"/>
                </a:cubicBezTo>
                <a:close/>
              </a:path>
            </a:pathLst>
          </a:custGeom>
        </p:spPr>
      </p:pic>
      <p:pic>
        <p:nvPicPr>
          <p:cNvPr id="5" name="Picture 4" descr="A car with green lights&#10;&#10;AI-generated content may be incorrect.">
            <a:extLst>
              <a:ext uri="{FF2B5EF4-FFF2-40B4-BE49-F238E27FC236}">
                <a16:creationId xmlns:a16="http://schemas.microsoft.com/office/drawing/2014/main" id="{540137BF-C96A-8DB3-F1AA-84D6559C9863}"/>
              </a:ext>
            </a:extLst>
          </p:cNvPr>
          <p:cNvPicPr>
            <a:picLocks noChangeAspect="1"/>
          </p:cNvPicPr>
          <p:nvPr/>
        </p:nvPicPr>
        <p:blipFill>
          <a:blip r:embed="rId4"/>
          <a:srcRect l="31971" r="32406"/>
          <a:stretch>
            <a:fillRect/>
          </a:stretch>
        </p:blipFill>
        <p:spPr>
          <a:xfrm>
            <a:off x="4411395" y="3524256"/>
            <a:ext cx="2375166" cy="3333744"/>
          </a:xfrm>
          <a:custGeom>
            <a:avLst/>
            <a:gdLst/>
            <a:ahLst/>
            <a:cxnLst/>
            <a:rect l="l" t="t" r="r" b="b"/>
            <a:pathLst>
              <a:path w="3166888" h="3333744">
                <a:moveTo>
                  <a:pt x="178755" y="0"/>
                </a:moveTo>
                <a:lnTo>
                  <a:pt x="3166888" y="0"/>
                </a:lnTo>
                <a:lnTo>
                  <a:pt x="3166888" y="3333744"/>
                </a:lnTo>
                <a:lnTo>
                  <a:pt x="0" y="3333744"/>
                </a:lnTo>
                <a:lnTo>
                  <a:pt x="30190" y="3223677"/>
                </a:lnTo>
                <a:cubicBezTo>
                  <a:pt x="200298" y="2589331"/>
                  <a:pt x="376593" y="1812324"/>
                  <a:pt x="376066" y="1119182"/>
                </a:cubicBezTo>
                <a:cubicBezTo>
                  <a:pt x="375841" y="822121"/>
                  <a:pt x="316596" y="532372"/>
                  <a:pt x="242598" y="241205"/>
                </a:cubicBezTo>
                <a:close/>
              </a:path>
            </a:pathLst>
          </a:custGeom>
        </p:spPr>
      </p:pic>
      <p:sp>
        <p:nvSpPr>
          <p:cNvPr id="34" name="Freeform: Shape 33">
            <a:extLst>
              <a:ext uri="{FF2B5EF4-FFF2-40B4-BE49-F238E27FC236}">
                <a16:creationId xmlns:a16="http://schemas.microsoft.com/office/drawing/2014/main" id="{8A2A689E-17C0-4832-920D-11B3E03EE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V="1">
            <a:off x="1123557" y="3100710"/>
            <a:ext cx="6857455" cy="656037"/>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6" name="Group 35">
            <a:extLst>
              <a:ext uri="{FF2B5EF4-FFF2-40B4-BE49-F238E27FC236}">
                <a16:creationId xmlns:a16="http://schemas.microsoft.com/office/drawing/2014/main" id="{364A290D-B7BC-40B4-AB97-0C801BCCE2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24268" y="544"/>
            <a:ext cx="656037" cy="6857455"/>
            <a:chOff x="5632358" y="544"/>
            <a:chExt cx="874716" cy="6857455"/>
          </a:xfrm>
        </p:grpSpPr>
        <p:sp>
          <p:nvSpPr>
            <p:cNvPr id="37" name="Freeform: Shape 36">
              <a:extLst>
                <a:ext uri="{FF2B5EF4-FFF2-40B4-BE49-F238E27FC236}">
                  <a16:creationId xmlns:a16="http://schemas.microsoft.com/office/drawing/2014/main" id="{3C60D1EB-842B-4027-9728-E57314926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8" y="2991914"/>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a:outerShdw blurRad="381000" dist="152400" dir="108000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44E103E5-C039-4EA4-843B-AD566B5C96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8" y="2991914"/>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5">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11" name="Picture 10" descr="A close-up of x-ray images&#10;&#10;AI-generated content may be incorrect.">
            <a:extLst>
              <a:ext uri="{FF2B5EF4-FFF2-40B4-BE49-F238E27FC236}">
                <a16:creationId xmlns:a16="http://schemas.microsoft.com/office/drawing/2014/main" id="{5C801FB3-8F4D-F10B-8080-DF3EC6E7FE52}"/>
              </a:ext>
            </a:extLst>
          </p:cNvPr>
          <p:cNvPicPr>
            <a:picLocks noChangeAspect="1"/>
          </p:cNvPicPr>
          <p:nvPr/>
        </p:nvPicPr>
        <p:blipFill>
          <a:blip r:embed="rId6"/>
          <a:srcRect l="37636" r="33467" b="-2"/>
          <a:stretch>
            <a:fillRect/>
          </a:stretch>
        </p:blipFill>
        <p:spPr>
          <a:xfrm>
            <a:off x="6929437" y="3524256"/>
            <a:ext cx="2214563" cy="3333749"/>
          </a:xfrm>
          <a:custGeom>
            <a:avLst/>
            <a:gdLst/>
            <a:ahLst/>
            <a:cxnLst/>
            <a:rect l="l" t="t" r="r" b="b"/>
            <a:pathLst>
              <a:path w="2952750" h="3333749">
                <a:moveTo>
                  <a:pt x="0" y="0"/>
                </a:moveTo>
                <a:lnTo>
                  <a:pt x="2952750" y="0"/>
                </a:lnTo>
                <a:lnTo>
                  <a:pt x="2952750" y="3333749"/>
                </a:lnTo>
                <a:lnTo>
                  <a:pt x="0" y="3333749"/>
                </a:lnTo>
                <a:close/>
              </a:path>
            </a:pathLst>
          </a:cu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826776" y="923293"/>
            <a:ext cx="3022599" cy="4641720"/>
          </a:xfrm>
        </p:spPr>
        <p:txBody>
          <a:bodyPr vert="horz" lIns="91440" tIns="45720" rIns="91440" bIns="45720" rtlCol="0" anchor="ctr">
            <a:normAutofit/>
          </a:bodyPr>
          <a:lstStyle/>
          <a:p>
            <a:pPr defTabSz="914400">
              <a:lnSpc>
                <a:spcPct val="90000"/>
              </a:lnSpc>
            </a:pPr>
            <a:r>
              <a:rPr lang="en-US" kern="1200">
                <a:solidFill>
                  <a:schemeClr val="bg1"/>
                </a:solidFill>
                <a:latin typeface="+mj-lt"/>
                <a:ea typeface="+mj-ea"/>
                <a:cs typeface="+mj-cs"/>
              </a:rPr>
              <a:t>Challenges in Deep Learning</a:t>
            </a:r>
          </a:p>
        </p:txBody>
      </p:sp>
      <p:sp>
        <p:nvSpPr>
          <p:cNvPr id="10" name="Freeform: Shape 9">
            <a:extLst>
              <a:ext uri="{FF2B5EF4-FFF2-40B4-BE49-F238E27FC236}">
                <a16:creationId xmlns:a16="http://schemas.microsoft.com/office/drawing/2014/main" id="{D0A98BBA-D3EA-45DC-B8A1-9C61397D4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5862"/>
            <a:ext cx="877720" cy="274629"/>
          </a:xfrm>
          <a:custGeom>
            <a:avLst/>
            <a:gdLst>
              <a:gd name="connsiteX0" fmla="*/ 453342 w 1170294"/>
              <a:gd name="connsiteY0" fmla="*/ 0 h 274629"/>
              <a:gd name="connsiteX1" fmla="*/ 689085 w 1170294"/>
              <a:gd name="connsiteY1" fmla="*/ 235744 h 274629"/>
              <a:gd name="connsiteX2" fmla="*/ 924829 w 1170294"/>
              <a:gd name="connsiteY2" fmla="*/ 0 h 274629"/>
              <a:gd name="connsiteX3" fmla="*/ 1170294 w 1170294"/>
              <a:gd name="connsiteY3" fmla="*/ 24546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577 h 274629"/>
              <a:gd name="connsiteX11" fmla="*/ 215168 w 1170294"/>
              <a:gd name="connsiteY11" fmla="*/ 23574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5744"/>
                </a:lnTo>
                <a:lnTo>
                  <a:pt x="924829" y="0"/>
                </a:lnTo>
                <a:lnTo>
                  <a:pt x="1170294" y="245465"/>
                </a:lnTo>
                <a:lnTo>
                  <a:pt x="1153282" y="264908"/>
                </a:lnTo>
                <a:lnTo>
                  <a:pt x="924829" y="38885"/>
                </a:lnTo>
                <a:lnTo>
                  <a:pt x="689085" y="274629"/>
                </a:lnTo>
                <a:lnTo>
                  <a:pt x="453342" y="38885"/>
                </a:lnTo>
                <a:lnTo>
                  <a:pt x="215168" y="274629"/>
                </a:lnTo>
                <a:lnTo>
                  <a:pt x="0" y="59462"/>
                </a:lnTo>
                <a:lnTo>
                  <a:pt x="0" y="20577"/>
                </a:lnTo>
                <a:lnTo>
                  <a:pt x="215168" y="235744"/>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2" name="Freeform: Shape 11">
            <a:extLst>
              <a:ext uri="{FF2B5EF4-FFF2-40B4-BE49-F238E27FC236}">
                <a16:creationId xmlns:a16="http://schemas.microsoft.com/office/drawing/2014/main" id="{2E4C95AB-2BD7-4E38-BDD5-1E41F3A9B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90894"/>
            <a:ext cx="877720" cy="274629"/>
          </a:xfrm>
          <a:custGeom>
            <a:avLst/>
            <a:gdLst>
              <a:gd name="connsiteX0" fmla="*/ 453342 w 1170294"/>
              <a:gd name="connsiteY0" fmla="*/ 0 h 274629"/>
              <a:gd name="connsiteX1" fmla="*/ 689085 w 1170294"/>
              <a:gd name="connsiteY1" fmla="*/ 238174 h 274629"/>
              <a:gd name="connsiteX2" fmla="*/ 924829 w 1170294"/>
              <a:gd name="connsiteY2" fmla="*/ 0 h 274629"/>
              <a:gd name="connsiteX3" fmla="*/ 1170294 w 1170294"/>
              <a:gd name="connsiteY3" fmla="*/ 247895 h 274629"/>
              <a:gd name="connsiteX4" fmla="*/ 1153282 w 1170294"/>
              <a:gd name="connsiteY4" fmla="*/ 264908 h 274629"/>
              <a:gd name="connsiteX5" fmla="*/ 924829 w 1170294"/>
              <a:gd name="connsiteY5" fmla="*/ 38885 h 274629"/>
              <a:gd name="connsiteX6" fmla="*/ 689085 w 1170294"/>
              <a:gd name="connsiteY6" fmla="*/ 274629 h 274629"/>
              <a:gd name="connsiteX7" fmla="*/ 453342 w 1170294"/>
              <a:gd name="connsiteY7" fmla="*/ 38885 h 274629"/>
              <a:gd name="connsiteX8" fmla="*/ 215168 w 1170294"/>
              <a:gd name="connsiteY8" fmla="*/ 274629 h 274629"/>
              <a:gd name="connsiteX9" fmla="*/ 0 w 1170294"/>
              <a:gd name="connsiteY9" fmla="*/ 59462 h 274629"/>
              <a:gd name="connsiteX10" fmla="*/ 0 w 1170294"/>
              <a:gd name="connsiteY10" fmla="*/ 20789 h 274629"/>
              <a:gd name="connsiteX11" fmla="*/ 215168 w 1170294"/>
              <a:gd name="connsiteY11" fmla="*/ 238174 h 274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0294" h="274629">
                <a:moveTo>
                  <a:pt x="453342" y="0"/>
                </a:moveTo>
                <a:lnTo>
                  <a:pt x="689085" y="238174"/>
                </a:lnTo>
                <a:lnTo>
                  <a:pt x="924829" y="0"/>
                </a:lnTo>
                <a:lnTo>
                  <a:pt x="1170294" y="247895"/>
                </a:lnTo>
                <a:lnTo>
                  <a:pt x="1153282" y="264908"/>
                </a:lnTo>
                <a:lnTo>
                  <a:pt x="924829" y="38885"/>
                </a:lnTo>
                <a:lnTo>
                  <a:pt x="689085" y="274629"/>
                </a:lnTo>
                <a:lnTo>
                  <a:pt x="453342" y="38885"/>
                </a:lnTo>
                <a:lnTo>
                  <a:pt x="215168" y="274629"/>
                </a:lnTo>
                <a:lnTo>
                  <a:pt x="0" y="59462"/>
                </a:lnTo>
                <a:lnTo>
                  <a:pt x="0" y="20789"/>
                </a:lnTo>
                <a:lnTo>
                  <a:pt x="215168" y="23817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4676151" y="1130846"/>
            <a:ext cx="3912879" cy="4351338"/>
          </a:xfrm>
        </p:spPr>
        <p:txBody>
          <a:bodyPr vert="horz" lIns="91440" tIns="45720" rIns="91440" bIns="45720" rtlCol="0">
            <a:normAutofit/>
          </a:bodyPr>
          <a:lstStyle/>
          <a:p>
            <a:pPr indent="-228600" algn="l" defTabSz="914400">
              <a:lnSpc>
                <a:spcPct val="90000"/>
              </a:lnSpc>
              <a:buFont typeface="Arial" panose="020B0604020202020204" pitchFamily="34" charset="0"/>
              <a:buChar char="•"/>
            </a:pPr>
            <a:r>
              <a:rPr lang="en-US" sz="2700" dirty="0">
                <a:solidFill>
                  <a:schemeClr val="bg1"/>
                </a:solidFill>
              </a:rPr>
              <a:t>Challenges:</a:t>
            </a:r>
          </a:p>
          <a:p>
            <a:pPr indent="-228600" algn="l" defTabSz="914400">
              <a:lnSpc>
                <a:spcPct val="90000"/>
              </a:lnSpc>
              <a:buFont typeface="Arial" panose="020B0604020202020204" pitchFamily="34" charset="0"/>
              <a:buChar char="•"/>
            </a:pPr>
            <a:r>
              <a:rPr lang="en-US" sz="2700" dirty="0">
                <a:solidFill>
                  <a:schemeClr val="bg1"/>
                </a:solidFill>
              </a:rPr>
              <a:t>Needs a lot of data</a:t>
            </a:r>
          </a:p>
          <a:p>
            <a:pPr indent="-228600" algn="l" defTabSz="914400">
              <a:lnSpc>
                <a:spcPct val="90000"/>
              </a:lnSpc>
              <a:buFont typeface="Arial" panose="020B0604020202020204" pitchFamily="34" charset="0"/>
              <a:buChar char="•"/>
            </a:pPr>
            <a:r>
              <a:rPr lang="en-US" sz="2700" dirty="0">
                <a:solidFill>
                  <a:schemeClr val="bg1"/>
                </a:solidFill>
              </a:rPr>
              <a:t>Requires high computing power (GPUs/TPUs)</a:t>
            </a:r>
          </a:p>
          <a:p>
            <a:pPr indent="-228600" algn="l" defTabSz="914400">
              <a:lnSpc>
                <a:spcPct val="90000"/>
              </a:lnSpc>
              <a:buFont typeface="Arial" panose="020B0604020202020204" pitchFamily="34" charset="0"/>
              <a:buChar char="•"/>
            </a:pPr>
            <a:r>
              <a:rPr lang="en-US" sz="2700" dirty="0">
                <a:solidFill>
                  <a:schemeClr val="bg1"/>
                </a:solidFill>
              </a:rPr>
              <a:t>Often a ‘black box’ (hard to explain decisions)</a:t>
            </a:r>
          </a:p>
          <a:p>
            <a:pPr indent="-228600" algn="l" defTabSz="914400">
              <a:lnSpc>
                <a:spcPct val="90000"/>
              </a:lnSpc>
              <a:buFont typeface="Arial" panose="020B0604020202020204" pitchFamily="34" charset="0"/>
              <a:buChar char="•"/>
            </a:pPr>
            <a:r>
              <a:rPr lang="en-US" sz="2700" dirty="0">
                <a:solidFill>
                  <a:schemeClr val="bg1"/>
                </a:solidFill>
              </a:rPr>
              <a:t>Risk of bias in training data</a:t>
            </a:r>
          </a:p>
        </p:txBody>
      </p:sp>
      <p:grpSp>
        <p:nvGrpSpPr>
          <p:cNvPr id="14" name="Group 13">
            <a:extLst>
              <a:ext uri="{FF2B5EF4-FFF2-40B4-BE49-F238E27FC236}">
                <a16:creationId xmlns:a16="http://schemas.microsoft.com/office/drawing/2014/main" id="{85836128-58DE-4E5A-B27E-DFE747CA0B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41014" y="5364542"/>
            <a:ext cx="1171823" cy="1493465"/>
            <a:chOff x="3121343" y="4864099"/>
            <a:chExt cx="2085971" cy="1993901"/>
          </a:xfrm>
          <a:solidFill>
            <a:schemeClr val="bg1"/>
          </a:solidFill>
        </p:grpSpPr>
        <p:sp>
          <p:nvSpPr>
            <p:cNvPr id="15" name="Freeform: Shape 14">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 name="Freeform: Shape 15">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7" name="Freeform: Shape 16">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Freeform: Shape 17">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9" name="Freeform: Shape 18">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0" name="Freeform: Shape 19">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1" name="Freeform: Shape 20">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Freeform: Shape 21">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3" name="Freeform: Shape 22">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Freeform: Shape 23">
              <a:extLst>
                <a:ext uri="{FF2B5EF4-FFF2-40B4-BE49-F238E27FC236}">
                  <a16:creationId xmlns:a16="http://schemas.microsoft.com/office/drawing/2014/main" id="{DDA0090F-4FBF-434D-83B1-B274F83A9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5" name="Freeform: Shape 24">
              <a:extLst>
                <a:ext uri="{FF2B5EF4-FFF2-40B4-BE49-F238E27FC236}">
                  <a16:creationId xmlns:a16="http://schemas.microsoft.com/office/drawing/2014/main" id="{C8DF6032-C07A-45C6-8A4F-04EF4EDC0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6" name="Freeform: Shape 25">
              <a:extLst>
                <a:ext uri="{FF2B5EF4-FFF2-40B4-BE49-F238E27FC236}">
                  <a16:creationId xmlns:a16="http://schemas.microsoft.com/office/drawing/2014/main" id="{F5B89F44-A096-479D-AD1F-120561C28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7" name="Freeform: Shape 26">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06825" y="1188637"/>
            <a:ext cx="2241175" cy="4480726"/>
          </a:xfrm>
        </p:spPr>
        <p:txBody>
          <a:bodyPr vert="horz" lIns="91440" tIns="45720" rIns="91440" bIns="45720" rtlCol="0" anchor="ctr">
            <a:normAutofit/>
          </a:bodyPr>
          <a:lstStyle/>
          <a:p>
            <a:pPr algn="r" defTabSz="914400">
              <a:lnSpc>
                <a:spcPct val="90000"/>
              </a:lnSpc>
            </a:pPr>
            <a:r>
              <a:rPr lang="en-US" sz="5700" kern="1200">
                <a:solidFill>
                  <a:schemeClr val="tx1"/>
                </a:solidFill>
                <a:latin typeface="+mj-lt"/>
                <a:ea typeface="+mj-ea"/>
                <a:cs typeface="+mj-cs"/>
              </a:rPr>
              <a:t>Recap</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p:nvPr>
        </p:nvSpPr>
        <p:spPr>
          <a:xfrm>
            <a:off x="3941445" y="1648870"/>
            <a:ext cx="3527136" cy="3560260"/>
          </a:xfrm>
        </p:spPr>
        <p:txBody>
          <a:bodyPr vert="horz" lIns="91440" tIns="45720" rIns="91440" bIns="45720" rtlCol="0" anchor="ctr">
            <a:normAutofit/>
          </a:bodyPr>
          <a:lstStyle/>
          <a:p>
            <a:pPr indent="-228600" algn="l" defTabSz="914400">
              <a:lnSpc>
                <a:spcPct val="90000"/>
              </a:lnSpc>
              <a:buFont typeface="Arial" panose="020B0604020202020204" pitchFamily="34" charset="0"/>
              <a:buChar char="•"/>
            </a:pPr>
            <a:r>
              <a:rPr lang="en-US" sz="2100" dirty="0">
                <a:solidFill>
                  <a:schemeClr val="tx1"/>
                </a:solidFill>
              </a:rPr>
              <a:t>Summary:</a:t>
            </a:r>
          </a:p>
          <a:p>
            <a:pPr indent="-228600" algn="l" defTabSz="914400">
              <a:lnSpc>
                <a:spcPct val="90000"/>
              </a:lnSpc>
              <a:buFont typeface="Arial" panose="020B0604020202020204" pitchFamily="34" charset="0"/>
              <a:buChar char="•"/>
            </a:pPr>
            <a:r>
              <a:rPr lang="en-US" sz="2100" dirty="0">
                <a:solidFill>
                  <a:schemeClr val="tx1"/>
                </a:solidFill>
              </a:rPr>
              <a:t>Deep Learning = ML with multi-layered neural networks</a:t>
            </a:r>
          </a:p>
          <a:p>
            <a:pPr indent="-228600" algn="l" defTabSz="914400">
              <a:lnSpc>
                <a:spcPct val="90000"/>
              </a:lnSpc>
              <a:buFont typeface="Arial" panose="020B0604020202020204" pitchFamily="34" charset="0"/>
              <a:buChar char="•"/>
            </a:pPr>
            <a:r>
              <a:rPr lang="en-US" sz="2100" dirty="0">
                <a:solidFill>
                  <a:schemeClr val="tx1"/>
                </a:solidFill>
              </a:rPr>
              <a:t>Best for unstructured, complex data</a:t>
            </a:r>
          </a:p>
          <a:p>
            <a:pPr indent="-228600" algn="l" defTabSz="914400">
              <a:lnSpc>
                <a:spcPct val="90000"/>
              </a:lnSpc>
              <a:buFont typeface="Arial" panose="020B0604020202020204" pitchFamily="34" charset="0"/>
              <a:buChar char="•"/>
            </a:pPr>
            <a:r>
              <a:rPr lang="en-US" sz="2100" dirty="0">
                <a:solidFill>
                  <a:schemeClr val="tx1"/>
                </a:solidFill>
              </a:rPr>
              <a:t>CNNs, RNNs, Transformers for different tasks</a:t>
            </a:r>
          </a:p>
          <a:p>
            <a:pPr indent="-228600" algn="l" defTabSz="914400">
              <a:lnSpc>
                <a:spcPct val="90000"/>
              </a:lnSpc>
              <a:buFont typeface="Arial" panose="020B0604020202020204" pitchFamily="34" charset="0"/>
              <a:buChar char="•"/>
            </a:pPr>
            <a:r>
              <a:rPr lang="en-US" sz="2100" dirty="0">
                <a:solidFill>
                  <a:schemeClr val="tx1"/>
                </a:solidFill>
              </a:rPr>
              <a:t>Powerful but data and compute intensive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head made of electrical wires&#10;&#10;AI-generated content may be incorrect.">
            <a:extLst>
              <a:ext uri="{FF2B5EF4-FFF2-40B4-BE49-F238E27FC236}">
                <a16:creationId xmlns:a16="http://schemas.microsoft.com/office/drawing/2014/main" id="{B12FAE31-FFE6-4B87-0F3B-08DFBFE3C6A1}"/>
              </a:ext>
            </a:extLst>
          </p:cNvPr>
          <p:cNvPicPr>
            <a:picLocks noChangeAspect="1"/>
          </p:cNvPicPr>
          <p:nvPr/>
        </p:nvPicPr>
        <p:blipFill>
          <a:blip r:embed="rId3"/>
          <a:srcRect l="6666" r="1" b="1"/>
          <a:stretch>
            <a:fillRect/>
          </a:stretch>
        </p:blipFill>
        <p:spPr>
          <a:xfrm>
            <a:off x="-2285" y="10"/>
            <a:ext cx="9143999" cy="6857990"/>
          </a:xfrm>
          <a:prstGeom prst="rect">
            <a:avLst/>
          </a:prstGeom>
        </p:spPr>
      </p:pic>
      <p:sp>
        <p:nvSpPr>
          <p:cNvPr id="12" name="Rectangle 11">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9143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22960" y="325550"/>
            <a:ext cx="7543800" cy="3574778"/>
          </a:xfrm>
          <a:effectLst>
            <a:outerShdw blurRad="50800" dist="38100" dir="2700000" algn="tl" rotWithShape="0">
              <a:prstClr val="black">
                <a:alpha val="40000"/>
              </a:prstClr>
            </a:outerShdw>
          </a:effectLst>
        </p:spPr>
        <p:txBody>
          <a:bodyPr>
            <a:normAutofit/>
          </a:bodyPr>
          <a:lstStyle/>
          <a:p>
            <a:r>
              <a:rPr lang="en-US" sz="4500">
                <a:solidFill>
                  <a:srgbClr val="FFFFFF"/>
                </a:solidFill>
              </a:rPr>
              <a:t>Next Session</a:t>
            </a:r>
          </a:p>
        </p:txBody>
      </p:sp>
      <p:sp>
        <p:nvSpPr>
          <p:cNvPr id="3" name="Subtitle 2"/>
          <p:cNvSpPr>
            <a:spLocks noGrp="1"/>
          </p:cNvSpPr>
          <p:nvPr>
            <p:ph type="subTitle" idx="1"/>
          </p:nvPr>
        </p:nvSpPr>
        <p:spPr>
          <a:xfrm>
            <a:off x="825038" y="4072043"/>
            <a:ext cx="7543800" cy="1282707"/>
          </a:xfrm>
          <a:effectLst>
            <a:outerShdw blurRad="50800" dist="38100" dir="2700000" algn="tl" rotWithShape="0">
              <a:prstClr val="black">
                <a:alpha val="40000"/>
              </a:prstClr>
            </a:outerShdw>
          </a:effectLst>
        </p:spPr>
        <p:txBody>
          <a:bodyPr>
            <a:normAutofit/>
          </a:bodyPr>
          <a:lstStyle/>
          <a:p>
            <a:r>
              <a:rPr lang="en-US" sz="3000" dirty="0">
                <a:solidFill>
                  <a:srgbClr val="FFFFFF"/>
                </a:solidFill>
              </a:rPr>
              <a:t>Next: Generative AI – From Data to Creativity</a:t>
            </a:r>
          </a:p>
          <a:p>
            <a:r>
              <a:rPr lang="en-US" sz="3000" dirty="0">
                <a:solidFill>
                  <a:srgbClr val="FFFFFF"/>
                </a:solidFill>
              </a:rPr>
              <a:t>How AI creates new content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920</Words>
  <Application>Microsoft Office PowerPoint</Application>
  <PresentationFormat>On-screen Show (4:3)</PresentationFormat>
  <Paragraphs>75</Paragraphs>
  <Slides>17</Slides>
  <Notes>12</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Deep Learning – Powering Modern AI</vt:lpstr>
      <vt:lpstr>PowerPoint Presentation</vt:lpstr>
      <vt:lpstr>Artificial Neuron</vt:lpstr>
      <vt:lpstr>What is Deep Learning?</vt:lpstr>
      <vt:lpstr>Multi Layer Network</vt:lpstr>
      <vt:lpstr>ML vs DL</vt:lpstr>
      <vt:lpstr>How a Neural Network Works</vt:lpstr>
      <vt:lpstr>PowerPoint Presentation</vt:lpstr>
      <vt:lpstr>Training Deep Learning Models</vt:lpstr>
      <vt:lpstr>Common DL Architectures</vt:lpstr>
      <vt:lpstr>Working of CNN</vt:lpstr>
      <vt:lpstr>PowerPoint Presentation</vt:lpstr>
      <vt:lpstr>Why Deep Learning Works So Well</vt:lpstr>
      <vt:lpstr>Real-World Applications</vt:lpstr>
      <vt:lpstr>Challenges in Deep Learning</vt:lpstr>
      <vt:lpstr>Recap</vt:lpstr>
      <vt:lpstr>Next Session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Zaid Khan, Vodafone</dc:creator>
  <cp:keywords/>
  <dc:description>generated using python-pptx</dc:description>
  <cp:lastModifiedBy>Zaid Khan, Vodafone</cp:lastModifiedBy>
  <cp:revision>3</cp:revision>
  <dcterms:created xsi:type="dcterms:W3CDTF">2013-01-27T09:14:16Z</dcterms:created>
  <dcterms:modified xsi:type="dcterms:W3CDTF">2025-09-04T06:41:33Z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59f705-2ba0-454b-9cfc-6ce5bcaac040_Enabled">
    <vt:lpwstr>true</vt:lpwstr>
  </property>
  <property fmtid="{D5CDD505-2E9C-101B-9397-08002B2CF9AE}" pid="3" name="MSIP_Label_0359f705-2ba0-454b-9cfc-6ce5bcaac040_SetDate">
    <vt:lpwstr>2025-08-25T12:19:20Z</vt:lpwstr>
  </property>
  <property fmtid="{D5CDD505-2E9C-101B-9397-08002B2CF9AE}" pid="4" name="MSIP_Label_0359f705-2ba0-454b-9cfc-6ce5bcaac040_Method">
    <vt:lpwstr>Standard</vt:lpwstr>
  </property>
  <property fmtid="{D5CDD505-2E9C-101B-9397-08002B2CF9AE}" pid="5" name="MSIP_Label_0359f705-2ba0-454b-9cfc-6ce5bcaac040_Name">
    <vt:lpwstr>0359f705-2ba0-454b-9cfc-6ce5bcaac040</vt:lpwstr>
  </property>
  <property fmtid="{D5CDD505-2E9C-101B-9397-08002B2CF9AE}" pid="6" name="MSIP_Label_0359f705-2ba0-454b-9cfc-6ce5bcaac040_SiteId">
    <vt:lpwstr>68283f3b-8487-4c86-adb3-a5228f18b893</vt:lpwstr>
  </property>
  <property fmtid="{D5CDD505-2E9C-101B-9397-08002B2CF9AE}" pid="7" name="MSIP_Label_0359f705-2ba0-454b-9cfc-6ce5bcaac040_ActionId">
    <vt:lpwstr>94375983-8976-4b36-9a41-13a4589cea24</vt:lpwstr>
  </property>
  <property fmtid="{D5CDD505-2E9C-101B-9397-08002B2CF9AE}" pid="8" name="MSIP_Label_0359f705-2ba0-454b-9cfc-6ce5bcaac040_ContentBits">
    <vt:lpwstr>2</vt:lpwstr>
  </property>
  <property fmtid="{D5CDD505-2E9C-101B-9397-08002B2CF9AE}" pid="9" name="MSIP_Label_0359f705-2ba0-454b-9cfc-6ce5bcaac040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C2 General</vt:lpwstr>
  </property>
</Properties>
</file>