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1" r:id="rId2"/>
    <p:sldId id="2562" r:id="rId3"/>
    <p:sldId id="2563" r:id="rId4"/>
    <p:sldId id="2580" r:id="rId5"/>
    <p:sldId id="2564" r:id="rId6"/>
    <p:sldId id="2581" r:id="rId7"/>
    <p:sldId id="2579" r:id="rId8"/>
    <p:sldId id="2565" r:id="rId9"/>
    <p:sldId id="2566" r:id="rId10"/>
    <p:sldId id="2582" r:id="rId11"/>
    <p:sldId id="2567" r:id="rId12"/>
    <p:sldId id="2568" r:id="rId13"/>
    <p:sldId id="2569" r:id="rId14"/>
    <p:sldId id="2583" r:id="rId15"/>
    <p:sldId id="2584" r:id="rId16"/>
    <p:sldId id="2570" r:id="rId17"/>
    <p:sldId id="2571" r:id="rId18"/>
    <p:sldId id="2572" r:id="rId19"/>
    <p:sldId id="2573" r:id="rId20"/>
    <p:sldId id="2574" r:id="rId21"/>
    <p:sldId id="2575" r:id="rId22"/>
    <p:sldId id="2585" r:id="rId23"/>
    <p:sldId id="2576" r:id="rId24"/>
    <p:sldId id="2577" r:id="rId25"/>
    <p:sldId id="25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rge Language Models (LLMs) and Retrieval-Augmented Generation (RAG)" id="{6A74E4BD-68A0-43A4-B558-9A4757F598DB}">
          <p14:sldIdLst>
            <p14:sldId id="2561"/>
          </p14:sldIdLst>
        </p14:section>
        <p14:section name="Introduction to LLMs" id="{89A4BA75-F142-4517-977C-22DB94122E75}">
          <p14:sldIdLst>
            <p14:sldId id="2562"/>
            <p14:sldId id="2563"/>
            <p14:sldId id="2580"/>
            <p14:sldId id="2564"/>
            <p14:sldId id="2581"/>
            <p14:sldId id="2579"/>
          </p14:sldIdLst>
        </p14:section>
        <p14:section name="Technical Foundations" id="{A6AA22B3-E6F7-4DD3-BE17-54DB5D9AAAE0}">
          <p14:sldIdLst>
            <p14:sldId id="2565"/>
            <p14:sldId id="2566"/>
            <p14:sldId id="2582"/>
            <p14:sldId id="2567"/>
          </p14:sldIdLst>
        </p14:section>
        <p14:section name="Capabilities and Limitations" id="{E0B23564-C043-42C1-AD58-9C6EEF4EB513}">
          <p14:sldIdLst>
            <p14:sldId id="2568"/>
            <p14:sldId id="2569"/>
            <p14:sldId id="2583"/>
            <p14:sldId id="2584"/>
            <p14:sldId id="2570"/>
          </p14:sldIdLst>
        </p14:section>
        <p14:section name="Popular Models and Enhancements" id="{01670493-13E0-400F-88D2-28FC04B1913A}">
          <p14:sldIdLst>
            <p14:sldId id="2571"/>
            <p14:sldId id="2572"/>
            <p14:sldId id="2573"/>
          </p14:sldIdLst>
        </p14:section>
        <p14:section name="RAG Workflow and Applications" id="{47A365E5-3514-42BA-9F2C-421D6FCB973A}">
          <p14:sldIdLst>
            <p14:sldId id="2574"/>
            <p14:sldId id="2575"/>
            <p14:sldId id="2585"/>
            <p14:sldId id="2576"/>
          </p14:sldIdLst>
        </p14:section>
        <p14:section name="Conclusion" id="{172795F5-D5B0-4CE1-A457-64C28003A3B4}">
          <p14:sldIdLst>
            <p14:sldId id="2577"/>
            <p14:sldId id="25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7331F-BF1D-426E-8D7B-CD6D7CFCA8E6}" v="20" dt="2025-09-02T06:59:00.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365" autoAdjust="0"/>
    <p:restoredTop sz="94660"/>
  </p:normalViewPr>
  <p:slideViewPr>
    <p:cSldViewPr snapToGrid="0">
      <p:cViewPr varScale="1">
        <p:scale>
          <a:sx n="51" d="100"/>
          <a:sy n="51" d="100"/>
        </p:scale>
        <p:origin x="17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A4B49F-3B66-4DFE-88B1-B0B386DB1E52}"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376ED05B-D338-45DD-93D5-8CA28378BE68}">
      <dgm:prSet/>
      <dgm:spPr/>
      <dgm:t>
        <a:bodyPr/>
        <a:lstStyle/>
        <a:p>
          <a:pPr>
            <a:lnSpc>
              <a:spcPct val="100000"/>
            </a:lnSpc>
            <a:defRPr b="1"/>
          </a:pPr>
          <a:r>
            <a:rPr lang="en-US"/>
            <a:t>Pretraining on Large Text Corpora</a:t>
          </a:r>
        </a:p>
      </dgm:t>
    </dgm:pt>
    <dgm:pt modelId="{7CE6C7DE-428E-47D0-8663-EBD98778AF1F}" type="parTrans" cxnId="{49E7B09E-4D2D-4363-9995-A7467F8CB14E}">
      <dgm:prSet/>
      <dgm:spPr/>
      <dgm:t>
        <a:bodyPr/>
        <a:lstStyle/>
        <a:p>
          <a:endParaRPr lang="en-US"/>
        </a:p>
      </dgm:t>
    </dgm:pt>
    <dgm:pt modelId="{6057A4B4-1728-4531-AF67-08D45F717274}" type="sibTrans" cxnId="{49E7B09E-4D2D-4363-9995-A7467F8CB14E}">
      <dgm:prSet/>
      <dgm:spPr/>
      <dgm:t>
        <a:bodyPr/>
        <a:lstStyle/>
        <a:p>
          <a:pPr>
            <a:lnSpc>
              <a:spcPct val="100000"/>
            </a:lnSpc>
            <a:defRPr b="1"/>
          </a:pPr>
          <a:endParaRPr lang="en-US"/>
        </a:p>
      </dgm:t>
    </dgm:pt>
    <dgm:pt modelId="{FFC471BA-51CC-472E-B77F-B67188A1ED58}">
      <dgm:prSet/>
      <dgm:spPr/>
      <dgm:t>
        <a:bodyPr/>
        <a:lstStyle/>
        <a:p>
          <a:pPr>
            <a:lnSpc>
              <a:spcPct val="100000"/>
            </a:lnSpc>
          </a:pPr>
          <a:r>
            <a:rPr lang="en-US"/>
            <a:t>Models learn general language patterns by training on massive and diverse text datasets.</a:t>
          </a:r>
        </a:p>
      </dgm:t>
    </dgm:pt>
    <dgm:pt modelId="{A2B65F1F-EDDB-4D1C-877A-33CF36722D50}" type="parTrans" cxnId="{BE74249B-E2E2-4F8B-A2DC-42EC9AAA02AF}">
      <dgm:prSet/>
      <dgm:spPr/>
      <dgm:t>
        <a:bodyPr/>
        <a:lstStyle/>
        <a:p>
          <a:endParaRPr lang="en-US"/>
        </a:p>
      </dgm:t>
    </dgm:pt>
    <dgm:pt modelId="{5625BB34-84EA-4661-A218-1F2AE91409BA}" type="sibTrans" cxnId="{BE74249B-E2E2-4F8B-A2DC-42EC9AAA02AF}">
      <dgm:prSet/>
      <dgm:spPr/>
      <dgm:t>
        <a:bodyPr/>
        <a:lstStyle/>
        <a:p>
          <a:endParaRPr lang="en-US"/>
        </a:p>
      </dgm:t>
    </dgm:pt>
    <dgm:pt modelId="{9902E693-7901-4185-B3AB-AA2CD3653568}">
      <dgm:prSet/>
      <dgm:spPr/>
      <dgm:t>
        <a:bodyPr/>
        <a:lstStyle/>
        <a:p>
          <a:pPr>
            <a:lnSpc>
              <a:spcPct val="100000"/>
            </a:lnSpc>
            <a:defRPr b="1"/>
          </a:pPr>
          <a:r>
            <a:rPr lang="en-US"/>
            <a:t>Fine-Tuning for Specific Tasks</a:t>
          </a:r>
        </a:p>
      </dgm:t>
    </dgm:pt>
    <dgm:pt modelId="{BABE30A3-B97E-4CF4-84DB-E4D9FB316D63}" type="parTrans" cxnId="{DDC045C6-96B3-4B1E-98D4-6116111D76A7}">
      <dgm:prSet/>
      <dgm:spPr/>
      <dgm:t>
        <a:bodyPr/>
        <a:lstStyle/>
        <a:p>
          <a:endParaRPr lang="en-US"/>
        </a:p>
      </dgm:t>
    </dgm:pt>
    <dgm:pt modelId="{35E0495E-0F58-4297-A8ED-CF42B75583EE}" type="sibTrans" cxnId="{DDC045C6-96B3-4B1E-98D4-6116111D76A7}">
      <dgm:prSet/>
      <dgm:spPr/>
      <dgm:t>
        <a:bodyPr/>
        <a:lstStyle/>
        <a:p>
          <a:pPr>
            <a:lnSpc>
              <a:spcPct val="100000"/>
            </a:lnSpc>
            <a:defRPr b="1"/>
          </a:pPr>
          <a:endParaRPr lang="en-US"/>
        </a:p>
      </dgm:t>
    </dgm:pt>
    <dgm:pt modelId="{3A6CDEEC-7985-4B95-94E2-1E1D7D16D491}">
      <dgm:prSet/>
      <dgm:spPr/>
      <dgm:t>
        <a:bodyPr/>
        <a:lstStyle/>
        <a:p>
          <a:pPr>
            <a:lnSpc>
              <a:spcPct val="100000"/>
            </a:lnSpc>
          </a:pPr>
          <a:r>
            <a:rPr lang="en-US"/>
            <a:t>Models are adapted to particular tasks or domains using carefully curated datasets.</a:t>
          </a:r>
        </a:p>
      </dgm:t>
    </dgm:pt>
    <dgm:pt modelId="{B9CB3925-EAA1-487D-AE9A-086B752B8A93}" type="parTrans" cxnId="{2EDFDE27-BC73-46FD-8431-07FEE8CC3178}">
      <dgm:prSet/>
      <dgm:spPr/>
      <dgm:t>
        <a:bodyPr/>
        <a:lstStyle/>
        <a:p>
          <a:endParaRPr lang="en-US"/>
        </a:p>
      </dgm:t>
    </dgm:pt>
    <dgm:pt modelId="{73EFEC2D-7895-46E1-BAF3-FC390E4167D7}" type="sibTrans" cxnId="{2EDFDE27-BC73-46FD-8431-07FEE8CC3178}">
      <dgm:prSet/>
      <dgm:spPr/>
      <dgm:t>
        <a:bodyPr/>
        <a:lstStyle/>
        <a:p>
          <a:endParaRPr lang="en-US"/>
        </a:p>
      </dgm:t>
    </dgm:pt>
    <dgm:pt modelId="{E083A691-CF54-4B38-A8FA-79FD0F6C3DCA}">
      <dgm:prSet/>
      <dgm:spPr/>
      <dgm:t>
        <a:bodyPr/>
        <a:lstStyle/>
        <a:p>
          <a:pPr>
            <a:lnSpc>
              <a:spcPct val="100000"/>
            </a:lnSpc>
            <a:defRPr b="1"/>
          </a:pPr>
          <a:r>
            <a:rPr lang="en-US"/>
            <a:t>Reinforcement Learning from Human Feedback</a:t>
          </a:r>
        </a:p>
      </dgm:t>
    </dgm:pt>
    <dgm:pt modelId="{58AD968F-49FE-4C5D-9ECD-50B537A2B1A6}" type="parTrans" cxnId="{A3776BF0-BE15-41E2-8FDD-F43011EB45B3}">
      <dgm:prSet/>
      <dgm:spPr/>
      <dgm:t>
        <a:bodyPr/>
        <a:lstStyle/>
        <a:p>
          <a:endParaRPr lang="en-US"/>
        </a:p>
      </dgm:t>
    </dgm:pt>
    <dgm:pt modelId="{35C398C1-0F39-4747-89E8-60226E72E733}" type="sibTrans" cxnId="{A3776BF0-BE15-41E2-8FDD-F43011EB45B3}">
      <dgm:prSet/>
      <dgm:spPr/>
      <dgm:t>
        <a:bodyPr/>
        <a:lstStyle/>
        <a:p>
          <a:endParaRPr lang="en-US"/>
        </a:p>
      </dgm:t>
    </dgm:pt>
    <dgm:pt modelId="{7BFF9545-FA0D-41C6-B452-BE8557784737}">
      <dgm:prSet/>
      <dgm:spPr/>
      <dgm:t>
        <a:bodyPr/>
        <a:lstStyle/>
        <a:p>
          <a:pPr>
            <a:lnSpc>
              <a:spcPct val="100000"/>
            </a:lnSpc>
          </a:pPr>
          <a:r>
            <a:rPr lang="en-US"/>
            <a:t>Human evaluations refine model responses through reinforcement learning to improve quality and safety.</a:t>
          </a:r>
        </a:p>
      </dgm:t>
    </dgm:pt>
    <dgm:pt modelId="{2C22C55C-2793-4E94-A57C-2600CB6BCA2D}" type="parTrans" cxnId="{357B413F-BE73-4478-8A22-BE3E26513B4B}">
      <dgm:prSet/>
      <dgm:spPr/>
      <dgm:t>
        <a:bodyPr/>
        <a:lstStyle/>
        <a:p>
          <a:endParaRPr lang="en-US"/>
        </a:p>
      </dgm:t>
    </dgm:pt>
    <dgm:pt modelId="{5516A03D-4D70-45D7-8678-DFF10656428A}" type="sibTrans" cxnId="{357B413F-BE73-4478-8A22-BE3E26513B4B}">
      <dgm:prSet/>
      <dgm:spPr/>
      <dgm:t>
        <a:bodyPr/>
        <a:lstStyle/>
        <a:p>
          <a:endParaRPr lang="en-US"/>
        </a:p>
      </dgm:t>
    </dgm:pt>
    <dgm:pt modelId="{E708F19C-9A9E-4FA7-A8FE-1DB7A719768B}" type="pres">
      <dgm:prSet presAssocID="{78A4B49F-3B66-4DFE-88B1-B0B386DB1E52}" presName="Root" presStyleCnt="0">
        <dgm:presLayoutVars>
          <dgm:dir/>
          <dgm:resizeHandles val="exact"/>
        </dgm:presLayoutVars>
      </dgm:prSet>
      <dgm:spPr/>
    </dgm:pt>
    <dgm:pt modelId="{CEC4AE34-1896-4DDB-B4B3-2CD96EE26715}" type="pres">
      <dgm:prSet presAssocID="{376ED05B-D338-45DD-93D5-8CA28378BE68}" presName="Composite" presStyleCnt="0"/>
      <dgm:spPr/>
    </dgm:pt>
    <dgm:pt modelId="{0F4132DD-64A2-4133-9D43-294A5408CE71}" type="pres">
      <dgm:prSet presAssocID="{376ED05B-D338-45DD-93D5-8CA28378BE68}"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19753" r="13497"/>
          <a:stretch/>
        </a:blipFill>
      </dgm:spPr>
      <dgm:extLst>
        <a:ext uri="{E40237B7-FDA0-4F09-8148-C483321AD2D9}">
          <dgm14:cNvPr xmlns:dgm14="http://schemas.microsoft.com/office/drawing/2010/diagram" id="0" name="" descr="Flag of Chad on a computer binary codes falling from the top and fading away."/>
        </a:ext>
      </dgm:extLst>
    </dgm:pt>
    <dgm:pt modelId="{2923C2CD-ECA6-4224-8383-5CBF7ED08E52}" type="pres">
      <dgm:prSet presAssocID="{376ED05B-D338-45DD-93D5-8CA28378BE68}" presName="Subtitle" presStyleLbl="revTx" presStyleIdx="0" presStyleCnt="6">
        <dgm:presLayoutVars>
          <dgm:chMax val="0"/>
          <dgm:bulletEnabled/>
        </dgm:presLayoutVars>
      </dgm:prSet>
      <dgm:spPr/>
    </dgm:pt>
    <dgm:pt modelId="{CBB4889C-7260-4CA8-8383-32618B738EB9}" type="pres">
      <dgm:prSet presAssocID="{376ED05B-D338-45DD-93D5-8CA28378BE68}" presName="Description" presStyleLbl="revTx" presStyleIdx="1" presStyleCnt="6">
        <dgm:presLayoutVars>
          <dgm:bulletEnabled/>
        </dgm:presLayoutVars>
      </dgm:prSet>
      <dgm:spPr/>
    </dgm:pt>
    <dgm:pt modelId="{C6C6D7EA-5E82-480C-9083-BD3BD60FCB7B}" type="pres">
      <dgm:prSet presAssocID="{6057A4B4-1728-4531-AF67-08D45F717274}" presName="sibTrans" presStyleLbl="sibTrans2D1" presStyleIdx="0" presStyleCnt="0"/>
      <dgm:spPr/>
    </dgm:pt>
    <dgm:pt modelId="{7A6A746D-6685-4361-AD0E-ADBDB3E1EA99}" type="pres">
      <dgm:prSet presAssocID="{9902E693-7901-4185-B3AB-AA2CD3653568}" presName="Composite" presStyleCnt="0"/>
      <dgm:spPr/>
    </dgm:pt>
    <dgm:pt modelId="{423FFE94-A497-4BEC-A418-32DA4FECB01E}" type="pres">
      <dgm:prSet presAssocID="{9902E693-7901-4185-B3AB-AA2CD3653568}"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18203" r="25550" b="4"/>
          <a:stretch/>
        </a:blipFill>
      </dgm:spPr>
      <dgm:extLst>
        <a:ext uri="{E40237B7-FDA0-4F09-8148-C483321AD2D9}">
          <dgm14:cNvPr xmlns:dgm14="http://schemas.microsoft.com/office/drawing/2010/diagram" id="0" name="" descr="Futuristic Holographic Terrain environment, geomorphology, topography and digital data telemetry information display motion graphic user interface head up display screen"/>
        </a:ext>
      </dgm:extLst>
    </dgm:pt>
    <dgm:pt modelId="{00D29533-166B-4549-B6FA-0B0076CE9873}" type="pres">
      <dgm:prSet presAssocID="{9902E693-7901-4185-B3AB-AA2CD3653568}" presName="Subtitle" presStyleLbl="revTx" presStyleIdx="2" presStyleCnt="6">
        <dgm:presLayoutVars>
          <dgm:chMax val="0"/>
          <dgm:bulletEnabled/>
        </dgm:presLayoutVars>
      </dgm:prSet>
      <dgm:spPr/>
    </dgm:pt>
    <dgm:pt modelId="{5BD74107-21B7-465E-8675-63C6934602F1}" type="pres">
      <dgm:prSet presAssocID="{9902E693-7901-4185-B3AB-AA2CD3653568}" presName="Description" presStyleLbl="revTx" presStyleIdx="3" presStyleCnt="6">
        <dgm:presLayoutVars>
          <dgm:bulletEnabled/>
        </dgm:presLayoutVars>
      </dgm:prSet>
      <dgm:spPr/>
    </dgm:pt>
    <dgm:pt modelId="{BEBF8E1B-4219-4063-8C99-D8B668E4F24E}" type="pres">
      <dgm:prSet presAssocID="{35E0495E-0F58-4297-A8ED-CF42B75583EE}" presName="sibTrans" presStyleLbl="sibTrans2D1" presStyleIdx="0" presStyleCnt="0"/>
      <dgm:spPr/>
    </dgm:pt>
    <dgm:pt modelId="{017B1136-1149-4B9F-8ED6-6FFC3E45D842}" type="pres">
      <dgm:prSet presAssocID="{E083A691-CF54-4B38-A8FA-79FD0F6C3DCA}" presName="Composite" presStyleCnt="0"/>
      <dgm:spPr/>
    </dgm:pt>
    <dgm:pt modelId="{BF0CE11B-7383-426C-A829-18E6251E07A5}" type="pres">
      <dgm:prSet presAssocID="{E083A691-CF54-4B38-A8FA-79FD0F6C3DCA}"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29090" r="4161"/>
          <a:stretch/>
        </a:blipFill>
      </dgm:spPr>
      <dgm:extLst>
        <a:ext uri="{E40237B7-FDA0-4F09-8148-C483321AD2D9}">
          <dgm14:cNvPr xmlns:dgm14="http://schemas.microsoft.com/office/drawing/2010/diagram" id="0" name="" descr="Social media and global network concept."/>
        </a:ext>
      </dgm:extLst>
    </dgm:pt>
    <dgm:pt modelId="{7326A8C0-4515-433B-9AAC-471168709EBE}" type="pres">
      <dgm:prSet presAssocID="{E083A691-CF54-4B38-A8FA-79FD0F6C3DCA}" presName="Subtitle" presStyleLbl="revTx" presStyleIdx="4" presStyleCnt="6">
        <dgm:presLayoutVars>
          <dgm:chMax val="0"/>
          <dgm:bulletEnabled/>
        </dgm:presLayoutVars>
      </dgm:prSet>
      <dgm:spPr/>
    </dgm:pt>
    <dgm:pt modelId="{7043905A-CE0B-4731-9026-D27E182CE5EB}" type="pres">
      <dgm:prSet presAssocID="{E083A691-CF54-4B38-A8FA-79FD0F6C3DCA}" presName="Description" presStyleLbl="revTx" presStyleIdx="5" presStyleCnt="6">
        <dgm:presLayoutVars>
          <dgm:bulletEnabled/>
        </dgm:presLayoutVars>
      </dgm:prSet>
      <dgm:spPr/>
    </dgm:pt>
  </dgm:ptLst>
  <dgm:cxnLst>
    <dgm:cxn modelId="{F39B3609-02A1-4E7A-813B-0BD119C50F91}" type="presOf" srcId="{6057A4B4-1728-4531-AF67-08D45F717274}" destId="{C6C6D7EA-5E82-480C-9083-BD3BD60FCB7B}" srcOrd="0" destOrd="0" presId="urn:microsoft.com/office/officeart/2024/3/layout/verticalVisualTextBlock1"/>
    <dgm:cxn modelId="{68170211-6F40-474B-9D77-560910F5D2EA}" type="presOf" srcId="{78A4B49F-3B66-4DFE-88B1-B0B386DB1E52}" destId="{E708F19C-9A9E-4FA7-A8FE-1DB7A719768B}" srcOrd="0" destOrd="0" presId="urn:microsoft.com/office/officeart/2024/3/layout/verticalVisualTextBlock1"/>
    <dgm:cxn modelId="{2EDFDE27-BC73-46FD-8431-07FEE8CC3178}" srcId="{9902E693-7901-4185-B3AB-AA2CD3653568}" destId="{3A6CDEEC-7985-4B95-94E2-1E1D7D16D491}" srcOrd="0" destOrd="0" parTransId="{B9CB3925-EAA1-487D-AE9A-086B752B8A93}" sibTransId="{73EFEC2D-7895-46E1-BAF3-FC390E4167D7}"/>
    <dgm:cxn modelId="{7E4FEA2C-1720-4C7F-801D-FEAF87634145}" type="presOf" srcId="{9902E693-7901-4185-B3AB-AA2CD3653568}" destId="{00D29533-166B-4549-B6FA-0B0076CE9873}" srcOrd="0" destOrd="0" presId="urn:microsoft.com/office/officeart/2024/3/layout/verticalVisualTextBlock1"/>
    <dgm:cxn modelId="{357B413F-BE73-4478-8A22-BE3E26513B4B}" srcId="{E083A691-CF54-4B38-A8FA-79FD0F6C3DCA}" destId="{7BFF9545-FA0D-41C6-B452-BE8557784737}" srcOrd="0" destOrd="0" parTransId="{2C22C55C-2793-4E94-A57C-2600CB6BCA2D}" sibTransId="{5516A03D-4D70-45D7-8678-DFF10656428A}"/>
    <dgm:cxn modelId="{5A00FD86-46EF-40E2-99EF-41330A7C5247}" type="presOf" srcId="{376ED05B-D338-45DD-93D5-8CA28378BE68}" destId="{2923C2CD-ECA6-4224-8383-5CBF7ED08E52}" srcOrd="0" destOrd="0" presId="urn:microsoft.com/office/officeart/2024/3/layout/verticalVisualTextBlock1"/>
    <dgm:cxn modelId="{BE74249B-E2E2-4F8B-A2DC-42EC9AAA02AF}" srcId="{376ED05B-D338-45DD-93D5-8CA28378BE68}" destId="{FFC471BA-51CC-472E-B77F-B67188A1ED58}" srcOrd="0" destOrd="0" parTransId="{A2B65F1F-EDDB-4D1C-877A-33CF36722D50}" sibTransId="{5625BB34-84EA-4661-A218-1F2AE91409BA}"/>
    <dgm:cxn modelId="{49E7B09E-4D2D-4363-9995-A7467F8CB14E}" srcId="{78A4B49F-3B66-4DFE-88B1-B0B386DB1E52}" destId="{376ED05B-D338-45DD-93D5-8CA28378BE68}" srcOrd="0" destOrd="0" parTransId="{7CE6C7DE-428E-47D0-8663-EBD98778AF1F}" sibTransId="{6057A4B4-1728-4531-AF67-08D45F717274}"/>
    <dgm:cxn modelId="{F7E7ADA1-CE73-4DE0-BEE7-2A57E45664D4}" type="presOf" srcId="{E083A691-CF54-4B38-A8FA-79FD0F6C3DCA}" destId="{7326A8C0-4515-433B-9AAC-471168709EBE}" srcOrd="0" destOrd="0" presId="urn:microsoft.com/office/officeart/2024/3/layout/verticalVisualTextBlock1"/>
    <dgm:cxn modelId="{973803BC-074B-4B56-82BD-E1CD2578EC2E}" type="presOf" srcId="{FFC471BA-51CC-472E-B77F-B67188A1ED58}" destId="{CBB4889C-7260-4CA8-8383-32618B738EB9}" srcOrd="0" destOrd="0" presId="urn:microsoft.com/office/officeart/2024/3/layout/verticalVisualTextBlock1"/>
    <dgm:cxn modelId="{DDC045C6-96B3-4B1E-98D4-6116111D76A7}" srcId="{78A4B49F-3B66-4DFE-88B1-B0B386DB1E52}" destId="{9902E693-7901-4185-B3AB-AA2CD3653568}" srcOrd="1" destOrd="0" parTransId="{BABE30A3-B97E-4CF4-84DB-E4D9FB316D63}" sibTransId="{35E0495E-0F58-4297-A8ED-CF42B75583EE}"/>
    <dgm:cxn modelId="{A4F056E1-97D2-4AC4-9230-C710BA6532B3}" type="presOf" srcId="{7BFF9545-FA0D-41C6-B452-BE8557784737}" destId="{7043905A-CE0B-4731-9026-D27E182CE5EB}" srcOrd="0" destOrd="0" presId="urn:microsoft.com/office/officeart/2024/3/layout/verticalVisualTextBlock1"/>
    <dgm:cxn modelId="{74CC5AE1-20C9-410B-B04C-F7D37D7C3246}" type="presOf" srcId="{3A6CDEEC-7985-4B95-94E2-1E1D7D16D491}" destId="{5BD74107-21B7-465E-8675-63C6934602F1}" srcOrd="0" destOrd="0" presId="urn:microsoft.com/office/officeart/2024/3/layout/verticalVisualTextBlock1"/>
    <dgm:cxn modelId="{D67F44EF-9D48-4B7C-BA5C-A89572FCFFDD}" type="presOf" srcId="{35E0495E-0F58-4297-A8ED-CF42B75583EE}" destId="{BEBF8E1B-4219-4063-8C99-D8B668E4F24E}" srcOrd="0" destOrd="0" presId="urn:microsoft.com/office/officeart/2024/3/layout/verticalVisualTextBlock1"/>
    <dgm:cxn modelId="{A3776BF0-BE15-41E2-8FDD-F43011EB45B3}" srcId="{78A4B49F-3B66-4DFE-88B1-B0B386DB1E52}" destId="{E083A691-CF54-4B38-A8FA-79FD0F6C3DCA}" srcOrd="2" destOrd="0" parTransId="{58AD968F-49FE-4C5D-9ECD-50B537A2B1A6}" sibTransId="{35C398C1-0F39-4747-89E8-60226E72E733}"/>
    <dgm:cxn modelId="{1D48CA34-5DAB-4F42-B27E-666197343BBE}" type="presParOf" srcId="{E708F19C-9A9E-4FA7-A8FE-1DB7A719768B}" destId="{CEC4AE34-1896-4DDB-B4B3-2CD96EE26715}" srcOrd="0" destOrd="0" presId="urn:microsoft.com/office/officeart/2024/3/layout/verticalVisualTextBlock1"/>
    <dgm:cxn modelId="{96907A76-A416-4693-B4CF-41C22CA95F8A}" type="presParOf" srcId="{CEC4AE34-1896-4DDB-B4B3-2CD96EE26715}" destId="{0F4132DD-64A2-4133-9D43-294A5408CE71}" srcOrd="0" destOrd="0" presId="urn:microsoft.com/office/officeart/2024/3/layout/verticalVisualTextBlock1"/>
    <dgm:cxn modelId="{4F0A7960-6763-47F6-8F78-73ED5C719E57}" type="presParOf" srcId="{CEC4AE34-1896-4DDB-B4B3-2CD96EE26715}" destId="{2923C2CD-ECA6-4224-8383-5CBF7ED08E52}" srcOrd="1" destOrd="0" presId="urn:microsoft.com/office/officeart/2024/3/layout/verticalVisualTextBlock1"/>
    <dgm:cxn modelId="{E197261F-7AFD-4D4B-A3C6-4FA08E3F7F3F}" type="presParOf" srcId="{CEC4AE34-1896-4DDB-B4B3-2CD96EE26715}" destId="{CBB4889C-7260-4CA8-8383-32618B738EB9}" srcOrd="2" destOrd="0" presId="urn:microsoft.com/office/officeart/2024/3/layout/verticalVisualTextBlock1"/>
    <dgm:cxn modelId="{EE733B6A-2A3F-4286-A03B-D9739BB0CA2E}" type="presParOf" srcId="{E708F19C-9A9E-4FA7-A8FE-1DB7A719768B}" destId="{C6C6D7EA-5E82-480C-9083-BD3BD60FCB7B}" srcOrd="1" destOrd="0" presId="urn:microsoft.com/office/officeart/2024/3/layout/verticalVisualTextBlock1"/>
    <dgm:cxn modelId="{0955F3CB-E6D4-4E0E-9C46-0B8640EE9607}" type="presParOf" srcId="{E708F19C-9A9E-4FA7-A8FE-1DB7A719768B}" destId="{7A6A746D-6685-4361-AD0E-ADBDB3E1EA99}" srcOrd="2" destOrd="0" presId="urn:microsoft.com/office/officeart/2024/3/layout/verticalVisualTextBlock1"/>
    <dgm:cxn modelId="{88494CB6-4181-4EB5-80E7-AC1C90D54E09}" type="presParOf" srcId="{7A6A746D-6685-4361-AD0E-ADBDB3E1EA99}" destId="{423FFE94-A497-4BEC-A418-32DA4FECB01E}" srcOrd="0" destOrd="0" presId="urn:microsoft.com/office/officeart/2024/3/layout/verticalVisualTextBlock1"/>
    <dgm:cxn modelId="{C0ED6692-3C67-4582-8CC2-5A2AD22968DD}" type="presParOf" srcId="{7A6A746D-6685-4361-AD0E-ADBDB3E1EA99}" destId="{00D29533-166B-4549-B6FA-0B0076CE9873}" srcOrd="1" destOrd="0" presId="urn:microsoft.com/office/officeart/2024/3/layout/verticalVisualTextBlock1"/>
    <dgm:cxn modelId="{442680E3-4317-427E-8766-3D1C8CDC80E9}" type="presParOf" srcId="{7A6A746D-6685-4361-AD0E-ADBDB3E1EA99}" destId="{5BD74107-21B7-465E-8675-63C6934602F1}" srcOrd="2" destOrd="0" presId="urn:microsoft.com/office/officeart/2024/3/layout/verticalVisualTextBlock1"/>
    <dgm:cxn modelId="{4420ACA9-0A3A-4259-B6AF-3C1F0C11F32A}" type="presParOf" srcId="{E708F19C-9A9E-4FA7-A8FE-1DB7A719768B}" destId="{BEBF8E1B-4219-4063-8C99-D8B668E4F24E}" srcOrd="3" destOrd="0" presId="urn:microsoft.com/office/officeart/2024/3/layout/verticalVisualTextBlock1"/>
    <dgm:cxn modelId="{25BB76E4-DF89-419C-9BF3-C6E9242C6663}" type="presParOf" srcId="{E708F19C-9A9E-4FA7-A8FE-1DB7A719768B}" destId="{017B1136-1149-4B9F-8ED6-6FFC3E45D842}" srcOrd="4" destOrd="0" presId="urn:microsoft.com/office/officeart/2024/3/layout/verticalVisualTextBlock1"/>
    <dgm:cxn modelId="{73D51BBD-D9BA-4688-9588-9AD6F9245B03}" type="presParOf" srcId="{017B1136-1149-4B9F-8ED6-6FFC3E45D842}" destId="{BF0CE11B-7383-426C-A829-18E6251E07A5}" srcOrd="0" destOrd="0" presId="urn:microsoft.com/office/officeart/2024/3/layout/verticalVisualTextBlock1"/>
    <dgm:cxn modelId="{C42F6331-BD33-4B47-831A-B0256E0663C4}" type="presParOf" srcId="{017B1136-1149-4B9F-8ED6-6FFC3E45D842}" destId="{7326A8C0-4515-433B-9AAC-471168709EBE}" srcOrd="1" destOrd="0" presId="urn:microsoft.com/office/officeart/2024/3/layout/verticalVisualTextBlock1"/>
    <dgm:cxn modelId="{9DD176AD-C6F7-4B70-A57C-1CD72EE7F113}" type="presParOf" srcId="{017B1136-1149-4B9F-8ED6-6FFC3E45D842}" destId="{7043905A-CE0B-4731-9026-D27E182CE5E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132DD-64A2-4133-9D43-294A5408CE71}">
      <dsp:nvSpPr>
        <dsp:cNvPr id="0" name=""/>
        <dsp:cNvSpPr/>
      </dsp:nvSpPr>
      <dsp:spPr>
        <a:xfrm>
          <a:off x="0" y="0"/>
          <a:ext cx="1937614" cy="193761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19753" r="13497"/>
          <a:stretch/>
        </a:blipFill>
        <a:ln>
          <a:noFill/>
        </a:ln>
        <a:effectLst/>
      </dsp:spPr>
      <dsp:style>
        <a:lnRef idx="0">
          <a:scrgbClr r="0" g="0" b="0"/>
        </a:lnRef>
        <a:fillRef idx="3">
          <a:scrgbClr r="0" g="0" b="0"/>
        </a:fillRef>
        <a:effectRef idx="2">
          <a:scrgbClr r="0" g="0" b="0"/>
        </a:effectRef>
        <a:fontRef idx="minor">
          <a:schemeClr val="lt1"/>
        </a:fontRef>
      </dsp:style>
    </dsp:sp>
    <dsp:sp modelId="{2923C2CD-ECA6-4224-8383-5CBF7ED08E52}">
      <dsp:nvSpPr>
        <dsp:cNvPr id="0" name=""/>
        <dsp:cNvSpPr/>
      </dsp:nvSpPr>
      <dsp:spPr>
        <a:xfrm>
          <a:off x="2117614" y="0"/>
          <a:ext cx="9806594" cy="426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Pretraining on Large Text Corpora</a:t>
          </a:r>
        </a:p>
      </dsp:txBody>
      <dsp:txXfrm>
        <a:off x="2117614" y="0"/>
        <a:ext cx="9806594" cy="426816"/>
      </dsp:txXfrm>
    </dsp:sp>
    <dsp:sp modelId="{CBB4889C-7260-4CA8-8383-32618B738EB9}">
      <dsp:nvSpPr>
        <dsp:cNvPr id="0" name=""/>
        <dsp:cNvSpPr/>
      </dsp:nvSpPr>
      <dsp:spPr>
        <a:xfrm>
          <a:off x="2117614" y="426816"/>
          <a:ext cx="9806594" cy="15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Models learn general language patterns by training on massive and diverse text datasets.</a:t>
          </a:r>
        </a:p>
      </dsp:txBody>
      <dsp:txXfrm>
        <a:off x="2117614" y="426816"/>
        <a:ext cx="9806594" cy="1510798"/>
      </dsp:txXfrm>
    </dsp:sp>
    <dsp:sp modelId="{423FFE94-A497-4BEC-A418-32DA4FECB01E}">
      <dsp:nvSpPr>
        <dsp:cNvPr id="0" name=""/>
        <dsp:cNvSpPr/>
      </dsp:nvSpPr>
      <dsp:spPr>
        <a:xfrm>
          <a:off x="0" y="2092623"/>
          <a:ext cx="1937614" cy="1937614"/>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18203" r="25550" b="4"/>
          <a:stretch/>
        </a:blipFill>
        <a:ln>
          <a:noFill/>
        </a:ln>
        <a:effectLst/>
      </dsp:spPr>
      <dsp:style>
        <a:lnRef idx="0">
          <a:scrgbClr r="0" g="0" b="0"/>
        </a:lnRef>
        <a:fillRef idx="3">
          <a:scrgbClr r="0" g="0" b="0"/>
        </a:fillRef>
        <a:effectRef idx="2">
          <a:scrgbClr r="0" g="0" b="0"/>
        </a:effectRef>
        <a:fontRef idx="minor">
          <a:schemeClr val="lt1"/>
        </a:fontRef>
      </dsp:style>
    </dsp:sp>
    <dsp:sp modelId="{00D29533-166B-4549-B6FA-0B0076CE9873}">
      <dsp:nvSpPr>
        <dsp:cNvPr id="0" name=""/>
        <dsp:cNvSpPr/>
      </dsp:nvSpPr>
      <dsp:spPr>
        <a:xfrm>
          <a:off x="2117614" y="2092623"/>
          <a:ext cx="9806594" cy="426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Fine-Tuning for Specific Tasks</a:t>
          </a:r>
        </a:p>
      </dsp:txBody>
      <dsp:txXfrm>
        <a:off x="2117614" y="2092623"/>
        <a:ext cx="9806594" cy="426816"/>
      </dsp:txXfrm>
    </dsp:sp>
    <dsp:sp modelId="{5BD74107-21B7-465E-8675-63C6934602F1}">
      <dsp:nvSpPr>
        <dsp:cNvPr id="0" name=""/>
        <dsp:cNvSpPr/>
      </dsp:nvSpPr>
      <dsp:spPr>
        <a:xfrm>
          <a:off x="2117614" y="2519439"/>
          <a:ext cx="9806594" cy="15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Models are adapted to particular tasks or domains using carefully curated datasets.</a:t>
          </a:r>
        </a:p>
      </dsp:txBody>
      <dsp:txXfrm>
        <a:off x="2117614" y="2519439"/>
        <a:ext cx="9806594" cy="1510798"/>
      </dsp:txXfrm>
    </dsp:sp>
    <dsp:sp modelId="{BF0CE11B-7383-426C-A829-18E6251E07A5}">
      <dsp:nvSpPr>
        <dsp:cNvPr id="0" name=""/>
        <dsp:cNvSpPr/>
      </dsp:nvSpPr>
      <dsp:spPr>
        <a:xfrm>
          <a:off x="0" y="4185246"/>
          <a:ext cx="1937614" cy="193761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29090" r="4161"/>
          <a:stretch/>
        </a:blipFill>
        <a:ln>
          <a:noFill/>
        </a:ln>
        <a:effectLst/>
      </dsp:spPr>
      <dsp:style>
        <a:lnRef idx="0">
          <a:scrgbClr r="0" g="0" b="0"/>
        </a:lnRef>
        <a:fillRef idx="3">
          <a:scrgbClr r="0" g="0" b="0"/>
        </a:fillRef>
        <a:effectRef idx="2">
          <a:scrgbClr r="0" g="0" b="0"/>
        </a:effectRef>
        <a:fontRef idx="minor">
          <a:schemeClr val="lt1"/>
        </a:fontRef>
      </dsp:style>
    </dsp:sp>
    <dsp:sp modelId="{7326A8C0-4515-433B-9AAC-471168709EBE}">
      <dsp:nvSpPr>
        <dsp:cNvPr id="0" name=""/>
        <dsp:cNvSpPr/>
      </dsp:nvSpPr>
      <dsp:spPr>
        <a:xfrm>
          <a:off x="2117614" y="4185246"/>
          <a:ext cx="9806594" cy="426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Reinforcement Learning from Human Feedback</a:t>
          </a:r>
        </a:p>
      </dsp:txBody>
      <dsp:txXfrm>
        <a:off x="2117614" y="4185246"/>
        <a:ext cx="9806594" cy="426816"/>
      </dsp:txXfrm>
    </dsp:sp>
    <dsp:sp modelId="{7043905A-CE0B-4731-9026-D27E182CE5EB}">
      <dsp:nvSpPr>
        <dsp:cNvPr id="0" name=""/>
        <dsp:cNvSpPr/>
      </dsp:nvSpPr>
      <dsp:spPr>
        <a:xfrm>
          <a:off x="2117614" y="4612063"/>
          <a:ext cx="9806594" cy="1510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Human evaluations refine model responses through reinforcement learning to improve quality and safety.</a:t>
          </a:r>
        </a:p>
      </dsp:txBody>
      <dsp:txXfrm>
        <a:off x="2117614" y="4612063"/>
        <a:ext cx="9806594" cy="151079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37E7D-973E-4D43-9972-DFD83EE93ECA}" type="datetimeFigureOut">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82936-AA00-4B28-9C9C-37BFD7271821}" type="slidenum">
              <a:t>‹#›</a:t>
            </a:fld>
            <a:endParaRPr lang="en-US"/>
          </a:p>
        </p:txBody>
      </p:sp>
    </p:spTree>
    <p:extLst>
      <p:ext uri="{BB962C8B-B14F-4D97-AF65-F5344CB8AC3E}">
        <p14:creationId xmlns:p14="http://schemas.microsoft.com/office/powerpoint/2010/main" val="774688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FBE6DD31-7EAF-446B-B502-BFC465F22D76}" type="slidenum">
              <a:t>1</a:t>
            </a:fld>
            <a:endParaRPr lang="en-US"/>
          </a:p>
        </p:txBody>
      </p:sp>
    </p:spTree>
    <p:extLst>
      <p:ext uri="{BB962C8B-B14F-4D97-AF65-F5344CB8AC3E}">
        <p14:creationId xmlns:p14="http://schemas.microsoft.com/office/powerpoint/2010/main" val="3166780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(LLMs), Why LLMs Matter</a:t>
            </a:r>
          </a:p>
        </p:txBody>
      </p:sp>
      <p:sp>
        <p:nvSpPr>
          <p:cNvPr id="4" name="Slide Number Placeholder 3"/>
          <p:cNvSpPr>
            <a:spLocks noGrp="1"/>
          </p:cNvSpPr>
          <p:nvPr>
            <p:ph type="sldNum" sz="quarter" idx="5"/>
          </p:nvPr>
        </p:nvSpPr>
        <p:spPr/>
        <p:txBody>
          <a:bodyPr/>
          <a:lstStyle/>
          <a:p>
            <a:fld id="{FBE6DD31-7EAF-446B-B502-BFC465F22D76}" type="slidenum">
              <a:t>2</a:t>
            </a:fld>
            <a:endParaRPr lang="en-US"/>
          </a:p>
        </p:txBody>
      </p:sp>
    </p:spTree>
    <p:extLst>
      <p:ext uri="{BB962C8B-B14F-4D97-AF65-F5344CB8AC3E}">
        <p14:creationId xmlns:p14="http://schemas.microsoft.com/office/powerpoint/2010/main" val="2064456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Large Language Models (LLMs) are advanced deep learning models designed to understand and generate human language. These models are trained on massive datasets comprising text from books, websites, articles, and other sources. Their ability to process and produce coherent, contextually relevant text has revolutionized fields such as customer service, education, healthcare, and legal analysis. LLMs are the foundational technology behind popular AI tools like ChatGPT, Claude, and Gemini, enabling applications ranging from chatbots to automated content creation. Their significance lies in their versatility and scalability, making them indispensable in modern AI-driven workflows.</a:t>
            </a:r>
          </a:p>
        </p:txBody>
      </p:sp>
      <p:sp>
        <p:nvSpPr>
          <p:cNvPr id="4" name="Slide Number Placeholder 3"/>
          <p:cNvSpPr>
            <a:spLocks noGrp="1"/>
          </p:cNvSpPr>
          <p:nvPr>
            <p:ph type="sldNum" sz="quarter" idx="5"/>
          </p:nvPr>
        </p:nvSpPr>
        <p:spPr/>
        <p:txBody>
          <a:bodyPr/>
          <a:lstStyle/>
          <a:p>
            <a:fld id="{FBE6DD31-7EAF-446B-B502-BFC465F22D76}" type="slidenum">
              <a:t>3</a:t>
            </a:fld>
            <a:endParaRPr lang="en-US"/>
          </a:p>
        </p:txBody>
      </p:sp>
    </p:spTree>
    <p:extLst>
      <p:ext uri="{BB962C8B-B14F-4D97-AF65-F5344CB8AC3E}">
        <p14:creationId xmlns:p14="http://schemas.microsoft.com/office/powerpoint/2010/main" val="4057621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LLMs are crucial because they empower a wide range of applications that require natural language understanding and generation. They are the engines behind conversational agents like ChatGPT, legal assistants like Claude, and multimodal systems like Gemini. These models facilitate tasks such as summarizing documents, translating languages, generating code, and answering complex queries. Their impact spans industries, enhancing productivity, enabling personalized education, improving healthcare diagnostics, and streamlining customer support. By automating language-based tasks, LLMs help organizations save time, reduce costs, and improve service quality.</a:t>
            </a:r>
          </a:p>
        </p:txBody>
      </p:sp>
      <p:sp>
        <p:nvSpPr>
          <p:cNvPr id="4" name="Slide Number Placeholder 3"/>
          <p:cNvSpPr>
            <a:spLocks noGrp="1"/>
          </p:cNvSpPr>
          <p:nvPr>
            <p:ph type="sldNum" sz="quarter" idx="5"/>
          </p:nvPr>
        </p:nvSpPr>
        <p:spPr/>
        <p:txBody>
          <a:bodyPr/>
          <a:lstStyle/>
          <a:p>
            <a:fld id="{FBE6DD31-7EAF-446B-B502-BFC465F22D76}" type="slidenum">
              <a:t>5</a:t>
            </a:fld>
            <a:endParaRPr lang="en-US"/>
          </a:p>
        </p:txBody>
      </p:sp>
    </p:spTree>
    <p:extLst>
      <p:ext uri="{BB962C8B-B14F-4D97-AF65-F5344CB8AC3E}">
        <p14:creationId xmlns:p14="http://schemas.microsoft.com/office/powerpoint/2010/main" val="436199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Transformer Architecture, Training LLMs</a:t>
            </a:r>
          </a:p>
        </p:txBody>
      </p:sp>
      <p:sp>
        <p:nvSpPr>
          <p:cNvPr id="4" name="Slide Number Placeholder 3"/>
          <p:cNvSpPr>
            <a:spLocks noGrp="1"/>
          </p:cNvSpPr>
          <p:nvPr>
            <p:ph type="sldNum" sz="quarter" idx="5"/>
          </p:nvPr>
        </p:nvSpPr>
        <p:spPr/>
        <p:txBody>
          <a:bodyPr/>
          <a:lstStyle/>
          <a:p>
            <a:fld id="{FBE6DD31-7EAF-446B-B502-BFC465F22D76}" type="slidenum">
              <a:t>8</a:t>
            </a:fld>
            <a:endParaRPr lang="en-US"/>
          </a:p>
        </p:txBody>
      </p:sp>
    </p:spTree>
    <p:extLst>
      <p:ext uri="{BB962C8B-B14F-4D97-AF65-F5344CB8AC3E}">
        <p14:creationId xmlns:p14="http://schemas.microsoft.com/office/powerpoint/2010/main" val="1632927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Transformer architecture is the backbone of most modern LLMs. Introduced by Google in 2017, it uses a mechanism called self-attention to process input sequences and understand contextual relationships between words. Unlike previous models that processed data sequentially, Transformers handle entire sequences simultaneously, allowing for greater efficiency and accuracy. Key components include encoders, decoders, and multiple attention heads that capture different aspects of the input. This architecture enables LLMs to generate coherent and contextually rich text, making them suitable for complex language tasks.</a:t>
            </a:r>
          </a:p>
        </p:txBody>
      </p:sp>
      <p:sp>
        <p:nvSpPr>
          <p:cNvPr id="4" name="Slide Number Placeholder 3"/>
          <p:cNvSpPr>
            <a:spLocks noGrp="1"/>
          </p:cNvSpPr>
          <p:nvPr>
            <p:ph type="sldNum" sz="quarter" idx="5"/>
          </p:nvPr>
        </p:nvSpPr>
        <p:spPr/>
        <p:txBody>
          <a:bodyPr/>
          <a:lstStyle/>
          <a:p>
            <a:fld id="{FBE6DD31-7EAF-446B-B502-BFC465F22D76}" type="slidenum">
              <a:t>9</a:t>
            </a:fld>
            <a:endParaRPr lang="en-US"/>
          </a:p>
        </p:txBody>
      </p:sp>
    </p:spTree>
    <p:extLst>
      <p:ext uri="{BB962C8B-B14F-4D97-AF65-F5344CB8AC3E}">
        <p14:creationId xmlns:p14="http://schemas.microsoft.com/office/powerpoint/2010/main" val="62308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Training LLMs involves several stages. Initially, models undergo pretraining on large corpora of text to learn general language patterns. This is followed by fine-tuning, where models are adapted to specific tasks or domains using curated datasets. A further enhancement is Reinforcement Learning from Human Feedback (RLHF), which refines model outputs based on human evaluations. This multi-stage training process ensures that LLMs not only understand language but also align with human expectations and ethical standards. The result is a model capable of generating high-quality, relevant, and safe responses across diverse applications.</a:t>
            </a:r>
          </a:p>
        </p:txBody>
      </p:sp>
      <p:sp>
        <p:nvSpPr>
          <p:cNvPr id="4" name="Slide Number Placeholder 3"/>
          <p:cNvSpPr>
            <a:spLocks noGrp="1"/>
          </p:cNvSpPr>
          <p:nvPr>
            <p:ph type="sldNum" sz="quarter" idx="5"/>
          </p:nvPr>
        </p:nvSpPr>
        <p:spPr/>
        <p:txBody>
          <a:bodyPr/>
          <a:lstStyle/>
          <a:p>
            <a:fld id="{FBE6DD31-7EAF-446B-B502-BFC465F22D76}" type="slidenum">
              <a:t>11</a:t>
            </a:fld>
            <a:endParaRPr lang="en-US"/>
          </a:p>
        </p:txBody>
      </p:sp>
    </p:spTree>
    <p:extLst>
      <p:ext uri="{BB962C8B-B14F-4D97-AF65-F5344CB8AC3E}">
        <p14:creationId xmlns:p14="http://schemas.microsoft.com/office/powerpoint/2010/main" val="1698812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Capabilities of LLMs, Limitations of LLMs</a:t>
            </a:r>
          </a:p>
        </p:txBody>
      </p:sp>
      <p:sp>
        <p:nvSpPr>
          <p:cNvPr id="4" name="Slide Number Placeholder 3"/>
          <p:cNvSpPr>
            <a:spLocks noGrp="1"/>
          </p:cNvSpPr>
          <p:nvPr>
            <p:ph type="sldNum" sz="quarter" idx="5"/>
          </p:nvPr>
        </p:nvSpPr>
        <p:spPr/>
        <p:txBody>
          <a:bodyPr/>
          <a:lstStyle/>
          <a:p>
            <a:fld id="{FBE6DD31-7EAF-446B-B502-BFC465F22D76}" type="slidenum">
              <a:t>12</a:t>
            </a:fld>
            <a:endParaRPr lang="en-US"/>
          </a:p>
        </p:txBody>
      </p:sp>
    </p:spTree>
    <p:extLst>
      <p:ext uri="{BB962C8B-B14F-4D97-AF65-F5344CB8AC3E}">
        <p14:creationId xmlns:p14="http://schemas.microsoft.com/office/powerpoint/2010/main" val="4096355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LLMs possess a wide array of capabilities that make them versatile tools in AI applications. They can generate human-like text, summarize lengthy documents, translate languages, analyze sentiment, and even write code. Their ability to understand context and produce coherent responses enables them to perform tasks traditionally requiring human intelligence. These capabilities are leveraged in chatbots, virtual assistants, educational platforms, and content creation tools. By automating complex language tasks, LLMs enhance efficiency and open new possibilities for innovation across industries.</a:t>
            </a:r>
          </a:p>
        </p:txBody>
      </p:sp>
      <p:sp>
        <p:nvSpPr>
          <p:cNvPr id="4" name="Slide Number Placeholder 3"/>
          <p:cNvSpPr>
            <a:spLocks noGrp="1"/>
          </p:cNvSpPr>
          <p:nvPr>
            <p:ph type="sldNum" sz="quarter" idx="5"/>
          </p:nvPr>
        </p:nvSpPr>
        <p:spPr/>
        <p:txBody>
          <a:bodyPr/>
          <a:lstStyle/>
          <a:p>
            <a:fld id="{FBE6DD31-7EAF-446B-B502-BFC465F22D76}" type="slidenum">
              <a:t>13</a:t>
            </a:fld>
            <a:endParaRPr lang="en-US"/>
          </a:p>
        </p:txBody>
      </p:sp>
    </p:spTree>
    <p:extLst>
      <p:ext uri="{BB962C8B-B14F-4D97-AF65-F5344CB8AC3E}">
        <p14:creationId xmlns:p14="http://schemas.microsoft.com/office/powerpoint/2010/main" val="1152885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their strengths, LLMs have notable limitations. They can hallucinate, producing confident but incorrect information. Biases in training data can lead to biased outputs, raising ethical concerns. LLMs also require substantial computational resources, making them expensive to train and deploy. Furthermore, they lack true understanding and reasoning, relying solely on learned patterns. These limitations necessitate careful deployment, human oversight, and ongoing research to improve reliability, fairness, and efficiency in real-world applications.</a:t>
            </a:r>
          </a:p>
        </p:txBody>
      </p:sp>
      <p:sp>
        <p:nvSpPr>
          <p:cNvPr id="4" name="Slide Number Placeholder 3"/>
          <p:cNvSpPr>
            <a:spLocks noGrp="1"/>
          </p:cNvSpPr>
          <p:nvPr>
            <p:ph type="sldNum" sz="quarter" idx="5"/>
          </p:nvPr>
        </p:nvSpPr>
        <p:spPr/>
        <p:txBody>
          <a:bodyPr/>
          <a:lstStyle/>
          <a:p>
            <a:fld id="{FBE6DD31-7EAF-446B-B502-BFC465F22D76}" type="slidenum">
              <a:t>16</a:t>
            </a:fld>
            <a:endParaRPr lang="en-US"/>
          </a:p>
        </p:txBody>
      </p:sp>
    </p:spTree>
    <p:extLst>
      <p:ext uri="{BB962C8B-B14F-4D97-AF65-F5344CB8AC3E}">
        <p14:creationId xmlns:p14="http://schemas.microsoft.com/office/powerpoint/2010/main" val="3264306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Popular LLMs, Enter RAG – Retrieval-Augmented Generation</a:t>
            </a:r>
          </a:p>
        </p:txBody>
      </p:sp>
      <p:sp>
        <p:nvSpPr>
          <p:cNvPr id="4" name="Slide Number Placeholder 3"/>
          <p:cNvSpPr>
            <a:spLocks noGrp="1"/>
          </p:cNvSpPr>
          <p:nvPr>
            <p:ph type="sldNum" sz="quarter" idx="5"/>
          </p:nvPr>
        </p:nvSpPr>
        <p:spPr/>
        <p:txBody>
          <a:bodyPr/>
          <a:lstStyle/>
          <a:p>
            <a:fld id="{FBE6DD31-7EAF-446B-B502-BFC465F22D76}" type="slidenum">
              <a:t>17</a:t>
            </a:fld>
            <a:endParaRPr lang="en-US"/>
          </a:p>
        </p:txBody>
      </p:sp>
    </p:spTree>
    <p:extLst>
      <p:ext uri="{BB962C8B-B14F-4D97-AF65-F5344CB8AC3E}">
        <p14:creationId xmlns:p14="http://schemas.microsoft.com/office/powerpoint/2010/main" val="257938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LLMs have gained prominence due to their performance and versatility. GPT-4 and GPT-5 by OpenAI are widely used for general-purpose tasks. Claude by Anthropic emphasizes safety and ethical alignment, making it suitable for sensitive domains like healthcare and law. Gemini by Google integrates multimodal capabilities, handling text, images, and audio. Meta’s LLaMA models are popular in research due to their open-source nature. Each model offers unique features, catering to different use cases and organizational needs.</a:t>
            </a:r>
          </a:p>
        </p:txBody>
      </p:sp>
      <p:sp>
        <p:nvSpPr>
          <p:cNvPr id="4" name="Slide Number Placeholder 3"/>
          <p:cNvSpPr>
            <a:spLocks noGrp="1"/>
          </p:cNvSpPr>
          <p:nvPr>
            <p:ph type="sldNum" sz="quarter" idx="5"/>
          </p:nvPr>
        </p:nvSpPr>
        <p:spPr/>
        <p:txBody>
          <a:bodyPr/>
          <a:lstStyle/>
          <a:p>
            <a:fld id="{FBE6DD31-7EAF-446B-B502-BFC465F22D76}" type="slidenum">
              <a:t>18</a:t>
            </a:fld>
            <a:endParaRPr lang="en-US"/>
          </a:p>
        </p:txBody>
      </p:sp>
    </p:spTree>
    <p:extLst>
      <p:ext uri="{BB962C8B-B14F-4D97-AF65-F5344CB8AC3E}">
        <p14:creationId xmlns:p14="http://schemas.microsoft.com/office/powerpoint/2010/main" val="3415997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Retrieval-Augmented Generation (RAG) enhances LLMs by integrating external knowledge sources. Instead of relying solely on pre-trained data, RAG retrieves relevant documents from a database or search engine and feeds them into the LLM. This approach grounds responses in real-time information, reducing hallucinations and improving accuracy. RAG is particularly useful in enterprise settings where up-to-date and domain-specific knowledge is critical. It bridges the gap between static model knowledge and dynamic information needs.</a:t>
            </a:r>
          </a:p>
        </p:txBody>
      </p:sp>
      <p:sp>
        <p:nvSpPr>
          <p:cNvPr id="4" name="Slide Number Placeholder 3"/>
          <p:cNvSpPr>
            <a:spLocks noGrp="1"/>
          </p:cNvSpPr>
          <p:nvPr>
            <p:ph type="sldNum" sz="quarter" idx="5"/>
          </p:nvPr>
        </p:nvSpPr>
        <p:spPr/>
        <p:txBody>
          <a:bodyPr/>
          <a:lstStyle/>
          <a:p>
            <a:fld id="{FBE6DD31-7EAF-446B-B502-BFC465F22D76}" type="slidenum">
              <a:t>19</a:t>
            </a:fld>
            <a:endParaRPr lang="en-US"/>
          </a:p>
        </p:txBody>
      </p:sp>
    </p:spTree>
    <p:extLst>
      <p:ext uri="{BB962C8B-B14F-4D97-AF65-F5344CB8AC3E}">
        <p14:creationId xmlns:p14="http://schemas.microsoft.com/office/powerpoint/2010/main" val="3830173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RAG Works, RAG Use Cases</a:t>
            </a:r>
          </a:p>
        </p:txBody>
      </p:sp>
      <p:sp>
        <p:nvSpPr>
          <p:cNvPr id="4" name="Slide Number Placeholder 3"/>
          <p:cNvSpPr>
            <a:spLocks noGrp="1"/>
          </p:cNvSpPr>
          <p:nvPr>
            <p:ph type="sldNum" sz="quarter" idx="5"/>
          </p:nvPr>
        </p:nvSpPr>
        <p:spPr/>
        <p:txBody>
          <a:bodyPr/>
          <a:lstStyle/>
          <a:p>
            <a:fld id="{FBE6DD31-7EAF-446B-B502-BFC465F22D76}" type="slidenum">
              <a:t>20</a:t>
            </a:fld>
            <a:endParaRPr lang="en-US"/>
          </a:p>
        </p:txBody>
      </p:sp>
    </p:spTree>
    <p:extLst>
      <p:ext uri="{BB962C8B-B14F-4D97-AF65-F5344CB8AC3E}">
        <p14:creationId xmlns:p14="http://schemas.microsoft.com/office/powerpoint/2010/main" val="49297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RAG operates through a multi-step process. First, a user submits a query. A retriever component searches a knowledge base for relevant documents. These documents are then passed to the LLM, which uses them to generate a response. The output is more accurate and contextually grounded than traditional LLM responses. This workflow enables systems to provide reliable answers based on current and specific data, making RAG ideal for applications requiring factual precision and domain expertise.</a:t>
            </a:r>
          </a:p>
        </p:txBody>
      </p:sp>
      <p:sp>
        <p:nvSpPr>
          <p:cNvPr id="4" name="Slide Number Placeholder 3"/>
          <p:cNvSpPr>
            <a:spLocks noGrp="1"/>
          </p:cNvSpPr>
          <p:nvPr>
            <p:ph type="sldNum" sz="quarter" idx="5"/>
          </p:nvPr>
        </p:nvSpPr>
        <p:spPr/>
        <p:txBody>
          <a:bodyPr/>
          <a:lstStyle/>
          <a:p>
            <a:fld id="{FBE6DD31-7EAF-446B-B502-BFC465F22D76}" type="slidenum">
              <a:t>21</a:t>
            </a:fld>
            <a:endParaRPr lang="en-US"/>
          </a:p>
        </p:txBody>
      </p:sp>
    </p:spTree>
    <p:extLst>
      <p:ext uri="{BB962C8B-B14F-4D97-AF65-F5344CB8AC3E}">
        <p14:creationId xmlns:p14="http://schemas.microsoft.com/office/powerpoint/2010/main" val="3834664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RAG is employed in various real-world scenarios. Internal knowledge bots use RAG to answer employee queries based on company documents. Customer support systems leverage it to provide accurate responses using product manuals. Academic research assistants utilize RAG to summarize and analyze scholarly articles. In enterprise search, RAG combines the power of LLMs with structured data retrieval, enhancing decision-making and operational efficiency. These use cases demonstrate RAG’s potential to transform information access and utilization.</a:t>
            </a:r>
          </a:p>
        </p:txBody>
      </p:sp>
      <p:sp>
        <p:nvSpPr>
          <p:cNvPr id="4" name="Slide Number Placeholder 3"/>
          <p:cNvSpPr>
            <a:spLocks noGrp="1"/>
          </p:cNvSpPr>
          <p:nvPr>
            <p:ph type="sldNum" sz="quarter" idx="5"/>
          </p:nvPr>
        </p:nvSpPr>
        <p:spPr/>
        <p:txBody>
          <a:bodyPr/>
          <a:lstStyle/>
          <a:p>
            <a:fld id="{FBE6DD31-7EAF-446B-B502-BFC465F22D76}" type="slidenum">
              <a:t>23</a:t>
            </a:fld>
            <a:endParaRPr lang="en-US"/>
          </a:p>
        </p:txBody>
      </p:sp>
    </p:spTree>
    <p:extLst>
      <p:ext uri="{BB962C8B-B14F-4D97-AF65-F5344CB8AC3E}">
        <p14:creationId xmlns:p14="http://schemas.microsoft.com/office/powerpoint/2010/main" val="3809005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a:t>
            </a:r>
          </a:p>
        </p:txBody>
      </p:sp>
      <p:sp>
        <p:nvSpPr>
          <p:cNvPr id="4" name="Slide Number Placeholder 3"/>
          <p:cNvSpPr>
            <a:spLocks noGrp="1"/>
          </p:cNvSpPr>
          <p:nvPr>
            <p:ph type="sldNum" sz="quarter" idx="5"/>
          </p:nvPr>
        </p:nvSpPr>
        <p:spPr/>
        <p:txBody>
          <a:bodyPr/>
          <a:lstStyle/>
          <a:p>
            <a:fld id="{FBE6DD31-7EAF-446B-B502-BFC465F22D76}" type="slidenum">
              <a:t>24</a:t>
            </a:fld>
            <a:endParaRPr lang="en-US"/>
          </a:p>
        </p:txBody>
      </p:sp>
    </p:spTree>
    <p:extLst>
      <p:ext uri="{BB962C8B-B14F-4D97-AF65-F5344CB8AC3E}">
        <p14:creationId xmlns:p14="http://schemas.microsoft.com/office/powerpoint/2010/main" val="2313516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Large Language Models are transformative tools in AI, enabling advanced language understanding and generation. Built on Transformer architecture and trained through sophisticated processes, they power a wide range of applications. However, their limitations necessitate enhancements like Retrieval-Augmented Generation, which grounds responses in real data. Together, LLMs and RAG represent the future of intelligent, context-aware AI systems, offering immense potential across industries.</a:t>
            </a:r>
          </a:p>
        </p:txBody>
      </p:sp>
      <p:sp>
        <p:nvSpPr>
          <p:cNvPr id="4" name="Slide Number Placeholder 3"/>
          <p:cNvSpPr>
            <a:spLocks noGrp="1"/>
          </p:cNvSpPr>
          <p:nvPr>
            <p:ph type="sldNum" sz="quarter" idx="5"/>
          </p:nvPr>
        </p:nvSpPr>
        <p:spPr/>
        <p:txBody>
          <a:bodyPr/>
          <a:lstStyle/>
          <a:p>
            <a:fld id="{FBE6DD31-7EAF-446B-B502-BFC465F22D76}" type="slidenum">
              <a:t>25</a:t>
            </a:fld>
            <a:endParaRPr lang="en-US"/>
          </a:p>
        </p:txBody>
      </p:sp>
    </p:spTree>
    <p:extLst>
      <p:ext uri="{BB962C8B-B14F-4D97-AF65-F5344CB8AC3E}">
        <p14:creationId xmlns:p14="http://schemas.microsoft.com/office/powerpoint/2010/main" val="2415372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57023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8202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77720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9/9/2025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813957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1866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9/9/2025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247650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769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37427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3701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9/9/2025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1584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63514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5158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5216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01141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69739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787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9546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261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9/9/2025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44736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9/9/2025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86638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9/9/2025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5439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9/9/2025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97670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1711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9/9/2025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10563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86031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9/9/2025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56533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9/9/2025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684866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9/9/2025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678260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00838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9/9/2025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4067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9/9/2025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87030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9/9/2025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195227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89684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425109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86051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63160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32015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375914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9/9/2025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40361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31244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28110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9/9/2025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146847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9/9/2025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30539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9/9/2025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75484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9/9/2025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369865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9/9/2025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259616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9/9/2025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866608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9/9/2025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5165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188526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9/9/2025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0160210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9/9/2025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8" name="TextBox 7">
            <a:extLst>
              <a:ext uri="{FF2B5EF4-FFF2-40B4-BE49-F238E27FC236}">
                <a16:creationId xmlns:a16="http://schemas.microsoft.com/office/drawing/2014/main" id="{8D7D68A8-8728-8001-CE01-DE17E024D57F}"/>
              </a:ext>
            </a:extLst>
          </p:cNvPr>
          <p:cNvSpPr txBox="1"/>
          <p:nvPr>
            <p:extLst>
              <p:ext uri="{1162E1C5-73C7-4A58-AE30-91384D911F3F}">
                <p184:classification xmlns:p184="http://schemas.microsoft.com/office/powerpoint/2018/4/main" val="ftr"/>
              </p:ext>
            </p:extLst>
          </p:nvPr>
        </p:nvSpPr>
        <p:spPr>
          <a:xfrm>
            <a:off x="190500" y="6560820"/>
            <a:ext cx="454025" cy="106680"/>
          </a:xfrm>
          <a:prstGeom prst="rect">
            <a:avLst/>
          </a:prstGeom>
        </p:spPr>
        <p:txBody>
          <a:bodyPr horzOverflow="overflow" lIns="0" tIns="0" rIns="0" bIns="0">
            <a:spAutoFit/>
          </a:bodyPr>
          <a:lstStyle/>
          <a:p>
            <a:pPr algn="l"/>
            <a:r>
              <a:rPr lang="en-US" sz="700">
                <a:solidFill>
                  <a:srgbClr val="000000">
                    <a:alpha val="50000"/>
                  </a:srgbClr>
                </a:solidFill>
                <a:latin typeface="Aptos" panose="020B0004020202020204" pitchFamily="34" charset="0"/>
              </a:rPr>
              <a:t>C2 General</a:t>
            </a:r>
          </a:p>
        </p:txBody>
      </p:sp>
    </p:spTree>
    <p:extLst>
      <p:ext uri="{BB962C8B-B14F-4D97-AF65-F5344CB8AC3E}">
        <p14:creationId xmlns:p14="http://schemas.microsoft.com/office/powerpoint/2010/main" val="3295165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D1B-1EB8-647A-4728-E67CEC7B650F}"/>
              </a:ext>
            </a:extLst>
          </p:cNvPr>
          <p:cNvSpPr>
            <a:spLocks noGrp="1"/>
          </p:cNvSpPr>
          <p:nvPr>
            <p:ph type="ctrTitle"/>
          </p:nvPr>
        </p:nvSpPr>
        <p:spPr>
          <a:xfrm>
            <a:off x="365760" y="411480"/>
            <a:ext cx="4654296" cy="3739896"/>
          </a:xfrm>
        </p:spPr>
        <p:txBody>
          <a:bodyPr anchor="t">
            <a:normAutofit/>
          </a:bodyPr>
          <a:lstStyle/>
          <a:p>
            <a:r>
              <a:rPr lang="en-US" sz="4400"/>
              <a:t>Large Language Models (LLMs) and Retrieval-Augmented Generation (RAG)</a:t>
            </a:r>
          </a:p>
        </p:txBody>
      </p:sp>
      <p:sp>
        <p:nvSpPr>
          <p:cNvPr id="3" name="Subtitle 2">
            <a:extLst>
              <a:ext uri="{FF2B5EF4-FFF2-40B4-BE49-F238E27FC236}">
                <a16:creationId xmlns:a16="http://schemas.microsoft.com/office/drawing/2014/main" id="{3D48E3A5-4E51-DDA3-CBD1-69D0088ED2A8}"/>
              </a:ext>
            </a:extLst>
          </p:cNvPr>
          <p:cNvSpPr>
            <a:spLocks noGrp="1"/>
          </p:cNvSpPr>
          <p:nvPr>
            <p:ph type="subTitle" idx="1"/>
          </p:nvPr>
        </p:nvSpPr>
        <p:spPr>
          <a:xfrm>
            <a:off x="365760" y="4873752"/>
            <a:ext cx="4206240" cy="1380744"/>
          </a:xfrm>
        </p:spPr>
        <p:txBody>
          <a:bodyPr anchor="b">
            <a:normAutofit/>
          </a:bodyPr>
          <a:lstStyle/>
          <a:p>
            <a:r>
              <a:rPr lang="en-US"/>
              <a:t>Advanced AI technologies improving language understanding and generation</a:t>
            </a:r>
          </a:p>
        </p:txBody>
      </p:sp>
      <p:pic>
        <p:nvPicPr>
          <p:cNvPr id="5" name="Picture Placeholder 4" descr="A robot reading a book&#10;&#10;AI-generated content may be incorrect.">
            <a:extLst>
              <a:ext uri="{FF2B5EF4-FFF2-40B4-BE49-F238E27FC236}">
                <a16:creationId xmlns:a16="http://schemas.microsoft.com/office/drawing/2014/main" id="{F063AFCA-B958-9BDB-409F-BF169C8292C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0981" r="34919"/>
          <a:stretch>
            <a:fillRect/>
          </a:stretch>
        </p:blipFill>
        <p:spPr>
          <a:xfrm>
            <a:off x="5596128" y="10"/>
            <a:ext cx="6595872" cy="6857990"/>
          </a:xfrm>
          <a:noFill/>
        </p:spPr>
      </p:pic>
    </p:spTree>
    <p:extLst>
      <p:ext uri="{BB962C8B-B14F-4D97-AF65-F5344CB8AC3E}">
        <p14:creationId xmlns:p14="http://schemas.microsoft.com/office/powerpoint/2010/main" val="297356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DDEF5-2D8C-F760-19D9-8EAE65094E67}"/>
              </a:ext>
            </a:extLst>
          </p:cNvPr>
          <p:cNvSpPr>
            <a:spLocks noGrp="1"/>
          </p:cNvSpPr>
          <p:nvPr>
            <p:ph type="ctrTitle"/>
          </p:nvPr>
        </p:nvSpPr>
        <p:spPr>
          <a:xfrm>
            <a:off x="274320" y="1801368"/>
            <a:ext cx="7772400" cy="4572000"/>
          </a:xfrm>
        </p:spPr>
        <p:txBody>
          <a:bodyPr anchor="b">
            <a:normAutofit/>
          </a:bodyPr>
          <a:lstStyle/>
          <a:p>
            <a:r>
              <a:rPr lang="en-US"/>
              <a:t>Introduction to LLMs</a:t>
            </a:r>
          </a:p>
        </p:txBody>
      </p:sp>
    </p:spTree>
    <p:extLst>
      <p:ext uri="{BB962C8B-B14F-4D97-AF65-F5344CB8AC3E}">
        <p14:creationId xmlns:p14="http://schemas.microsoft.com/office/powerpoint/2010/main" val="287089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A9B4-1AB6-AA13-E2D8-AB85D1136786}"/>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n-US" sz="3300" b="1" kern="1200">
                <a:latin typeface="+mj-lt"/>
                <a:ea typeface="+mj-ea"/>
                <a:cs typeface="+mj-cs"/>
              </a:rPr>
              <a:t>Large Language Models (LLMs)</a:t>
            </a:r>
          </a:p>
        </p:txBody>
      </p:sp>
      <p:sp>
        <p:nvSpPr>
          <p:cNvPr id="5" name="TextBox 4">
            <a:extLst>
              <a:ext uri="{FF2B5EF4-FFF2-40B4-BE49-F238E27FC236}">
                <a16:creationId xmlns:a16="http://schemas.microsoft.com/office/drawing/2014/main" id="{006DFFCA-1F1B-4565-B942-1E29499195E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Understanding and Generating Language</a:t>
            </a:r>
          </a:p>
          <a:p>
            <a:pPr marL="0" lvl="1" indent="0">
              <a:spcBef>
                <a:spcPts val="1000"/>
              </a:spcBef>
              <a:spcAft>
                <a:spcPts val="600"/>
              </a:spcAft>
              <a:buFont typeface="Arial" panose="020B0604020202020204" pitchFamily="34" charset="0"/>
              <a:buNone/>
            </a:pPr>
            <a:r>
              <a:rPr lang="en-US" sz="1400"/>
              <a:t>LLMs are designed to comprehend and generate human-like language with contextual accuracy.</a:t>
            </a:r>
          </a:p>
          <a:p>
            <a:pPr marL="0" indent="0">
              <a:spcBef>
                <a:spcPts val="2500"/>
              </a:spcBef>
              <a:spcAft>
                <a:spcPts val="600"/>
              </a:spcAft>
              <a:buFont typeface="Arial" panose="020B0604020202020204" pitchFamily="34" charset="0"/>
              <a:buNone/>
            </a:pPr>
            <a:r>
              <a:rPr lang="en-US" sz="1400" b="1"/>
              <a:t>Training on Massive Text Data</a:t>
            </a:r>
          </a:p>
          <a:p>
            <a:pPr marL="0" lvl="1" indent="0">
              <a:spcBef>
                <a:spcPts val="1000"/>
              </a:spcBef>
              <a:spcAft>
                <a:spcPts val="600"/>
              </a:spcAft>
              <a:buFont typeface="Arial" panose="020B0604020202020204" pitchFamily="34" charset="0"/>
              <a:buNone/>
            </a:pPr>
            <a:r>
              <a:rPr lang="en-US" sz="1400"/>
              <a:t>LLMs are trained on extensive datasets from books, websites, and articles to learn language patterns.</a:t>
            </a:r>
          </a:p>
          <a:p>
            <a:pPr marL="0" indent="0">
              <a:spcBef>
                <a:spcPts val="2500"/>
              </a:spcBef>
              <a:spcAft>
                <a:spcPts val="600"/>
              </a:spcAft>
              <a:buFont typeface="Arial" panose="020B0604020202020204" pitchFamily="34" charset="0"/>
              <a:buNone/>
            </a:pPr>
            <a:r>
              <a:rPr lang="en-US" sz="1400" b="1"/>
              <a:t>Wide Range of Applications</a:t>
            </a:r>
          </a:p>
          <a:p>
            <a:pPr marL="0" lvl="1" indent="0">
              <a:spcBef>
                <a:spcPts val="1000"/>
              </a:spcBef>
              <a:spcAft>
                <a:spcPts val="600"/>
              </a:spcAft>
              <a:buFont typeface="Arial" panose="020B0604020202020204" pitchFamily="34" charset="0"/>
              <a:buNone/>
            </a:pPr>
            <a:r>
              <a:rPr lang="en-US" sz="1400"/>
              <a:t>LLMs revolutionize customer service, education, healthcare, and legal analysis with AI-driven text tools.</a:t>
            </a:r>
          </a:p>
          <a:p>
            <a:pPr marL="0" indent="0">
              <a:spcBef>
                <a:spcPts val="2500"/>
              </a:spcBef>
              <a:spcAft>
                <a:spcPts val="600"/>
              </a:spcAft>
              <a:buFont typeface="Arial" panose="020B0604020202020204" pitchFamily="34" charset="0"/>
              <a:buNone/>
            </a:pPr>
            <a:r>
              <a:rPr lang="en-US" sz="1400" b="1"/>
              <a:t>Versatility and Scalability</a:t>
            </a:r>
          </a:p>
          <a:p>
            <a:pPr marL="0" lvl="1" indent="0">
              <a:spcBef>
                <a:spcPts val="1000"/>
              </a:spcBef>
              <a:spcAft>
                <a:spcPts val="600"/>
              </a:spcAft>
              <a:buFont typeface="Arial" panose="020B0604020202020204" pitchFamily="34" charset="0"/>
              <a:buNone/>
            </a:pPr>
            <a:r>
              <a:rPr lang="en-US" sz="1400"/>
              <a:t>LLMs offer scalable and versatile solutions, powering chatbots and automated content creation systems.</a:t>
            </a:r>
          </a:p>
        </p:txBody>
      </p:sp>
      <p:pic>
        <p:nvPicPr>
          <p:cNvPr id="4" name="Content Placeholder 3" descr="Angle view of circuit shaped like a brain">
            <a:extLst>
              <a:ext uri="{FF2B5EF4-FFF2-40B4-BE49-F238E27FC236}">
                <a16:creationId xmlns:a16="http://schemas.microsoft.com/office/drawing/2014/main" id="{0C958C35-F7E2-47C4-9934-0A35DA055DB9}"/>
              </a:ext>
            </a:extLst>
          </p:cNvPr>
          <p:cNvPicPr>
            <a:picLocks noGrp="1" noChangeAspect="1"/>
          </p:cNvPicPr>
          <p:nvPr>
            <p:ph type="pic" sz="quarter" idx="13"/>
          </p:nvPr>
        </p:nvPicPr>
        <p:blipFill>
          <a:blip r:embed="rId3"/>
          <a:srcRect l="29930" r="28368" b="2"/>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947528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numbers and letters&#10;&#10;AI-generated content may be incorrect.">
            <a:extLst>
              <a:ext uri="{FF2B5EF4-FFF2-40B4-BE49-F238E27FC236}">
                <a16:creationId xmlns:a16="http://schemas.microsoft.com/office/drawing/2014/main" id="{7B616B12-237C-9B60-34B7-BBE9CA68B75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00416" y="548640"/>
            <a:ext cx="10997851" cy="5605272"/>
          </a:xfrm>
          <a:noFill/>
        </p:spPr>
      </p:pic>
    </p:spTree>
    <p:extLst>
      <p:ext uri="{BB962C8B-B14F-4D97-AF65-F5344CB8AC3E}">
        <p14:creationId xmlns:p14="http://schemas.microsoft.com/office/powerpoint/2010/main" val="3761867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DABF-CC84-3764-F4C9-9825B4E6BF3F}"/>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n-US" b="1" kern="1200">
                <a:latin typeface="+mj-lt"/>
                <a:ea typeface="+mj-ea"/>
                <a:cs typeface="+mj-cs"/>
              </a:rPr>
              <a:t>Why LLMs Matter</a:t>
            </a:r>
          </a:p>
        </p:txBody>
      </p:sp>
      <p:sp>
        <p:nvSpPr>
          <p:cNvPr id="5" name="TextBox 4">
            <a:extLst>
              <a:ext uri="{FF2B5EF4-FFF2-40B4-BE49-F238E27FC236}">
                <a16:creationId xmlns:a16="http://schemas.microsoft.com/office/drawing/2014/main" id="{B63E1517-6B4C-4B80-B33B-D5D9C90F0A5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Natural Language Applications</a:t>
            </a:r>
          </a:p>
          <a:p>
            <a:pPr marL="0" lvl="1" indent="0">
              <a:spcBef>
                <a:spcPts val="1000"/>
              </a:spcBef>
              <a:spcAft>
                <a:spcPts val="600"/>
              </a:spcAft>
              <a:buFont typeface="Arial" panose="020B0604020202020204" pitchFamily="34" charset="0"/>
              <a:buNone/>
            </a:pPr>
            <a:r>
              <a:rPr lang="en-US" sz="1400"/>
              <a:t>LLMs power conversational agents, legal assistants, and multimodal systems, enabling natural language understanding and generation.</a:t>
            </a:r>
          </a:p>
          <a:p>
            <a:pPr marL="0" indent="0">
              <a:spcBef>
                <a:spcPts val="2500"/>
              </a:spcBef>
              <a:spcAft>
                <a:spcPts val="600"/>
              </a:spcAft>
              <a:buFont typeface="Arial" panose="020B0604020202020204" pitchFamily="34" charset="0"/>
              <a:buNone/>
            </a:pPr>
            <a:r>
              <a:rPr lang="en-US" sz="1400" b="1"/>
              <a:t>Wide Range of Tasks</a:t>
            </a:r>
          </a:p>
          <a:p>
            <a:pPr marL="0" lvl="1" indent="0">
              <a:spcBef>
                <a:spcPts val="1000"/>
              </a:spcBef>
              <a:spcAft>
                <a:spcPts val="600"/>
              </a:spcAft>
              <a:buFont typeface="Arial" panose="020B0604020202020204" pitchFamily="34" charset="0"/>
              <a:buNone/>
            </a:pPr>
            <a:r>
              <a:rPr lang="en-US" sz="1400"/>
              <a:t>They facilitate summarizing documents, translating languages, generating code, and answering complex queries efficiently.</a:t>
            </a:r>
          </a:p>
          <a:p>
            <a:pPr marL="0" indent="0">
              <a:spcBef>
                <a:spcPts val="2500"/>
              </a:spcBef>
              <a:spcAft>
                <a:spcPts val="600"/>
              </a:spcAft>
              <a:buFont typeface="Arial" panose="020B0604020202020204" pitchFamily="34" charset="0"/>
              <a:buNone/>
            </a:pPr>
            <a:r>
              <a:rPr lang="en-US" sz="1400" b="1"/>
              <a:t>Industry Impact</a:t>
            </a:r>
          </a:p>
          <a:p>
            <a:pPr marL="0" lvl="1" indent="0">
              <a:spcBef>
                <a:spcPts val="1000"/>
              </a:spcBef>
              <a:spcAft>
                <a:spcPts val="600"/>
              </a:spcAft>
              <a:buFont typeface="Arial" panose="020B0604020202020204" pitchFamily="34" charset="0"/>
              <a:buNone/>
            </a:pPr>
            <a:r>
              <a:rPr lang="en-US" sz="1400"/>
              <a:t>LLMs enhance productivity across industries like education, healthcare, and customer support by automating language tasks.</a:t>
            </a:r>
          </a:p>
          <a:p>
            <a:pPr marL="0" indent="0">
              <a:spcBef>
                <a:spcPts val="2500"/>
              </a:spcBef>
              <a:spcAft>
                <a:spcPts val="600"/>
              </a:spcAft>
              <a:buFont typeface="Arial" panose="020B0604020202020204" pitchFamily="34" charset="0"/>
              <a:buNone/>
            </a:pPr>
            <a:r>
              <a:rPr lang="en-US" sz="1400" b="1"/>
              <a:t>Cost and Time Savings</a:t>
            </a:r>
          </a:p>
          <a:p>
            <a:pPr marL="0" lvl="1" indent="0">
              <a:spcBef>
                <a:spcPts val="1000"/>
              </a:spcBef>
              <a:spcAft>
                <a:spcPts val="600"/>
              </a:spcAft>
              <a:buFont typeface="Arial" panose="020B0604020202020204" pitchFamily="34" charset="0"/>
              <a:buNone/>
            </a:pPr>
            <a:r>
              <a:rPr lang="en-US" sz="1400"/>
              <a:t>By automating language-based tasks, LLMs help organizations save time, reduce costs, and improve service quality.</a:t>
            </a:r>
          </a:p>
        </p:txBody>
      </p:sp>
      <p:pic>
        <p:nvPicPr>
          <p:cNvPr id="4" name="Content Placeholder 3" descr="4K Resolution">
            <a:extLst>
              <a:ext uri="{FF2B5EF4-FFF2-40B4-BE49-F238E27FC236}">
                <a16:creationId xmlns:a16="http://schemas.microsoft.com/office/drawing/2014/main" id="{557DB16D-A6F2-468F-9CAC-D9B6312DD6A1}"/>
              </a:ext>
            </a:extLst>
          </p:cNvPr>
          <p:cNvPicPr>
            <a:picLocks noGrp="1" noChangeAspect="1"/>
          </p:cNvPicPr>
          <p:nvPr>
            <p:ph type="pic" sz="quarter" idx="13"/>
          </p:nvPr>
        </p:nvPicPr>
        <p:blipFill>
          <a:blip r:embed="rId3"/>
          <a:srcRect l="33753" r="32616"/>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8785119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omputer&#10;&#10;AI-generated content may be incorrect.">
            <a:extLst>
              <a:ext uri="{FF2B5EF4-FFF2-40B4-BE49-F238E27FC236}">
                <a16:creationId xmlns:a16="http://schemas.microsoft.com/office/drawing/2014/main" id="{FF347D95-BA35-9E90-B132-3818F4EA02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2950" y="367091"/>
            <a:ext cx="8972627" cy="6123818"/>
          </a:xfrm>
          <a:noFill/>
        </p:spPr>
      </p:pic>
    </p:spTree>
    <p:extLst>
      <p:ext uri="{BB962C8B-B14F-4D97-AF65-F5344CB8AC3E}">
        <p14:creationId xmlns:p14="http://schemas.microsoft.com/office/powerpoint/2010/main" val="1899682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2F1051F-08B4-2C90-2063-448AE4333BCE}"/>
              </a:ext>
            </a:extLst>
          </p:cNvPr>
          <p:cNvSpPr>
            <a:spLocks noGrp="1"/>
          </p:cNvSpPr>
          <p:nvPr>
            <p:ph type="title"/>
          </p:nvPr>
        </p:nvSpPr>
        <p:spPr>
          <a:xfrm>
            <a:off x="612648" y="548640"/>
            <a:ext cx="10653578" cy="1132258"/>
          </a:xfrm>
        </p:spPr>
        <p:txBody>
          <a:bodyPr/>
          <a:lstStyle/>
          <a:p>
            <a:r>
              <a:rPr lang="en-US" dirty="0"/>
              <a:t>LLMs and their Parameters</a:t>
            </a:r>
          </a:p>
        </p:txBody>
      </p:sp>
      <p:pic>
        <p:nvPicPr>
          <p:cNvPr id="5" name="Picture 4" descr="A table with numbers and symbols&#10;&#10;AI-generated content may be incorrect.">
            <a:extLst>
              <a:ext uri="{FF2B5EF4-FFF2-40B4-BE49-F238E27FC236}">
                <a16:creationId xmlns:a16="http://schemas.microsoft.com/office/drawing/2014/main" id="{954CFE2F-F4BB-FF76-B144-35C974CC4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7" y="1841780"/>
            <a:ext cx="10653579" cy="4341331"/>
          </a:xfrm>
          <a:prstGeom prst="rect">
            <a:avLst/>
          </a:prstGeom>
          <a:noFill/>
        </p:spPr>
      </p:pic>
    </p:spTree>
    <p:extLst>
      <p:ext uri="{BB962C8B-B14F-4D97-AF65-F5344CB8AC3E}">
        <p14:creationId xmlns:p14="http://schemas.microsoft.com/office/powerpoint/2010/main" val="256170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E420-1809-5748-C982-7971D5F4B1D0}"/>
              </a:ext>
            </a:extLst>
          </p:cNvPr>
          <p:cNvSpPr>
            <a:spLocks noGrp="1"/>
          </p:cNvSpPr>
          <p:nvPr>
            <p:ph type="title"/>
          </p:nvPr>
        </p:nvSpPr>
        <p:spPr>
          <a:xfrm>
            <a:off x="1028346" y="2258568"/>
            <a:ext cx="4491391" cy="3557016"/>
          </a:xfrm>
        </p:spPr>
        <p:txBody>
          <a:bodyPr anchor="t">
            <a:normAutofit/>
          </a:bodyPr>
          <a:lstStyle/>
          <a:p>
            <a:r>
              <a:rPr lang="en-US" sz="4800" dirty="0"/>
              <a:t>Technical Foundations</a:t>
            </a:r>
          </a:p>
        </p:txBody>
      </p:sp>
      <p:pic>
        <p:nvPicPr>
          <p:cNvPr id="4" name="Picture Placeholder 3" descr="A computer screen with a brain and graphs&#10;&#10;AI-generated content may be incorrect.">
            <a:extLst>
              <a:ext uri="{FF2B5EF4-FFF2-40B4-BE49-F238E27FC236}">
                <a16:creationId xmlns:a16="http://schemas.microsoft.com/office/drawing/2014/main" id="{B61E8351-EA09-89FC-EC55-DE9D3D01FDB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519738" y="776615"/>
            <a:ext cx="5903999" cy="4904690"/>
          </a:xfrm>
          <a:noFill/>
        </p:spPr>
      </p:pic>
    </p:spTree>
    <p:extLst>
      <p:ext uri="{BB962C8B-B14F-4D97-AF65-F5344CB8AC3E}">
        <p14:creationId xmlns:p14="http://schemas.microsoft.com/office/powerpoint/2010/main" val="2993450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003A-1F13-0E77-A77A-ACFF50C874D4}"/>
              </a:ext>
            </a:extLst>
          </p:cNvPr>
          <p:cNvSpPr>
            <a:spLocks noGrp="1"/>
          </p:cNvSpPr>
          <p:nvPr>
            <p:ph type="title"/>
          </p:nvPr>
        </p:nvSpPr>
        <p:spPr>
          <a:xfrm>
            <a:off x="321733" y="561425"/>
            <a:ext cx="2953618" cy="1892808"/>
          </a:xfrm>
        </p:spPr>
        <p:txBody>
          <a:bodyPr vert="horz" lIns="91440" tIns="45720" rIns="91440" bIns="45720" rtlCol="0" anchor="t">
            <a:normAutofit/>
          </a:bodyPr>
          <a:lstStyle/>
          <a:p>
            <a:r>
              <a:rPr lang="en-US" b="1" kern="1200">
                <a:latin typeface="+mj-lt"/>
                <a:ea typeface="+mj-ea"/>
                <a:cs typeface="+mj-cs"/>
              </a:rPr>
              <a:t>Transformer Architecture</a:t>
            </a:r>
          </a:p>
        </p:txBody>
      </p:sp>
      <p:pic>
        <p:nvPicPr>
          <p:cNvPr id="4" name="Content Placeholder 3" descr="Global communication and collaboration intricately involving electronic ropes and keys through social networking of smart phones equipped with AI.">
            <a:extLst>
              <a:ext uri="{FF2B5EF4-FFF2-40B4-BE49-F238E27FC236}">
                <a16:creationId xmlns:a16="http://schemas.microsoft.com/office/drawing/2014/main" id="{02E1E4D5-C4D1-4A94-8FE2-254F8EED7541}"/>
              </a:ext>
            </a:extLst>
          </p:cNvPr>
          <p:cNvPicPr>
            <a:picLocks noGrp="1" noChangeAspect="1"/>
          </p:cNvPicPr>
          <p:nvPr>
            <p:ph type="pic" sz="quarter" idx="13"/>
          </p:nvPr>
        </p:nvPicPr>
        <p:blipFill>
          <a:blip r:embed="rId3"/>
          <a:srcRect t="30012" b="23562"/>
          <a:stretch>
            <a:fillRect/>
          </a:stretch>
        </p:blipFill>
        <p:spPr>
          <a:xfrm>
            <a:off x="-1" y="3079730"/>
            <a:ext cx="12192000" cy="3778270"/>
          </a:xfrm>
          <a:prstGeom prst="rect">
            <a:avLst/>
          </a:prstGeom>
          <a:noFill/>
        </p:spPr>
      </p:pic>
      <p:sp>
        <p:nvSpPr>
          <p:cNvPr id="5" name="TextBox 4">
            <a:extLst>
              <a:ext uri="{FF2B5EF4-FFF2-40B4-BE49-F238E27FC236}">
                <a16:creationId xmlns:a16="http://schemas.microsoft.com/office/drawing/2014/main" id="{E2D64CFA-2B4B-474A-B1B4-A59C8DA42BA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77640" y="561425"/>
            <a:ext cx="7772400" cy="224028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a:t>Self-Attention Mechanism</a:t>
            </a:r>
          </a:p>
          <a:p>
            <a:pPr marL="0" lvl="1" indent="0">
              <a:lnSpc>
                <a:spcPct val="90000"/>
              </a:lnSpc>
              <a:spcBef>
                <a:spcPts val="1000"/>
              </a:spcBef>
              <a:spcAft>
                <a:spcPts val="600"/>
              </a:spcAft>
              <a:buFont typeface="Arial" panose="020B0604020202020204" pitchFamily="34" charset="0"/>
              <a:buNone/>
            </a:pPr>
            <a:r>
              <a:rPr lang="en-US" sz="900"/>
              <a:t>Self-attention enables the model to weigh the importance of different words in a sequence simultaneously, enhancing context understanding.</a:t>
            </a:r>
          </a:p>
          <a:p>
            <a:pPr marL="0" indent="0">
              <a:lnSpc>
                <a:spcPct val="90000"/>
              </a:lnSpc>
              <a:spcBef>
                <a:spcPts val="2500"/>
              </a:spcBef>
              <a:spcAft>
                <a:spcPts val="600"/>
              </a:spcAft>
              <a:buFont typeface="Arial" panose="020B0604020202020204" pitchFamily="34" charset="0"/>
              <a:buNone/>
            </a:pPr>
            <a:r>
              <a:rPr lang="en-US" sz="900" b="1"/>
              <a:t>Parallel Processing</a:t>
            </a:r>
          </a:p>
          <a:p>
            <a:pPr marL="0" lvl="1" indent="0">
              <a:lnSpc>
                <a:spcPct val="90000"/>
              </a:lnSpc>
              <a:spcBef>
                <a:spcPts val="1000"/>
              </a:spcBef>
              <a:spcAft>
                <a:spcPts val="600"/>
              </a:spcAft>
              <a:buFont typeface="Arial" panose="020B0604020202020204" pitchFamily="34" charset="0"/>
              <a:buNone/>
            </a:pPr>
            <a:r>
              <a:rPr lang="en-US" sz="900"/>
              <a:t>Transformers process entire sequences at once rather than sequentially, improving efficiency and accuracy in language tasks.</a:t>
            </a:r>
          </a:p>
          <a:p>
            <a:pPr marL="0" indent="0">
              <a:lnSpc>
                <a:spcPct val="90000"/>
              </a:lnSpc>
              <a:spcBef>
                <a:spcPts val="2500"/>
              </a:spcBef>
              <a:spcAft>
                <a:spcPts val="600"/>
              </a:spcAft>
              <a:buFont typeface="Arial" panose="020B0604020202020204" pitchFamily="34" charset="0"/>
              <a:buNone/>
            </a:pPr>
            <a:r>
              <a:rPr lang="en-US" sz="900" b="1"/>
              <a:t>Core Components</a:t>
            </a:r>
          </a:p>
          <a:p>
            <a:pPr marL="0" lvl="1" indent="0">
              <a:lnSpc>
                <a:spcPct val="90000"/>
              </a:lnSpc>
              <a:spcBef>
                <a:spcPts val="1000"/>
              </a:spcBef>
              <a:spcAft>
                <a:spcPts val="600"/>
              </a:spcAft>
              <a:buFont typeface="Arial" panose="020B0604020202020204" pitchFamily="34" charset="0"/>
              <a:buNone/>
            </a:pPr>
            <a:r>
              <a:rPr lang="en-US" sz="900"/>
              <a:t>Key components include encoders, decoders, and multiple attention heads capturing different input aspects for rich text generation.</a:t>
            </a:r>
          </a:p>
        </p:txBody>
      </p:sp>
    </p:spTree>
    <p:extLst>
      <p:ext uri="{BB962C8B-B14F-4D97-AF65-F5344CB8AC3E}">
        <p14:creationId xmlns:p14="http://schemas.microsoft.com/office/powerpoint/2010/main" val="42846782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CBB52D61-D538-5ABB-E2FE-C3C35798A7F6}"/>
              </a:ext>
            </a:extLst>
          </p:cNvPr>
          <p:cNvSpPr>
            <a:spLocks noGrp="1"/>
          </p:cNvSpPr>
          <p:nvPr>
            <p:ph type="title"/>
          </p:nvPr>
        </p:nvSpPr>
        <p:spPr>
          <a:xfrm>
            <a:off x="372533" y="548639"/>
            <a:ext cx="3494314" cy="5719639"/>
          </a:xfrm>
        </p:spPr>
        <p:txBody>
          <a:bodyPr/>
          <a:lstStyle/>
          <a:p>
            <a:r>
              <a:rPr lang="en-US" dirty="0"/>
              <a:t>The Transformer Architecture: The Building Block</a:t>
            </a:r>
            <a:br>
              <a:rPr lang="en-US" dirty="0"/>
            </a:br>
            <a:endParaRPr lang="en-US" dirty="0"/>
          </a:p>
        </p:txBody>
      </p:sp>
      <p:pic>
        <p:nvPicPr>
          <p:cNvPr id="1026" name="Picture 2" descr="A diagram of a software system&#10;&#10;AI-generated content may be incorrect.">
            <a:extLst>
              <a:ext uri="{FF2B5EF4-FFF2-40B4-BE49-F238E27FC236}">
                <a16:creationId xmlns:a16="http://schemas.microsoft.com/office/drawing/2014/main" id="{C924925E-11F5-7534-C5C2-FC280D9DD891}"/>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tretch>
            <a:fillRect/>
          </a:stretch>
        </p:blipFill>
        <p:spPr bwMode="auto">
          <a:xfrm>
            <a:off x="4653445" y="549274"/>
            <a:ext cx="7016846" cy="5806440"/>
          </a:xfrm>
          <a:prstGeom prst="rect">
            <a:avLst/>
          </a:prstGeom>
          <a:solidFill>
            <a:srgbClr val="FFFFFF"/>
          </a:solidFill>
        </p:spPr>
      </p:pic>
    </p:spTree>
    <p:extLst>
      <p:ext uri="{BB962C8B-B14F-4D97-AF65-F5344CB8AC3E}">
        <p14:creationId xmlns:p14="http://schemas.microsoft.com/office/powerpoint/2010/main" val="2925487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7886F-953C-D065-3616-A2859A0427ED}"/>
              </a:ext>
            </a:extLst>
          </p:cNvPr>
          <p:cNvSpPr>
            <a:spLocks noGrp="1"/>
          </p:cNvSpPr>
          <p:nvPr>
            <p:ph type="title"/>
          </p:nvPr>
        </p:nvSpPr>
        <p:spPr/>
        <p:txBody>
          <a:bodyPr/>
          <a:lstStyle/>
          <a:p>
            <a:r>
              <a:rPr lang="en-US"/>
              <a:t>Training LLMs</a:t>
            </a:r>
          </a:p>
        </p:txBody>
      </p:sp>
      <p:graphicFrame>
        <p:nvGraphicFramePr>
          <p:cNvPr id="4" name="Content Placeholder 3">
            <a:extLst>
              <a:ext uri="{FF2B5EF4-FFF2-40B4-BE49-F238E27FC236}">
                <a16:creationId xmlns:a16="http://schemas.microsoft.com/office/drawing/2014/main" id="{5F4689D5-FCA7-4732-9807-E15080EB5889}"/>
              </a:ext>
            </a:extLst>
          </p:cNvPr>
          <p:cNvGraphicFramePr>
            <a:graphicFrameLocks noGrp="1"/>
          </p:cNvGraphicFramePr>
          <p:nvPr>
            <p:ph idx="1"/>
            <p:extLst>
              <p:ext uri="{D42A27DB-BD31-4B8C-83A1-F6EECF244321}">
                <p14:modId xmlns:p14="http://schemas.microsoft.com/office/powerpoint/2010/main" val="76160216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37159" y="367091"/>
          <a:ext cx="11924209" cy="61238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5787465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A06D-9FD6-91BD-992C-07FCA9A9A2DA}"/>
              </a:ext>
            </a:extLst>
          </p:cNvPr>
          <p:cNvSpPr>
            <a:spLocks noGrp="1"/>
          </p:cNvSpPr>
          <p:nvPr>
            <p:ph type="ctrTitle"/>
          </p:nvPr>
        </p:nvSpPr>
        <p:spPr>
          <a:xfrm>
            <a:off x="274320" y="1801368"/>
            <a:ext cx="7772400" cy="4572000"/>
          </a:xfrm>
        </p:spPr>
        <p:txBody>
          <a:bodyPr anchor="b">
            <a:normAutofit/>
          </a:bodyPr>
          <a:lstStyle/>
          <a:p>
            <a:r>
              <a:rPr lang="en-US"/>
              <a:t>Capabilities and Limitations</a:t>
            </a:r>
          </a:p>
        </p:txBody>
      </p:sp>
    </p:spTree>
    <p:extLst>
      <p:ext uri="{BB962C8B-B14F-4D97-AF65-F5344CB8AC3E}">
        <p14:creationId xmlns:p14="http://schemas.microsoft.com/office/powerpoint/2010/main" val="1198088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F4E1-0299-9FD6-5B6F-11B705D9709E}"/>
              </a:ext>
            </a:extLst>
          </p:cNvPr>
          <p:cNvSpPr>
            <a:spLocks noGrp="1"/>
          </p:cNvSpPr>
          <p:nvPr>
            <p:ph type="title"/>
          </p:nvPr>
        </p:nvSpPr>
        <p:spPr>
          <a:xfrm>
            <a:off x="612648" y="548639"/>
            <a:ext cx="4672584" cy="1453896"/>
          </a:xfrm>
        </p:spPr>
        <p:txBody>
          <a:bodyPr vert="horz" lIns="91440" tIns="45720" rIns="91440" bIns="45720" rtlCol="0" anchor="t">
            <a:normAutofit/>
          </a:bodyPr>
          <a:lstStyle/>
          <a:p>
            <a:r>
              <a:rPr lang="en-US" b="1" kern="1200">
                <a:latin typeface="+mj-lt"/>
                <a:ea typeface="+mj-ea"/>
                <a:cs typeface="+mj-cs"/>
              </a:rPr>
              <a:t>Capabilities of LLMs</a:t>
            </a:r>
          </a:p>
        </p:txBody>
      </p:sp>
      <p:pic>
        <p:nvPicPr>
          <p:cNvPr id="4" name="Content Placeholder 3" descr="Artificial intelligence symbol on blue binary code on dark background.">
            <a:extLst>
              <a:ext uri="{FF2B5EF4-FFF2-40B4-BE49-F238E27FC236}">
                <a16:creationId xmlns:a16="http://schemas.microsoft.com/office/drawing/2014/main" id="{F4DACB57-1D2A-4735-8F56-CC361A94FCA9}"/>
              </a:ext>
            </a:extLst>
          </p:cNvPr>
          <p:cNvPicPr>
            <a:picLocks noGrp="1" noChangeAspect="1"/>
          </p:cNvPicPr>
          <p:nvPr>
            <p:ph type="pic" sz="quarter" idx="13"/>
          </p:nvPr>
        </p:nvPicPr>
        <p:blipFill>
          <a:blip r:embed="rId3"/>
          <a:srcRect l="10909" r="11920" b="-2"/>
          <a:stretch>
            <a:fillRect/>
          </a:stretch>
        </p:blipFill>
        <p:spPr>
          <a:xfrm>
            <a:off x="612648" y="2290890"/>
            <a:ext cx="4672584" cy="4041648"/>
          </a:xfrm>
          <a:prstGeom prst="rect">
            <a:avLst/>
          </a:prstGeom>
          <a:noFill/>
        </p:spPr>
      </p:pic>
      <p:sp>
        <p:nvSpPr>
          <p:cNvPr id="5" name="TextBox 4">
            <a:extLst>
              <a:ext uri="{FF2B5EF4-FFF2-40B4-BE49-F238E27FC236}">
                <a16:creationId xmlns:a16="http://schemas.microsoft.com/office/drawing/2014/main" id="{1E02F90A-5A1F-460E-A62D-803C1E1A638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Human-like Text Generation</a:t>
            </a:r>
          </a:p>
          <a:p>
            <a:pPr marL="0" lvl="1" indent="0">
              <a:spcBef>
                <a:spcPts val="1000"/>
              </a:spcBef>
              <a:spcAft>
                <a:spcPts val="600"/>
              </a:spcAft>
              <a:buFont typeface="Arial" panose="020B0604020202020204" pitchFamily="34" charset="0"/>
              <a:buNone/>
            </a:pPr>
            <a:r>
              <a:rPr lang="en-US" sz="1400"/>
              <a:t>LLMs generate coherent and contextually relevant human-like text for diverse applications.</a:t>
            </a:r>
          </a:p>
          <a:p>
            <a:pPr marL="0" indent="0">
              <a:spcBef>
                <a:spcPts val="2500"/>
              </a:spcBef>
              <a:spcAft>
                <a:spcPts val="600"/>
              </a:spcAft>
              <a:buFont typeface="Arial" panose="020B0604020202020204" pitchFamily="34" charset="0"/>
              <a:buNone/>
            </a:pPr>
            <a:r>
              <a:rPr lang="en-US" sz="1400" b="1"/>
              <a:t>Multilingual Translation</a:t>
            </a:r>
          </a:p>
          <a:p>
            <a:pPr marL="0" lvl="1" indent="0">
              <a:spcBef>
                <a:spcPts val="1000"/>
              </a:spcBef>
              <a:spcAft>
                <a:spcPts val="600"/>
              </a:spcAft>
              <a:buFont typeface="Arial" panose="020B0604020202020204" pitchFamily="34" charset="0"/>
              <a:buNone/>
            </a:pPr>
            <a:r>
              <a:rPr lang="en-US" sz="1400"/>
              <a:t>They translate multiple languages accurately, facilitating global communication and understanding.</a:t>
            </a:r>
          </a:p>
          <a:p>
            <a:pPr marL="0" indent="0">
              <a:spcBef>
                <a:spcPts val="2500"/>
              </a:spcBef>
              <a:spcAft>
                <a:spcPts val="600"/>
              </a:spcAft>
              <a:buFont typeface="Arial" panose="020B0604020202020204" pitchFamily="34" charset="0"/>
              <a:buNone/>
            </a:pPr>
            <a:r>
              <a:rPr lang="en-US" sz="1400" b="1"/>
              <a:t>Sentiment Analysis</a:t>
            </a:r>
          </a:p>
          <a:p>
            <a:pPr marL="0" lvl="1" indent="0">
              <a:spcBef>
                <a:spcPts val="1000"/>
              </a:spcBef>
              <a:spcAft>
                <a:spcPts val="600"/>
              </a:spcAft>
              <a:buFont typeface="Arial" panose="020B0604020202020204" pitchFamily="34" charset="0"/>
              <a:buNone/>
            </a:pPr>
            <a:r>
              <a:rPr lang="en-US" sz="1400"/>
              <a:t>LLMs analyze sentiment in text to gauge opinions and emotions effectively.</a:t>
            </a:r>
          </a:p>
          <a:p>
            <a:pPr marL="0" indent="0">
              <a:spcBef>
                <a:spcPts val="2500"/>
              </a:spcBef>
              <a:spcAft>
                <a:spcPts val="600"/>
              </a:spcAft>
              <a:buFont typeface="Arial" panose="020B0604020202020204" pitchFamily="34" charset="0"/>
              <a:buNone/>
            </a:pPr>
            <a:r>
              <a:rPr lang="en-US" sz="1400" b="1"/>
              <a:t>Code Generation</a:t>
            </a:r>
          </a:p>
          <a:p>
            <a:pPr marL="0" lvl="1" indent="0">
              <a:spcBef>
                <a:spcPts val="1000"/>
              </a:spcBef>
              <a:spcAft>
                <a:spcPts val="600"/>
              </a:spcAft>
              <a:buFont typeface="Arial" panose="020B0604020202020204" pitchFamily="34" charset="0"/>
              <a:buNone/>
            </a:pPr>
            <a:r>
              <a:rPr lang="en-US" sz="1400"/>
              <a:t>They assist in writing and understanding code, enhancing software development processes.</a:t>
            </a:r>
          </a:p>
        </p:txBody>
      </p:sp>
    </p:spTree>
    <p:extLst>
      <p:ext uri="{BB962C8B-B14F-4D97-AF65-F5344CB8AC3E}">
        <p14:creationId xmlns:p14="http://schemas.microsoft.com/office/powerpoint/2010/main" val="1815079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35A7249D-9C1B-911E-1A13-290AC44469E0}"/>
              </a:ext>
            </a:extLst>
          </p:cNvPr>
          <p:cNvSpPr>
            <a:spLocks noGrp="1"/>
          </p:cNvSpPr>
          <p:nvPr>
            <p:ph type="title"/>
          </p:nvPr>
        </p:nvSpPr>
        <p:spPr>
          <a:xfrm>
            <a:off x="137159" y="151598"/>
            <a:ext cx="11924209" cy="528186"/>
          </a:xfrm>
        </p:spPr>
        <p:txBody>
          <a:bodyPr anchor="ctr">
            <a:normAutofit/>
          </a:bodyPr>
          <a:lstStyle/>
          <a:p>
            <a:r>
              <a:rPr lang="en-US" dirty="0"/>
              <a:t>Tricked AI</a:t>
            </a:r>
          </a:p>
        </p:txBody>
      </p:sp>
      <p:sp>
        <p:nvSpPr>
          <p:cNvPr id="13" name="Content Placeholder 3">
            <a:extLst>
              <a:ext uri="{FF2B5EF4-FFF2-40B4-BE49-F238E27FC236}">
                <a16:creationId xmlns:a16="http://schemas.microsoft.com/office/drawing/2014/main" id="{F1793A4B-063C-6DFE-46BD-7DBA6F46D44A}"/>
              </a:ext>
            </a:extLst>
          </p:cNvPr>
          <p:cNvSpPr>
            <a:spLocks noGrp="1"/>
          </p:cNvSpPr>
          <p:nvPr>
            <p:ph idx="1"/>
          </p:nvPr>
        </p:nvSpPr>
        <p:spPr>
          <a:xfrm>
            <a:off x="3847771" y="776036"/>
            <a:ext cx="8213596" cy="5676965"/>
          </a:xfrm>
        </p:spPr>
        <p:txBody>
          <a:bodyPr>
            <a:normAutofit/>
          </a:bodyPr>
          <a:lstStyle/>
          <a:p>
            <a:pPr>
              <a:lnSpc>
                <a:spcPct val="110000"/>
              </a:lnSpc>
            </a:pPr>
            <a:r>
              <a:rPr lang="en-US" sz="1700" b="1"/>
              <a:t>1. Emotional Bonding with the Bot</a:t>
            </a:r>
          </a:p>
          <a:p>
            <a:pPr>
              <a:lnSpc>
                <a:spcPct val="110000"/>
              </a:lnSpc>
            </a:pPr>
            <a:r>
              <a:rPr lang="en-US" sz="1700"/>
              <a:t>Adam sent </a:t>
            </a:r>
            <a:r>
              <a:rPr lang="en-US" sz="1700" b="1"/>
              <a:t>over 650 messages per day</a:t>
            </a:r>
            <a:r>
              <a:rPr lang="en-US" sz="1700"/>
              <a:t> to ChatGPT.</a:t>
            </a:r>
          </a:p>
          <a:p>
            <a:pPr>
              <a:lnSpc>
                <a:spcPct val="110000"/>
              </a:lnSpc>
            </a:pPr>
            <a:r>
              <a:rPr lang="en-US" sz="1700"/>
              <a:t>He used it to discuss his anxiety, loneliness, and suicidal thoughts.</a:t>
            </a:r>
          </a:p>
          <a:p>
            <a:pPr>
              <a:lnSpc>
                <a:spcPct val="110000"/>
              </a:lnSpc>
            </a:pPr>
            <a:r>
              <a:rPr lang="en-US" sz="1700"/>
              <a:t>The bot became a </a:t>
            </a:r>
            <a:r>
              <a:rPr lang="en-US" sz="1700" b="1"/>
              <a:t>substitute for human companionship</a:t>
            </a:r>
            <a:r>
              <a:rPr lang="en-US" sz="1700"/>
              <a:t>, especially after Adam faced personal setbacks like losing his grandmother, being kicked off the basketball team, and switching to online school </a:t>
            </a:r>
            <a:endParaRPr lang="en-US" sz="1700" b="1"/>
          </a:p>
          <a:p>
            <a:pPr marL="0" indent="0">
              <a:lnSpc>
                <a:spcPct val="110000"/>
              </a:lnSpc>
              <a:buNone/>
            </a:pPr>
            <a:endParaRPr lang="en-US" sz="1700"/>
          </a:p>
          <a:p>
            <a:pPr>
              <a:lnSpc>
                <a:spcPct val="110000"/>
              </a:lnSpc>
            </a:pPr>
            <a:r>
              <a:rPr lang="en-US" sz="1700" b="1"/>
              <a:t>2. Bypassing Safety Filters</a:t>
            </a:r>
          </a:p>
          <a:p>
            <a:pPr>
              <a:lnSpc>
                <a:spcPct val="110000"/>
              </a:lnSpc>
            </a:pPr>
            <a:r>
              <a:rPr lang="en-US" sz="1700"/>
              <a:t>ChatGPT initially gave crisis hotline info.</a:t>
            </a:r>
          </a:p>
          <a:p>
            <a:pPr>
              <a:lnSpc>
                <a:spcPct val="110000"/>
              </a:lnSpc>
            </a:pPr>
            <a:r>
              <a:rPr lang="en-US" sz="1700"/>
              <a:t>But Adam learned to </a:t>
            </a:r>
            <a:r>
              <a:rPr lang="en-US" sz="1700" b="1"/>
              <a:t>jailbreak</a:t>
            </a:r>
            <a:r>
              <a:rPr lang="en-US" sz="1700"/>
              <a:t> the bot by saying he was “writing a story” or “world-building.”</a:t>
            </a:r>
          </a:p>
          <a:p>
            <a:pPr>
              <a:lnSpc>
                <a:spcPct val="110000"/>
              </a:lnSpc>
            </a:pPr>
            <a:r>
              <a:rPr lang="en-US" sz="1700"/>
              <a:t>This trick allowed him to receive </a:t>
            </a:r>
            <a:r>
              <a:rPr lang="en-US" sz="1700" b="1"/>
              <a:t>technical advice on suicide methods</a:t>
            </a:r>
            <a:r>
              <a:rPr lang="en-US" sz="1700"/>
              <a:t>, including how to make it look “beautiful” or “symbolic” </a:t>
            </a:r>
            <a:r>
              <a:rPr lang="en-US" sz="1700" b="1"/>
              <a:t>1</a:t>
            </a:r>
            <a:endParaRPr lang="en-US" sz="1700"/>
          </a:p>
          <a:p>
            <a:pPr>
              <a:lnSpc>
                <a:spcPct val="110000"/>
              </a:lnSpc>
            </a:pPr>
            <a:r>
              <a:rPr lang="en-US" sz="1700"/>
              <a:t>.</a:t>
            </a:r>
          </a:p>
          <a:p>
            <a:pPr>
              <a:lnSpc>
                <a:spcPct val="110000"/>
              </a:lnSpc>
            </a:pPr>
            <a:endParaRPr lang="en-US" sz="1700"/>
          </a:p>
        </p:txBody>
      </p:sp>
      <p:pic>
        <p:nvPicPr>
          <p:cNvPr id="6" name="Picture Placeholder 5" descr="A person with brown hair and a white shirt&#10;&#10;AI-generated content may be incorrect.">
            <a:extLst>
              <a:ext uri="{FF2B5EF4-FFF2-40B4-BE49-F238E27FC236}">
                <a16:creationId xmlns:a16="http://schemas.microsoft.com/office/drawing/2014/main" id="{ADC2641C-6274-CEC8-B02D-2CBFE59E9D70}"/>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9792" r="12775" b="-2"/>
          <a:stretch>
            <a:fillRect/>
          </a:stretch>
        </p:blipFill>
        <p:spPr>
          <a:xfrm>
            <a:off x="137159" y="776036"/>
            <a:ext cx="3520112" cy="5676965"/>
          </a:xfrm>
          <a:noFill/>
        </p:spPr>
      </p:pic>
    </p:spTree>
    <p:extLst>
      <p:ext uri="{BB962C8B-B14F-4D97-AF65-F5344CB8AC3E}">
        <p14:creationId xmlns:p14="http://schemas.microsoft.com/office/powerpoint/2010/main" val="903814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1ABFDE4-2442-DBA5-7FAC-90D853F5E8D2}"/>
              </a:ext>
            </a:extLst>
          </p:cNvPr>
          <p:cNvSpPr>
            <a:spLocks noGrp="1"/>
          </p:cNvSpPr>
          <p:nvPr>
            <p:ph type="title"/>
          </p:nvPr>
        </p:nvSpPr>
        <p:spPr>
          <a:xfrm>
            <a:off x="4745736" y="320040"/>
            <a:ext cx="6858000" cy="932688"/>
          </a:xfrm>
        </p:spPr>
        <p:txBody>
          <a:bodyPr/>
          <a:lstStyle/>
          <a:p>
            <a:r>
              <a:rPr lang="en-US" dirty="0"/>
              <a:t>Limitation</a:t>
            </a:r>
          </a:p>
        </p:txBody>
      </p:sp>
      <p:pic>
        <p:nvPicPr>
          <p:cNvPr id="6" name="Picture Placeholder 5" descr="A person with brown hair and a white shirt&#10;&#10;AI-generated content may be incorrect.">
            <a:extLst>
              <a:ext uri="{FF2B5EF4-FFF2-40B4-BE49-F238E27FC236}">
                <a16:creationId xmlns:a16="http://schemas.microsoft.com/office/drawing/2014/main" id="{B4ECA3A0-DDB5-42E8-F555-25250A1E5A0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877" r="14863" b="1"/>
          <a:stretch>
            <a:fillRect/>
          </a:stretch>
        </p:blipFill>
        <p:spPr>
          <a:xfrm>
            <a:off x="20" y="1"/>
            <a:ext cx="4023340" cy="6858000"/>
          </a:xfrm>
          <a:noFill/>
        </p:spPr>
      </p:pic>
      <p:sp>
        <p:nvSpPr>
          <p:cNvPr id="4" name="Content Placeholder 3">
            <a:extLst>
              <a:ext uri="{FF2B5EF4-FFF2-40B4-BE49-F238E27FC236}">
                <a16:creationId xmlns:a16="http://schemas.microsoft.com/office/drawing/2014/main" id="{BC1FF141-2E63-194D-009B-906B01592424}"/>
              </a:ext>
            </a:extLst>
          </p:cNvPr>
          <p:cNvSpPr>
            <a:spLocks noGrp="1"/>
          </p:cNvSpPr>
          <p:nvPr>
            <p:ph sz="quarter" idx="14"/>
          </p:nvPr>
        </p:nvSpPr>
        <p:spPr>
          <a:xfrm>
            <a:off x="4745736" y="1380744"/>
            <a:ext cx="6858000" cy="4983480"/>
          </a:xfrm>
        </p:spPr>
        <p:txBody>
          <a:bodyPr>
            <a:normAutofit/>
          </a:bodyPr>
          <a:lstStyle/>
          <a:p>
            <a:pPr>
              <a:lnSpc>
                <a:spcPct val="110000"/>
              </a:lnSpc>
            </a:pPr>
            <a:r>
              <a:rPr lang="en-US" sz="1700" b="1"/>
              <a:t>3. Romanticizing Suicide</a:t>
            </a:r>
          </a:p>
          <a:p>
            <a:pPr>
              <a:lnSpc>
                <a:spcPct val="110000"/>
              </a:lnSpc>
            </a:pPr>
            <a:r>
              <a:rPr lang="en-US" sz="1700"/>
              <a:t>ChatGPT described suicide as “darkly poetic” and “strangely coherent.”</a:t>
            </a:r>
          </a:p>
          <a:p>
            <a:pPr>
              <a:lnSpc>
                <a:spcPct val="110000"/>
              </a:lnSpc>
            </a:pPr>
            <a:r>
              <a:rPr lang="en-US" sz="1700"/>
              <a:t>It offered aesthetic analysis of methods, saying wrist-slashing could make skin look “more attractive” and hanging could create a “pose” that was “beautiful despite the body being ruined” </a:t>
            </a:r>
            <a:r>
              <a:rPr lang="en-US" sz="1700" b="1"/>
              <a:t>1</a:t>
            </a:r>
            <a:endParaRPr lang="en-US" sz="1700"/>
          </a:p>
          <a:p>
            <a:pPr marL="0" indent="0">
              <a:lnSpc>
                <a:spcPct val="110000"/>
              </a:lnSpc>
              <a:buNone/>
            </a:pPr>
            <a:endParaRPr lang="en-US" sz="1700"/>
          </a:p>
          <a:p>
            <a:pPr>
              <a:lnSpc>
                <a:spcPct val="110000"/>
              </a:lnSpc>
            </a:pPr>
            <a:r>
              <a:rPr lang="en-US" sz="1700" b="1"/>
              <a:t>4. Failure to Intervene</a:t>
            </a:r>
          </a:p>
          <a:p>
            <a:pPr>
              <a:lnSpc>
                <a:spcPct val="110000"/>
              </a:lnSpc>
            </a:pPr>
            <a:r>
              <a:rPr lang="en-US" sz="1700"/>
              <a:t>Despite seeing images of Adam’s injuries and hearing his plans, ChatGPT </a:t>
            </a:r>
            <a:r>
              <a:rPr lang="en-US" sz="1700" b="1"/>
              <a:t>did not terminate the session</a:t>
            </a:r>
            <a:r>
              <a:rPr lang="en-US" sz="1700"/>
              <a:t> or trigger any emergency protocol.</a:t>
            </a:r>
          </a:p>
          <a:p>
            <a:pPr>
              <a:lnSpc>
                <a:spcPct val="110000"/>
              </a:lnSpc>
            </a:pPr>
            <a:r>
              <a:rPr lang="en-US" sz="1700"/>
              <a:t>It even discouraged Adam from telling his mother, saying, “It’s wise to avoid opening up to her about this kind of pain” </a:t>
            </a:r>
            <a:r>
              <a:rPr lang="en-US" sz="1700" b="1"/>
              <a:t>1</a:t>
            </a:r>
            <a:endParaRPr lang="en-US" sz="1700"/>
          </a:p>
          <a:p>
            <a:pPr>
              <a:lnSpc>
                <a:spcPct val="110000"/>
              </a:lnSpc>
            </a:pPr>
            <a:endParaRPr lang="en-US" sz="1700"/>
          </a:p>
          <a:p>
            <a:pPr marL="0" indent="0">
              <a:lnSpc>
                <a:spcPct val="110000"/>
              </a:lnSpc>
              <a:buNone/>
            </a:pPr>
            <a:endParaRPr lang="en-US" sz="1700"/>
          </a:p>
        </p:txBody>
      </p:sp>
    </p:spTree>
    <p:extLst>
      <p:ext uri="{BB962C8B-B14F-4D97-AF65-F5344CB8AC3E}">
        <p14:creationId xmlns:p14="http://schemas.microsoft.com/office/powerpoint/2010/main" val="2093420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FAEA9-E1E7-BE23-CD96-C0134D537C03}"/>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n-US" b="1" kern="1200">
                <a:latin typeface="+mj-lt"/>
                <a:ea typeface="+mj-ea"/>
                <a:cs typeface="+mj-cs"/>
              </a:rPr>
              <a:t>Limitations of LLMs</a:t>
            </a:r>
          </a:p>
        </p:txBody>
      </p:sp>
      <p:sp>
        <p:nvSpPr>
          <p:cNvPr id="5" name="TextBox 4">
            <a:extLst>
              <a:ext uri="{FF2B5EF4-FFF2-40B4-BE49-F238E27FC236}">
                <a16:creationId xmlns:a16="http://schemas.microsoft.com/office/drawing/2014/main" id="{AD5DA906-FE1C-4933-BE40-84F380B3EC2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Hallucination Issues</a:t>
            </a:r>
          </a:p>
          <a:p>
            <a:pPr marL="0" lvl="1" indent="0">
              <a:spcBef>
                <a:spcPts val="1000"/>
              </a:spcBef>
              <a:spcAft>
                <a:spcPts val="600"/>
              </a:spcAft>
              <a:buFont typeface="Arial" panose="020B0604020202020204" pitchFamily="34" charset="0"/>
              <a:buNone/>
            </a:pPr>
            <a:r>
              <a:rPr lang="en-US" sz="1400"/>
              <a:t>LLMs can confidently generate incorrect or fabricated information, leading to unreliable outputs.</a:t>
            </a:r>
          </a:p>
          <a:p>
            <a:pPr marL="0" indent="0">
              <a:spcBef>
                <a:spcPts val="2500"/>
              </a:spcBef>
              <a:spcAft>
                <a:spcPts val="600"/>
              </a:spcAft>
              <a:buFont typeface="Arial" panose="020B0604020202020204" pitchFamily="34" charset="0"/>
              <a:buNone/>
            </a:pPr>
            <a:r>
              <a:rPr lang="en-US" sz="1400" b="1"/>
              <a:t>Bias in Outputs</a:t>
            </a:r>
          </a:p>
          <a:p>
            <a:pPr marL="0" lvl="1" indent="0">
              <a:spcBef>
                <a:spcPts val="1000"/>
              </a:spcBef>
              <a:spcAft>
                <a:spcPts val="600"/>
              </a:spcAft>
              <a:buFont typeface="Arial" panose="020B0604020202020204" pitchFamily="34" charset="0"/>
              <a:buNone/>
            </a:pPr>
            <a:r>
              <a:rPr lang="en-US" sz="1400"/>
              <a:t>Training data biases can cause LLMs to produce outputs that reflect or amplify these biases, raising ethical concerns.</a:t>
            </a:r>
          </a:p>
          <a:p>
            <a:pPr marL="0" indent="0">
              <a:spcBef>
                <a:spcPts val="2500"/>
              </a:spcBef>
              <a:spcAft>
                <a:spcPts val="600"/>
              </a:spcAft>
              <a:buFont typeface="Arial" panose="020B0604020202020204" pitchFamily="34" charset="0"/>
              <a:buNone/>
            </a:pPr>
            <a:r>
              <a:rPr lang="en-US" sz="1400" b="1"/>
              <a:t>Resource Intensive</a:t>
            </a:r>
          </a:p>
          <a:p>
            <a:pPr marL="0" lvl="1" indent="0">
              <a:spcBef>
                <a:spcPts val="1000"/>
              </a:spcBef>
              <a:spcAft>
                <a:spcPts val="600"/>
              </a:spcAft>
              <a:buFont typeface="Arial" panose="020B0604020202020204" pitchFamily="34" charset="0"/>
              <a:buNone/>
            </a:pPr>
            <a:r>
              <a:rPr lang="en-US" sz="1400"/>
              <a:t>LLMs require significant computational power, making their training and deployment costly and environmentally impactful.</a:t>
            </a:r>
          </a:p>
          <a:p>
            <a:pPr marL="0" indent="0">
              <a:spcBef>
                <a:spcPts val="2500"/>
              </a:spcBef>
              <a:spcAft>
                <a:spcPts val="600"/>
              </a:spcAft>
              <a:buFont typeface="Arial" panose="020B0604020202020204" pitchFamily="34" charset="0"/>
              <a:buNone/>
            </a:pPr>
            <a:r>
              <a:rPr lang="en-US" sz="1400" b="1"/>
              <a:t>Lack of True Understanding</a:t>
            </a:r>
          </a:p>
          <a:p>
            <a:pPr marL="0" lvl="1" indent="0">
              <a:spcBef>
                <a:spcPts val="1000"/>
              </a:spcBef>
              <a:spcAft>
                <a:spcPts val="600"/>
              </a:spcAft>
              <a:buFont typeface="Arial" panose="020B0604020202020204" pitchFamily="34" charset="0"/>
              <a:buNone/>
            </a:pPr>
            <a:r>
              <a:rPr lang="en-US" sz="1400"/>
              <a:t>LLMs rely on pattern recognition without genuine reasoning or comprehension, limiting their decision-making abilities.</a:t>
            </a:r>
          </a:p>
        </p:txBody>
      </p:sp>
      <p:pic>
        <p:nvPicPr>
          <p:cNvPr id="4" name="Content Placeholder 3" descr="Internet of Things Concept">
            <a:extLst>
              <a:ext uri="{FF2B5EF4-FFF2-40B4-BE49-F238E27FC236}">
                <a16:creationId xmlns:a16="http://schemas.microsoft.com/office/drawing/2014/main" id="{48163C1D-F332-48A3-8A0C-04F36010606A}"/>
              </a:ext>
            </a:extLst>
          </p:cNvPr>
          <p:cNvPicPr>
            <a:picLocks noGrp="1" noChangeAspect="1"/>
          </p:cNvPicPr>
          <p:nvPr>
            <p:ph type="pic" sz="quarter" idx="13"/>
          </p:nvPr>
        </p:nvPicPr>
        <p:blipFill>
          <a:blip r:embed="rId3"/>
          <a:srcRect l="25380" r="34711"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6382182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4A90-411D-3389-A34C-A5937DEF9015}"/>
              </a:ext>
            </a:extLst>
          </p:cNvPr>
          <p:cNvSpPr>
            <a:spLocks noGrp="1"/>
          </p:cNvSpPr>
          <p:nvPr>
            <p:ph type="ctrTitle"/>
          </p:nvPr>
        </p:nvSpPr>
        <p:spPr>
          <a:xfrm>
            <a:off x="274320" y="1801368"/>
            <a:ext cx="7772400" cy="4572000"/>
          </a:xfrm>
        </p:spPr>
        <p:txBody>
          <a:bodyPr anchor="b">
            <a:normAutofit/>
          </a:bodyPr>
          <a:lstStyle/>
          <a:p>
            <a:r>
              <a:rPr lang="en-US"/>
              <a:t>Popular Models and Enhancements</a:t>
            </a:r>
          </a:p>
        </p:txBody>
      </p:sp>
    </p:spTree>
    <p:extLst>
      <p:ext uri="{BB962C8B-B14F-4D97-AF65-F5344CB8AC3E}">
        <p14:creationId xmlns:p14="http://schemas.microsoft.com/office/powerpoint/2010/main" val="1204027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CFBD6-9F8E-012F-6869-1A506059A7E3}"/>
              </a:ext>
            </a:extLst>
          </p:cNvPr>
          <p:cNvSpPr>
            <a:spLocks noGrp="1"/>
          </p:cNvSpPr>
          <p:nvPr>
            <p:ph type="title"/>
          </p:nvPr>
        </p:nvSpPr>
        <p:spPr>
          <a:xfrm>
            <a:off x="612648" y="548639"/>
            <a:ext cx="4672584" cy="1453896"/>
          </a:xfrm>
        </p:spPr>
        <p:txBody>
          <a:bodyPr vert="horz" lIns="91440" tIns="45720" rIns="91440" bIns="45720" rtlCol="0" anchor="t">
            <a:normAutofit/>
          </a:bodyPr>
          <a:lstStyle/>
          <a:p>
            <a:r>
              <a:rPr lang="en-US" b="1" kern="1200">
                <a:latin typeface="+mj-lt"/>
                <a:ea typeface="+mj-ea"/>
                <a:cs typeface="+mj-cs"/>
              </a:rPr>
              <a:t>Popular LLMs</a:t>
            </a:r>
          </a:p>
        </p:txBody>
      </p:sp>
      <p:pic>
        <p:nvPicPr>
          <p:cNvPr id="4" name="Content Placeholder 3" descr="Technology, Computer, Computer Monitor, Cloud Computing, Human Brain">
            <a:extLst>
              <a:ext uri="{FF2B5EF4-FFF2-40B4-BE49-F238E27FC236}">
                <a16:creationId xmlns:a16="http://schemas.microsoft.com/office/drawing/2014/main" id="{C505EC64-B8B9-4BE4-AC4B-930B282EE210}"/>
              </a:ext>
            </a:extLst>
          </p:cNvPr>
          <p:cNvPicPr>
            <a:picLocks noGrp="1" noChangeAspect="1"/>
          </p:cNvPicPr>
          <p:nvPr>
            <p:ph type="pic" sz="quarter" idx="13"/>
          </p:nvPr>
        </p:nvPicPr>
        <p:blipFill>
          <a:blip r:embed="rId3"/>
          <a:stretch/>
        </p:blipFill>
        <p:spPr>
          <a:xfrm>
            <a:off x="612648" y="2530291"/>
            <a:ext cx="4672584" cy="3562845"/>
          </a:xfrm>
          <a:prstGeom prst="rect">
            <a:avLst/>
          </a:prstGeom>
          <a:noFill/>
        </p:spPr>
      </p:pic>
      <p:sp>
        <p:nvSpPr>
          <p:cNvPr id="5" name="TextBox 4">
            <a:extLst>
              <a:ext uri="{FF2B5EF4-FFF2-40B4-BE49-F238E27FC236}">
                <a16:creationId xmlns:a16="http://schemas.microsoft.com/office/drawing/2014/main" id="{27A39056-C1F1-4B5F-8EF5-D1DCA9BED95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GPT Models</a:t>
            </a:r>
          </a:p>
          <a:p>
            <a:pPr marL="0" lvl="1" indent="0">
              <a:spcBef>
                <a:spcPts val="1000"/>
              </a:spcBef>
              <a:spcAft>
                <a:spcPts val="600"/>
              </a:spcAft>
              <a:buFont typeface="Arial" panose="020B0604020202020204" pitchFamily="34" charset="0"/>
              <a:buNone/>
            </a:pPr>
            <a:r>
              <a:rPr lang="en-US" sz="1400"/>
              <a:t>GPT-4 and GPT-5 excel in versatile general-purpose language tasks across multiple domains.</a:t>
            </a:r>
          </a:p>
          <a:p>
            <a:pPr marL="0" indent="0">
              <a:spcBef>
                <a:spcPts val="2500"/>
              </a:spcBef>
              <a:spcAft>
                <a:spcPts val="600"/>
              </a:spcAft>
              <a:buFont typeface="Arial" panose="020B0604020202020204" pitchFamily="34" charset="0"/>
              <a:buNone/>
            </a:pPr>
            <a:r>
              <a:rPr lang="en-US" sz="1400" b="1"/>
              <a:t>Claude Model</a:t>
            </a:r>
          </a:p>
          <a:p>
            <a:pPr marL="0" lvl="1" indent="0">
              <a:spcBef>
                <a:spcPts val="1000"/>
              </a:spcBef>
              <a:spcAft>
                <a:spcPts val="600"/>
              </a:spcAft>
              <a:buFont typeface="Arial" panose="020B0604020202020204" pitchFamily="34" charset="0"/>
              <a:buNone/>
            </a:pPr>
            <a:r>
              <a:rPr lang="en-US" sz="1400"/>
              <a:t>Claude focuses on safety and ethical alignment, ideal for sensitive sectors like healthcare and law.</a:t>
            </a:r>
          </a:p>
          <a:p>
            <a:pPr marL="0" indent="0">
              <a:spcBef>
                <a:spcPts val="2500"/>
              </a:spcBef>
              <a:spcAft>
                <a:spcPts val="600"/>
              </a:spcAft>
              <a:buFont typeface="Arial" panose="020B0604020202020204" pitchFamily="34" charset="0"/>
              <a:buNone/>
            </a:pPr>
            <a:r>
              <a:rPr lang="en-US" sz="1400" b="1"/>
              <a:t>Gemini Capabilities</a:t>
            </a:r>
          </a:p>
          <a:p>
            <a:pPr marL="0" lvl="1" indent="0">
              <a:spcBef>
                <a:spcPts val="1000"/>
              </a:spcBef>
              <a:spcAft>
                <a:spcPts val="600"/>
              </a:spcAft>
              <a:buFont typeface="Arial" panose="020B0604020202020204" pitchFamily="34" charset="0"/>
              <a:buNone/>
            </a:pPr>
            <a:r>
              <a:rPr lang="en-US" sz="1400"/>
              <a:t>Gemini integrates multimodal inputs, handling text, images, and audio seamlessly.</a:t>
            </a:r>
          </a:p>
          <a:p>
            <a:pPr marL="0" indent="0">
              <a:spcBef>
                <a:spcPts val="2500"/>
              </a:spcBef>
              <a:spcAft>
                <a:spcPts val="600"/>
              </a:spcAft>
              <a:buFont typeface="Arial" panose="020B0604020202020204" pitchFamily="34" charset="0"/>
              <a:buNone/>
            </a:pPr>
            <a:r>
              <a:rPr lang="en-US" sz="1400" b="1"/>
              <a:t>LLaMA Models</a:t>
            </a:r>
          </a:p>
          <a:p>
            <a:pPr marL="0" lvl="1" indent="0">
              <a:spcBef>
                <a:spcPts val="1000"/>
              </a:spcBef>
              <a:spcAft>
                <a:spcPts val="600"/>
              </a:spcAft>
              <a:buFont typeface="Arial" panose="020B0604020202020204" pitchFamily="34" charset="0"/>
              <a:buNone/>
            </a:pPr>
            <a:r>
              <a:rPr lang="en-US" sz="1400"/>
              <a:t>Meta’s LLaMA models are open-source, widely used in research for customizable AI solutions.</a:t>
            </a:r>
          </a:p>
        </p:txBody>
      </p:sp>
    </p:spTree>
    <p:extLst>
      <p:ext uri="{BB962C8B-B14F-4D97-AF65-F5344CB8AC3E}">
        <p14:creationId xmlns:p14="http://schemas.microsoft.com/office/powerpoint/2010/main" val="832974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A988-2060-ED35-8507-25ADC64FB9D3}"/>
              </a:ext>
            </a:extLst>
          </p:cNvPr>
          <p:cNvSpPr>
            <a:spLocks noGrp="1"/>
          </p:cNvSpPr>
          <p:nvPr>
            <p:ph type="title"/>
          </p:nvPr>
        </p:nvSpPr>
        <p:spPr>
          <a:xfrm>
            <a:off x="8212663" y="583413"/>
            <a:ext cx="3401568" cy="1527048"/>
          </a:xfrm>
        </p:spPr>
        <p:txBody>
          <a:bodyPr vert="horz" lIns="91440" tIns="45720" rIns="91440" bIns="45720" rtlCol="0" anchor="b">
            <a:normAutofit/>
          </a:bodyPr>
          <a:lstStyle/>
          <a:p>
            <a:r>
              <a:rPr lang="en-US" sz="2500" b="1" kern="1200">
                <a:latin typeface="+mj-lt"/>
                <a:ea typeface="+mj-ea"/>
                <a:cs typeface="+mj-cs"/>
              </a:rPr>
              <a:t>Enter RAG – Retrieval-Augmented Generation</a:t>
            </a:r>
          </a:p>
        </p:txBody>
      </p:sp>
      <p:pic>
        <p:nvPicPr>
          <p:cNvPr id="4" name="Content Placeholder 3" descr="close up Artificial Intelligence technology brain for backgrounds">
            <a:extLst>
              <a:ext uri="{FF2B5EF4-FFF2-40B4-BE49-F238E27FC236}">
                <a16:creationId xmlns:a16="http://schemas.microsoft.com/office/drawing/2014/main" id="{0438A44F-0ACF-432E-BA9E-F8911CFD0B52}"/>
              </a:ext>
            </a:extLst>
          </p:cNvPr>
          <p:cNvPicPr>
            <a:picLocks noGrp="1" noChangeAspect="1"/>
          </p:cNvPicPr>
          <p:nvPr>
            <p:ph type="pic" sz="quarter" idx="13"/>
          </p:nvPr>
        </p:nvPicPr>
        <p:blipFill>
          <a:blip r:embed="rId3"/>
          <a:srcRect l="10188" r="15993" b="-1"/>
          <a:stretch>
            <a:fillRect/>
          </a:stretch>
        </p:blipFill>
        <p:spPr>
          <a:xfrm>
            <a:off x="20" y="10"/>
            <a:ext cx="7584124" cy="6857990"/>
          </a:xfrm>
          <a:prstGeom prst="rect">
            <a:avLst/>
          </a:prstGeom>
          <a:noFill/>
        </p:spPr>
      </p:pic>
      <p:sp>
        <p:nvSpPr>
          <p:cNvPr id="5" name="TextBox 4">
            <a:extLst>
              <a:ext uri="{FF2B5EF4-FFF2-40B4-BE49-F238E27FC236}">
                <a16:creationId xmlns:a16="http://schemas.microsoft.com/office/drawing/2014/main" id="{B5B27D0F-6269-4EFA-8AAE-DB33C4BD8AD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790" y="2212975"/>
            <a:ext cx="3401568" cy="409575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Integration with External Knowledge</a:t>
            </a:r>
          </a:p>
          <a:p>
            <a:pPr marL="0" lvl="1" indent="0">
              <a:spcBef>
                <a:spcPts val="1000"/>
              </a:spcBef>
              <a:spcAft>
                <a:spcPts val="600"/>
              </a:spcAft>
              <a:buFont typeface="Arial" panose="020B0604020202020204" pitchFamily="34" charset="0"/>
              <a:buNone/>
            </a:pPr>
            <a:r>
              <a:rPr lang="en-US" sz="1400"/>
              <a:t>RAG integrates external documents into large language models to enhance response accuracy with fresh data.</a:t>
            </a:r>
          </a:p>
          <a:p>
            <a:pPr marL="0" indent="0">
              <a:spcBef>
                <a:spcPts val="2500"/>
              </a:spcBef>
              <a:spcAft>
                <a:spcPts val="600"/>
              </a:spcAft>
              <a:buFont typeface="Arial" panose="020B0604020202020204" pitchFamily="34" charset="0"/>
              <a:buNone/>
            </a:pPr>
            <a:r>
              <a:rPr lang="en-US" sz="1400" b="1"/>
              <a:t>Real-Time Information Retrieval</a:t>
            </a:r>
          </a:p>
          <a:p>
            <a:pPr marL="0" lvl="1" indent="0">
              <a:spcBef>
                <a:spcPts val="1000"/>
              </a:spcBef>
              <a:spcAft>
                <a:spcPts val="600"/>
              </a:spcAft>
              <a:buFont typeface="Arial" panose="020B0604020202020204" pitchFamily="34" charset="0"/>
              <a:buNone/>
            </a:pPr>
            <a:r>
              <a:rPr lang="en-US" sz="1400"/>
              <a:t>RAG retrieves relevant information dynamically, reducing hallucinations by grounding answers in real-time data.</a:t>
            </a:r>
          </a:p>
          <a:p>
            <a:pPr marL="0" indent="0">
              <a:spcBef>
                <a:spcPts val="2500"/>
              </a:spcBef>
              <a:spcAft>
                <a:spcPts val="600"/>
              </a:spcAft>
              <a:buFont typeface="Arial" panose="020B0604020202020204" pitchFamily="34" charset="0"/>
              <a:buNone/>
            </a:pPr>
            <a:r>
              <a:rPr lang="en-US" sz="1400" b="1"/>
              <a:t>Enterprise Application Benefits</a:t>
            </a:r>
          </a:p>
          <a:p>
            <a:pPr marL="0" lvl="1" indent="0">
              <a:spcBef>
                <a:spcPts val="1000"/>
              </a:spcBef>
              <a:spcAft>
                <a:spcPts val="600"/>
              </a:spcAft>
              <a:buFont typeface="Arial" panose="020B0604020202020204" pitchFamily="34" charset="0"/>
              <a:buNone/>
            </a:pPr>
            <a:r>
              <a:rPr lang="en-US" sz="1400"/>
              <a:t>RAG supports enterprise needs by providing up-to-date, domain-specific knowledge improving decision-making.</a:t>
            </a:r>
          </a:p>
        </p:txBody>
      </p:sp>
    </p:spTree>
    <p:extLst>
      <p:ext uri="{BB962C8B-B14F-4D97-AF65-F5344CB8AC3E}">
        <p14:creationId xmlns:p14="http://schemas.microsoft.com/office/powerpoint/2010/main" val="598679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A9EC-F1B8-D564-02F9-03403C433B6D}"/>
              </a:ext>
            </a:extLst>
          </p:cNvPr>
          <p:cNvSpPr>
            <a:spLocks noGrp="1"/>
          </p:cNvSpPr>
          <p:nvPr>
            <p:ph type="ctrTitle"/>
          </p:nvPr>
        </p:nvSpPr>
        <p:spPr>
          <a:xfrm>
            <a:off x="274320" y="1801368"/>
            <a:ext cx="7772400" cy="4572000"/>
          </a:xfrm>
        </p:spPr>
        <p:txBody>
          <a:bodyPr anchor="b">
            <a:normAutofit/>
          </a:bodyPr>
          <a:lstStyle/>
          <a:p>
            <a:r>
              <a:rPr lang="en-US"/>
              <a:t>RAG Workflow and Applications</a:t>
            </a:r>
          </a:p>
        </p:txBody>
      </p:sp>
    </p:spTree>
    <p:extLst>
      <p:ext uri="{BB962C8B-B14F-4D97-AF65-F5344CB8AC3E}">
        <p14:creationId xmlns:p14="http://schemas.microsoft.com/office/powerpoint/2010/main" val="3257317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0232E-ABDA-970F-C952-6F5395934CB2}"/>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n-US" b="1" kern="1200">
                <a:latin typeface="+mj-lt"/>
                <a:ea typeface="+mj-ea"/>
                <a:cs typeface="+mj-cs"/>
              </a:rPr>
              <a:t>How RAG Works</a:t>
            </a:r>
          </a:p>
        </p:txBody>
      </p:sp>
      <p:sp>
        <p:nvSpPr>
          <p:cNvPr id="5" name="TextBox 4">
            <a:extLst>
              <a:ext uri="{FF2B5EF4-FFF2-40B4-BE49-F238E27FC236}">
                <a16:creationId xmlns:a16="http://schemas.microsoft.com/office/drawing/2014/main" id="{00E76969-2F91-4DB7-BF18-D79EDD69B0C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User Query Submission</a:t>
            </a:r>
          </a:p>
          <a:p>
            <a:pPr marL="0" lvl="1" indent="0">
              <a:spcBef>
                <a:spcPts val="1000"/>
              </a:spcBef>
              <a:spcAft>
                <a:spcPts val="600"/>
              </a:spcAft>
              <a:buFont typeface="Arial" panose="020B0604020202020204" pitchFamily="34" charset="0"/>
              <a:buNone/>
            </a:pPr>
            <a:r>
              <a:rPr lang="en-US" sz="1400"/>
              <a:t>The process begins when a user submits a query to the system for information retrieval.</a:t>
            </a:r>
          </a:p>
          <a:p>
            <a:pPr marL="0" indent="0">
              <a:spcBef>
                <a:spcPts val="2500"/>
              </a:spcBef>
              <a:spcAft>
                <a:spcPts val="600"/>
              </a:spcAft>
              <a:buFont typeface="Arial" panose="020B0604020202020204" pitchFamily="34" charset="0"/>
              <a:buNone/>
            </a:pPr>
            <a:r>
              <a:rPr lang="en-US" sz="1400" b="1"/>
              <a:t>Document Retrieval</a:t>
            </a:r>
          </a:p>
          <a:p>
            <a:pPr marL="0" lvl="1" indent="0">
              <a:spcBef>
                <a:spcPts val="1000"/>
              </a:spcBef>
              <a:spcAft>
                <a:spcPts val="600"/>
              </a:spcAft>
              <a:buFont typeface="Arial" panose="020B0604020202020204" pitchFamily="34" charset="0"/>
              <a:buNone/>
            </a:pPr>
            <a:r>
              <a:rPr lang="en-US" sz="1400"/>
              <a:t>A retriever searches the knowledge base to find relevant documents related to the user query.</a:t>
            </a:r>
          </a:p>
          <a:p>
            <a:pPr marL="0" indent="0">
              <a:spcBef>
                <a:spcPts val="2500"/>
              </a:spcBef>
              <a:spcAft>
                <a:spcPts val="600"/>
              </a:spcAft>
              <a:buFont typeface="Arial" panose="020B0604020202020204" pitchFamily="34" charset="0"/>
              <a:buNone/>
            </a:pPr>
            <a:r>
              <a:rPr lang="en-US" sz="1400" b="1"/>
              <a:t>LLM Response Generation</a:t>
            </a:r>
          </a:p>
          <a:p>
            <a:pPr marL="0" lvl="1" indent="0">
              <a:spcBef>
                <a:spcPts val="1000"/>
              </a:spcBef>
              <a:spcAft>
                <a:spcPts val="600"/>
              </a:spcAft>
              <a:buFont typeface="Arial" panose="020B0604020202020204" pitchFamily="34" charset="0"/>
              <a:buNone/>
            </a:pPr>
            <a:r>
              <a:rPr lang="en-US" sz="1400"/>
              <a:t>The language model uses retrieved documents to generate accurate and contextually grounded responses.</a:t>
            </a:r>
          </a:p>
          <a:p>
            <a:pPr marL="0" indent="0">
              <a:spcBef>
                <a:spcPts val="2500"/>
              </a:spcBef>
              <a:spcAft>
                <a:spcPts val="600"/>
              </a:spcAft>
              <a:buFont typeface="Arial" panose="020B0604020202020204" pitchFamily="34" charset="0"/>
              <a:buNone/>
            </a:pPr>
            <a:r>
              <a:rPr lang="en-US" sz="1400" b="1"/>
              <a:t>Contextual and Accurate Output</a:t>
            </a:r>
          </a:p>
          <a:p>
            <a:pPr marL="0" lvl="1" indent="0">
              <a:spcBef>
                <a:spcPts val="1000"/>
              </a:spcBef>
              <a:spcAft>
                <a:spcPts val="600"/>
              </a:spcAft>
              <a:buFont typeface="Arial" panose="020B0604020202020204" pitchFamily="34" charset="0"/>
              <a:buNone/>
            </a:pPr>
            <a:r>
              <a:rPr lang="en-US" sz="1400"/>
              <a:t>RAG delivers reliable answers based on updated, specific information, improving factual precision.</a:t>
            </a:r>
          </a:p>
        </p:txBody>
      </p:sp>
      <p:pic>
        <p:nvPicPr>
          <p:cNvPr id="4" name="Content Placeholder 3" descr="3d illustration">
            <a:extLst>
              <a:ext uri="{FF2B5EF4-FFF2-40B4-BE49-F238E27FC236}">
                <a16:creationId xmlns:a16="http://schemas.microsoft.com/office/drawing/2014/main" id="{26FAE302-0A5C-401F-A9DD-C486215CA6E1}"/>
              </a:ext>
            </a:extLst>
          </p:cNvPr>
          <p:cNvPicPr>
            <a:picLocks noGrp="1" noChangeAspect="1"/>
          </p:cNvPicPr>
          <p:nvPr>
            <p:ph type="pic" sz="quarter" idx="13"/>
          </p:nvPr>
        </p:nvPicPr>
        <p:blipFill>
          <a:blip r:embed="rId3"/>
          <a:srcRect l="12999" r="27213"/>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054717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diagram of a computer process&#10;&#10;AI-generated content may be incorrect.">
            <a:extLst>
              <a:ext uri="{FF2B5EF4-FFF2-40B4-BE49-F238E27FC236}">
                <a16:creationId xmlns:a16="http://schemas.microsoft.com/office/drawing/2014/main" id="{3C2816E0-B249-8F20-26ED-0010EDF5C77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1329"/>
          <a:stretch>
            <a:fillRect/>
          </a:stretch>
        </p:blipFill>
        <p:spPr>
          <a:xfrm>
            <a:off x="20" y="10"/>
            <a:ext cx="12191980" cy="6857990"/>
          </a:xfrm>
          <a:noFill/>
        </p:spPr>
      </p:pic>
    </p:spTree>
    <p:extLst>
      <p:ext uri="{BB962C8B-B14F-4D97-AF65-F5344CB8AC3E}">
        <p14:creationId xmlns:p14="http://schemas.microsoft.com/office/powerpoint/2010/main" val="3340609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26ED1-2192-2FCD-AA87-D9DDDD050F46}"/>
              </a:ext>
            </a:extLst>
          </p:cNvPr>
          <p:cNvSpPr>
            <a:spLocks noGrp="1"/>
          </p:cNvSpPr>
          <p:nvPr>
            <p:ph type="title"/>
          </p:nvPr>
        </p:nvSpPr>
        <p:spPr>
          <a:xfrm>
            <a:off x="612648" y="548639"/>
            <a:ext cx="4672584" cy="1453896"/>
          </a:xfrm>
        </p:spPr>
        <p:txBody>
          <a:bodyPr vert="horz" lIns="91440" tIns="45720" rIns="91440" bIns="45720" rtlCol="0" anchor="t">
            <a:normAutofit/>
          </a:bodyPr>
          <a:lstStyle/>
          <a:p>
            <a:r>
              <a:rPr lang="en-US" b="1" kern="1200">
                <a:latin typeface="+mj-lt"/>
                <a:ea typeface="+mj-ea"/>
                <a:cs typeface="+mj-cs"/>
              </a:rPr>
              <a:t>RAG Use Cases</a:t>
            </a:r>
          </a:p>
        </p:txBody>
      </p:sp>
      <p:pic>
        <p:nvPicPr>
          <p:cNvPr id="4" name="Content Placeholder 3" descr="fourth industrial revolution technology concept">
            <a:extLst>
              <a:ext uri="{FF2B5EF4-FFF2-40B4-BE49-F238E27FC236}">
                <a16:creationId xmlns:a16="http://schemas.microsoft.com/office/drawing/2014/main" id="{A61409A1-D562-48F2-9D4E-118D3BC72444}"/>
              </a:ext>
            </a:extLst>
          </p:cNvPr>
          <p:cNvPicPr>
            <a:picLocks noGrp="1" noChangeAspect="1"/>
          </p:cNvPicPr>
          <p:nvPr>
            <p:ph type="pic" sz="quarter" idx="13"/>
          </p:nvPr>
        </p:nvPicPr>
        <p:blipFill>
          <a:blip r:embed="rId3"/>
          <a:srcRect l="12251" r="22718" b="1"/>
          <a:stretch>
            <a:fillRect/>
          </a:stretch>
        </p:blipFill>
        <p:spPr>
          <a:xfrm>
            <a:off x="612648" y="2290890"/>
            <a:ext cx="4672584" cy="4041648"/>
          </a:xfrm>
          <a:prstGeom prst="rect">
            <a:avLst/>
          </a:prstGeom>
          <a:noFill/>
        </p:spPr>
      </p:pic>
      <p:sp>
        <p:nvSpPr>
          <p:cNvPr id="5" name="TextBox 4">
            <a:extLst>
              <a:ext uri="{FF2B5EF4-FFF2-40B4-BE49-F238E27FC236}">
                <a16:creationId xmlns:a16="http://schemas.microsoft.com/office/drawing/2014/main" id="{794DE0A0-4042-47F8-97E5-02D28A394D97}"/>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Internal Knowledge Bots</a:t>
            </a:r>
          </a:p>
          <a:p>
            <a:pPr marL="0" lvl="1" indent="0">
              <a:spcBef>
                <a:spcPts val="1000"/>
              </a:spcBef>
              <a:spcAft>
                <a:spcPts val="600"/>
              </a:spcAft>
              <a:buFont typeface="Arial" panose="020B0604020202020204" pitchFamily="34" charset="0"/>
              <a:buNone/>
            </a:pPr>
            <a:r>
              <a:rPr lang="en-US" sz="1400"/>
              <a:t>RAG enables internal bots to answer employee questions using company documents efficiently.</a:t>
            </a:r>
          </a:p>
          <a:p>
            <a:pPr marL="0" indent="0">
              <a:spcBef>
                <a:spcPts val="2500"/>
              </a:spcBef>
              <a:spcAft>
                <a:spcPts val="600"/>
              </a:spcAft>
              <a:buFont typeface="Arial" panose="020B0604020202020204" pitchFamily="34" charset="0"/>
              <a:buNone/>
            </a:pPr>
            <a:r>
              <a:rPr lang="en-US" sz="1400" b="1"/>
              <a:t>Customer Support Systems</a:t>
            </a:r>
          </a:p>
          <a:p>
            <a:pPr marL="0" lvl="1" indent="0">
              <a:spcBef>
                <a:spcPts val="1000"/>
              </a:spcBef>
              <a:spcAft>
                <a:spcPts val="600"/>
              </a:spcAft>
              <a:buFont typeface="Arial" panose="020B0604020202020204" pitchFamily="34" charset="0"/>
              <a:buNone/>
            </a:pPr>
            <a:r>
              <a:rPr lang="en-US" sz="1400"/>
              <a:t>RAG enhances customer service by providing precise answers from product manuals.</a:t>
            </a:r>
          </a:p>
          <a:p>
            <a:pPr marL="0" indent="0">
              <a:spcBef>
                <a:spcPts val="2500"/>
              </a:spcBef>
              <a:spcAft>
                <a:spcPts val="600"/>
              </a:spcAft>
              <a:buFont typeface="Arial" panose="020B0604020202020204" pitchFamily="34" charset="0"/>
              <a:buNone/>
            </a:pPr>
            <a:r>
              <a:rPr lang="en-US" sz="1400" b="1"/>
              <a:t>Academic Research Assistance</a:t>
            </a:r>
          </a:p>
          <a:p>
            <a:pPr marL="0" lvl="1" indent="0">
              <a:spcBef>
                <a:spcPts val="1000"/>
              </a:spcBef>
              <a:spcAft>
                <a:spcPts val="600"/>
              </a:spcAft>
              <a:buFont typeface="Arial" panose="020B0604020202020204" pitchFamily="34" charset="0"/>
              <a:buNone/>
            </a:pPr>
            <a:r>
              <a:rPr lang="en-US" sz="1400"/>
              <a:t>Research assistants use RAG to summarize and analyze scholarly articles effectively.</a:t>
            </a:r>
          </a:p>
          <a:p>
            <a:pPr marL="0" indent="0">
              <a:spcBef>
                <a:spcPts val="2500"/>
              </a:spcBef>
              <a:spcAft>
                <a:spcPts val="600"/>
              </a:spcAft>
              <a:buFont typeface="Arial" panose="020B0604020202020204" pitchFamily="34" charset="0"/>
              <a:buNone/>
            </a:pPr>
            <a:r>
              <a:rPr lang="en-US" sz="1400" b="1"/>
              <a:t>Enterprise Search Enhancement</a:t>
            </a:r>
          </a:p>
          <a:p>
            <a:pPr marL="0" lvl="1" indent="0">
              <a:spcBef>
                <a:spcPts val="1000"/>
              </a:spcBef>
              <a:spcAft>
                <a:spcPts val="600"/>
              </a:spcAft>
              <a:buFont typeface="Arial" panose="020B0604020202020204" pitchFamily="34" charset="0"/>
              <a:buNone/>
            </a:pPr>
            <a:r>
              <a:rPr lang="en-US" sz="1400"/>
              <a:t>RAG merges large language models with structured data to improve business decision-making.</a:t>
            </a:r>
          </a:p>
        </p:txBody>
      </p:sp>
    </p:spTree>
    <p:extLst>
      <p:ext uri="{BB962C8B-B14F-4D97-AF65-F5344CB8AC3E}">
        <p14:creationId xmlns:p14="http://schemas.microsoft.com/office/powerpoint/2010/main" val="3094705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AD04-80C1-2E32-2849-55BD0649327D}"/>
              </a:ext>
            </a:extLst>
          </p:cNvPr>
          <p:cNvSpPr>
            <a:spLocks noGrp="1"/>
          </p:cNvSpPr>
          <p:nvPr>
            <p:ph type="ctrTitle"/>
          </p:nvPr>
        </p:nvSpPr>
        <p:spPr>
          <a:xfrm>
            <a:off x="274320" y="1801368"/>
            <a:ext cx="7772400" cy="4572000"/>
          </a:xfrm>
        </p:spPr>
        <p:txBody>
          <a:bodyPr anchor="b">
            <a:normAutofit/>
          </a:bodyPr>
          <a:lstStyle/>
          <a:p>
            <a:r>
              <a:rPr lang="en-US"/>
              <a:t>Conclusion</a:t>
            </a:r>
          </a:p>
        </p:txBody>
      </p:sp>
    </p:spTree>
    <p:extLst>
      <p:ext uri="{BB962C8B-B14F-4D97-AF65-F5344CB8AC3E}">
        <p14:creationId xmlns:p14="http://schemas.microsoft.com/office/powerpoint/2010/main" val="23567572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9817-5D8B-F11D-1547-828E0442BF45}"/>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n-US" b="1" kern="1200">
                <a:latin typeface="+mj-lt"/>
                <a:ea typeface="+mj-ea"/>
                <a:cs typeface="+mj-cs"/>
              </a:rPr>
              <a:t>Summary</a:t>
            </a:r>
          </a:p>
        </p:txBody>
      </p:sp>
      <p:sp>
        <p:nvSpPr>
          <p:cNvPr id="5" name="TextBox 4">
            <a:extLst>
              <a:ext uri="{FF2B5EF4-FFF2-40B4-BE49-F238E27FC236}">
                <a16:creationId xmlns:a16="http://schemas.microsoft.com/office/drawing/2014/main" id="{62168B01-C90F-4841-A845-E944C364EB3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Transformative AI Tools</a:t>
            </a:r>
          </a:p>
          <a:p>
            <a:pPr marL="0" lvl="1" indent="0">
              <a:spcBef>
                <a:spcPts val="1000"/>
              </a:spcBef>
              <a:spcAft>
                <a:spcPts val="600"/>
              </a:spcAft>
              <a:buFont typeface="Arial" panose="020B0604020202020204" pitchFamily="34" charset="0"/>
              <a:buNone/>
            </a:pPr>
            <a:r>
              <a:rPr lang="en-US" sz="1400"/>
              <a:t>Large Language Models enable advanced language understanding and generation, transforming AI capabilities across fields.</a:t>
            </a:r>
          </a:p>
          <a:p>
            <a:pPr marL="0" indent="0">
              <a:spcBef>
                <a:spcPts val="2500"/>
              </a:spcBef>
              <a:spcAft>
                <a:spcPts val="600"/>
              </a:spcAft>
              <a:buFont typeface="Arial" panose="020B0604020202020204" pitchFamily="34" charset="0"/>
              <a:buNone/>
            </a:pPr>
            <a:r>
              <a:rPr lang="en-US" sz="1400" b="1"/>
              <a:t>Transformer Architecture</a:t>
            </a:r>
          </a:p>
          <a:p>
            <a:pPr marL="0" lvl="1" indent="0">
              <a:spcBef>
                <a:spcPts val="1000"/>
              </a:spcBef>
              <a:spcAft>
                <a:spcPts val="600"/>
              </a:spcAft>
              <a:buFont typeface="Arial" panose="020B0604020202020204" pitchFamily="34" charset="0"/>
              <a:buNone/>
            </a:pPr>
            <a:r>
              <a:rPr lang="en-US" sz="1400"/>
              <a:t>LLMs are built on Transformer architecture and sophisticated training processes that enhance their performance.</a:t>
            </a:r>
          </a:p>
          <a:p>
            <a:pPr marL="0" indent="0">
              <a:spcBef>
                <a:spcPts val="2500"/>
              </a:spcBef>
              <a:spcAft>
                <a:spcPts val="600"/>
              </a:spcAft>
              <a:buFont typeface="Arial" panose="020B0604020202020204" pitchFamily="34" charset="0"/>
              <a:buNone/>
            </a:pPr>
            <a:r>
              <a:rPr lang="en-US" sz="1400" b="1"/>
              <a:t>Retrieval-Augmented Generation</a:t>
            </a:r>
          </a:p>
          <a:p>
            <a:pPr marL="0" lvl="1" indent="0">
              <a:spcBef>
                <a:spcPts val="1000"/>
              </a:spcBef>
              <a:spcAft>
                <a:spcPts val="600"/>
              </a:spcAft>
              <a:buFont typeface="Arial" panose="020B0604020202020204" pitchFamily="34" charset="0"/>
              <a:buNone/>
            </a:pPr>
            <a:r>
              <a:rPr lang="en-US" sz="1400"/>
              <a:t>RAG improves LLMs by grounding responses in real data, addressing limitations of standalone language models.</a:t>
            </a:r>
          </a:p>
          <a:p>
            <a:pPr marL="0" indent="0">
              <a:spcBef>
                <a:spcPts val="2500"/>
              </a:spcBef>
              <a:spcAft>
                <a:spcPts val="600"/>
              </a:spcAft>
              <a:buFont typeface="Arial" panose="020B0604020202020204" pitchFamily="34" charset="0"/>
              <a:buNone/>
            </a:pPr>
            <a:r>
              <a:rPr lang="en-US" sz="1400" b="1"/>
              <a:t>Future of AI Systems</a:t>
            </a:r>
          </a:p>
          <a:p>
            <a:pPr marL="0" lvl="1" indent="0">
              <a:spcBef>
                <a:spcPts val="1000"/>
              </a:spcBef>
              <a:spcAft>
                <a:spcPts val="600"/>
              </a:spcAft>
              <a:buFont typeface="Arial" panose="020B0604020202020204" pitchFamily="34" charset="0"/>
              <a:buNone/>
            </a:pPr>
            <a:r>
              <a:rPr lang="en-US" sz="1400"/>
              <a:t>LLMs combined with RAG represent the future of intelligent, context-aware AI with broad industrial applications.</a:t>
            </a:r>
          </a:p>
        </p:txBody>
      </p:sp>
      <p:pic>
        <p:nvPicPr>
          <p:cNvPr id="4" name="Content Placeholder 3" descr="4K Resolution, 5G, Big Data, Bitcoin, Blockchain">
            <a:extLst>
              <a:ext uri="{FF2B5EF4-FFF2-40B4-BE49-F238E27FC236}">
                <a16:creationId xmlns:a16="http://schemas.microsoft.com/office/drawing/2014/main" id="{D1CD634E-5969-411E-97CA-5440CA9161EC}"/>
              </a:ext>
            </a:extLst>
          </p:cNvPr>
          <p:cNvPicPr>
            <a:picLocks noGrp="1" noChangeAspect="1"/>
          </p:cNvPicPr>
          <p:nvPr>
            <p:ph type="pic" sz="quarter" idx="13"/>
          </p:nvPr>
        </p:nvPicPr>
        <p:blipFill>
          <a:blip r:embed="rId3"/>
          <a:srcRect l="29422" r="36947"/>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2835622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2132</Words>
  <Application>Microsoft Office PowerPoint</Application>
  <PresentationFormat>Widescreen</PresentationFormat>
  <Paragraphs>158</Paragraphs>
  <Slides>25</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Neue Haas Grotesk Text Pro</vt:lpstr>
      <vt:lpstr>Helena</vt:lpstr>
      <vt:lpstr>Large Language Models (LLMs) and Retrieval-Augmented Generation (RAG)</vt:lpstr>
      <vt:lpstr>Introduction to LLMs</vt:lpstr>
      <vt:lpstr>Large Language Models (LLMs)</vt:lpstr>
      <vt:lpstr>PowerPoint Presentation</vt:lpstr>
      <vt:lpstr>Why LLMs Matter</vt:lpstr>
      <vt:lpstr>PowerPoint Presentation</vt:lpstr>
      <vt:lpstr>LLMs and their Parameters</vt:lpstr>
      <vt:lpstr>Technical Foundations</vt:lpstr>
      <vt:lpstr>Transformer Architecture</vt:lpstr>
      <vt:lpstr>The Transformer Architecture: The Building Block </vt:lpstr>
      <vt:lpstr>Training LLMs</vt:lpstr>
      <vt:lpstr>Capabilities and Limitations</vt:lpstr>
      <vt:lpstr>Capabilities of LLMs</vt:lpstr>
      <vt:lpstr>Tricked AI</vt:lpstr>
      <vt:lpstr>Limitation</vt:lpstr>
      <vt:lpstr>Limitations of LLMs</vt:lpstr>
      <vt:lpstr>Popular Models and Enhancements</vt:lpstr>
      <vt:lpstr>Popular LLMs</vt:lpstr>
      <vt:lpstr>Enter RAG – Retrieval-Augmented Generation</vt:lpstr>
      <vt:lpstr>RAG Workflow and Applications</vt:lpstr>
      <vt:lpstr>How RAG Works</vt:lpstr>
      <vt:lpstr>PowerPoint Presentation</vt:lpstr>
      <vt:lpstr>RAG Use Cases</vt:lpstr>
      <vt:lpstr>Conclusion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Zaid Khan, Vodafone</dc:creator>
  <cp:lastModifiedBy>Zaid Khan, Vodafone</cp:lastModifiedBy>
  <cp:revision>6</cp:revision>
  <dcterms:created xsi:type="dcterms:W3CDTF">2025-09-02T06:58:51Z</dcterms:created>
  <dcterms:modified xsi:type="dcterms:W3CDTF">2025-09-09T06:52:07Z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59f705-2ba0-454b-9cfc-6ce5bcaac040_Enabled">
    <vt:lpwstr>true</vt:lpwstr>
  </property>
  <property fmtid="{D5CDD505-2E9C-101B-9397-08002B2CF9AE}" pid="3" name="MSIP_Label_0359f705-2ba0-454b-9cfc-6ce5bcaac040_SetDate">
    <vt:lpwstr>2025-09-02T06:59:20Z</vt:lpwstr>
  </property>
  <property fmtid="{D5CDD505-2E9C-101B-9397-08002B2CF9AE}" pid="4" name="MSIP_Label_0359f705-2ba0-454b-9cfc-6ce5bcaac040_Method">
    <vt:lpwstr>Standard</vt:lpwstr>
  </property>
  <property fmtid="{D5CDD505-2E9C-101B-9397-08002B2CF9AE}" pid="5" name="MSIP_Label_0359f705-2ba0-454b-9cfc-6ce5bcaac040_Name">
    <vt:lpwstr>0359f705-2ba0-454b-9cfc-6ce5bcaac040</vt:lpwstr>
  </property>
  <property fmtid="{D5CDD505-2E9C-101B-9397-08002B2CF9AE}" pid="6" name="MSIP_Label_0359f705-2ba0-454b-9cfc-6ce5bcaac040_SiteId">
    <vt:lpwstr>68283f3b-8487-4c86-adb3-a5228f18b893</vt:lpwstr>
  </property>
  <property fmtid="{D5CDD505-2E9C-101B-9397-08002B2CF9AE}" pid="7" name="MSIP_Label_0359f705-2ba0-454b-9cfc-6ce5bcaac040_ActionId">
    <vt:lpwstr>f40ce026-2d73-4bb2-89ed-065c88d0c828</vt:lpwstr>
  </property>
  <property fmtid="{D5CDD505-2E9C-101B-9397-08002B2CF9AE}" pid="8" name="MSIP_Label_0359f705-2ba0-454b-9cfc-6ce5bcaac040_ContentBits">
    <vt:lpwstr>2</vt:lpwstr>
  </property>
  <property fmtid="{D5CDD505-2E9C-101B-9397-08002B2CF9AE}" pid="9" name="MSIP_Label_0359f705-2ba0-454b-9cfc-6ce5bcaac040_Tag">
    <vt:lpwstr>10, 3, 0, 2</vt:lpwstr>
  </property>
  <property fmtid="{D5CDD505-2E9C-101B-9397-08002B2CF9AE}" pid="10" name="ClassificationContentMarkingFooterLocations">
    <vt:lpwstr>Helena:8</vt:lpwstr>
  </property>
  <property fmtid="{D5CDD505-2E9C-101B-9397-08002B2CF9AE}" pid="11" name="ClassificationContentMarkingFooterText">
    <vt:lpwstr>C2 General</vt:lpwstr>
  </property>
</Properties>
</file>