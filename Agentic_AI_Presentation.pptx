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1" r:id="rId2"/>
    <p:sldId id="2581" r:id="rId3"/>
    <p:sldId id="2588" r:id="rId4"/>
    <p:sldId id="2563" r:id="rId5"/>
    <p:sldId id="2590" r:id="rId6"/>
    <p:sldId id="2592" r:id="rId7"/>
    <p:sldId id="2591" r:id="rId8"/>
    <p:sldId id="2562" r:id="rId9"/>
    <p:sldId id="2586" r:id="rId10"/>
    <p:sldId id="2587" r:id="rId11"/>
    <p:sldId id="2564" r:id="rId12"/>
    <p:sldId id="2565" r:id="rId13"/>
    <p:sldId id="2566" r:id="rId14"/>
    <p:sldId id="256" r:id="rId15"/>
    <p:sldId id="2568" r:id="rId16"/>
    <p:sldId id="2569" r:id="rId17"/>
    <p:sldId id="2589" r:id="rId18"/>
    <p:sldId id="2593" r:id="rId19"/>
    <p:sldId id="2570" r:id="rId20"/>
    <p:sldId id="2571" r:id="rId21"/>
    <p:sldId id="2572" r:id="rId22"/>
    <p:sldId id="2573" r:id="rId23"/>
    <p:sldId id="2574" r:id="rId24"/>
    <p:sldId id="2575" r:id="rId25"/>
    <p:sldId id="2576" r:id="rId26"/>
    <p:sldId id="2577" r:id="rId27"/>
    <p:sldId id="2578" r:id="rId28"/>
    <p:sldId id="25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tic AI: The Next Evolution Beyond LLMs" id="{E9541E59-6305-4E78-8B69-6B7A0F040947}">
          <p14:sldIdLst>
            <p14:sldId id="2561"/>
            <p14:sldId id="2581"/>
            <p14:sldId id="2588"/>
            <p14:sldId id="2563"/>
            <p14:sldId id="2590"/>
            <p14:sldId id="2592"/>
            <p14:sldId id="2591"/>
          </p14:sldIdLst>
        </p14:section>
        <p14:section name="Introduction to Agentic AI" id="{638A365C-C070-4403-A052-9ECC6391329E}">
          <p14:sldIdLst>
            <p14:sldId id="2562"/>
            <p14:sldId id="2586"/>
            <p14:sldId id="2587"/>
            <p14:sldId id="2564"/>
          </p14:sldIdLst>
        </p14:section>
        <p14:section name="Mechanics and Differentiation" id="{58D2717F-1CF6-484C-A7E2-BD104AA2FE1D}">
          <p14:sldIdLst>
            <p14:sldId id="2565"/>
            <p14:sldId id="2566"/>
            <p14:sldId id="256"/>
          </p14:sldIdLst>
        </p14:section>
        <p14:section name="Applications and Examples" id="{6F15DE5F-A473-404E-925D-6F21D6B35472}">
          <p14:sldIdLst>
            <p14:sldId id="2568"/>
            <p14:sldId id="2569"/>
            <p14:sldId id="2589"/>
            <p14:sldId id="2593"/>
            <p14:sldId id="2570"/>
          </p14:sldIdLst>
        </p14:section>
        <p14:section name="Building and Supporting Technologies" id="{406D720D-A369-43AF-B472-25E8DCE35439}">
          <p14:sldIdLst>
            <p14:sldId id="2571"/>
            <p14:sldId id="2572"/>
            <p14:sldId id="2573"/>
          </p14:sldIdLst>
        </p14:section>
        <p14:section name="Challenges and Future Outlook" id="{8878DA57-3826-44B1-B550-8718431E3A00}">
          <p14:sldIdLst>
            <p14:sldId id="2574"/>
            <p14:sldId id="2575"/>
            <p14:sldId id="2576"/>
          </p14:sldIdLst>
        </p14:section>
        <p14:section name="Conclusion and Call to Action" id="{F17D0B53-9341-4C13-8CEE-E9265A5FE189}">
          <p14:sldIdLst>
            <p14:sldId id="2577"/>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10A041-BB07-4A3E-A669-137496A26565}" v="22" dt="2025-09-04T05:46:16.3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9E4D0-5334-42EF-AB61-4969E0A0380A}" type="datetimeFigureOut">
              <a:t>9/4/2025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9835AB-F000-475F-82D7-2538429A5D0C}" type="slidenum">
              <a:t>‹#›</a:t>
            </a:fld>
            <a:endParaRPr lang="en-US"/>
          </a:p>
        </p:txBody>
      </p:sp>
    </p:spTree>
    <p:extLst>
      <p:ext uri="{BB962C8B-B14F-4D97-AF65-F5344CB8AC3E}">
        <p14:creationId xmlns:p14="http://schemas.microsoft.com/office/powerpoint/2010/main" val="33371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CCADFD1-52C1-4CFA-BF38-F646F4154DCB}" type="slidenum">
              <a:t>1</a:t>
            </a:fld>
            <a:endParaRPr lang="en-US"/>
          </a:p>
        </p:txBody>
      </p:sp>
    </p:spTree>
    <p:extLst>
      <p:ext uri="{BB962C8B-B14F-4D97-AF65-F5344CB8AC3E}">
        <p14:creationId xmlns:p14="http://schemas.microsoft.com/office/powerpoint/2010/main" val="4051549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Good [morning/afternoon], everyone. Today, we’ll explore Agentic AI — a powerful new evolution of AI that goes beyond just responding to prompts. We’ll cover what it is, how it works, real-time examples, tools you can use, limitations, and why it matters for us.</a:t>
            </a:r>
          </a:p>
        </p:txBody>
      </p:sp>
      <p:sp>
        <p:nvSpPr>
          <p:cNvPr id="4" name="Slide Number Placeholder 3"/>
          <p:cNvSpPr>
            <a:spLocks noGrp="1"/>
          </p:cNvSpPr>
          <p:nvPr>
            <p:ph type="sldNum" sz="quarter" idx="5"/>
          </p:nvPr>
        </p:nvSpPr>
        <p:spPr/>
        <p:txBody>
          <a:bodyPr/>
          <a:lstStyle/>
          <a:p>
            <a:fld id="{2CCADFD1-52C1-4CFA-BF38-F646F4154DCB}" type="slidenum">
              <a:t>4</a:t>
            </a:fld>
            <a:endParaRPr lang="en-US"/>
          </a:p>
        </p:txBody>
      </p:sp>
    </p:spTree>
    <p:extLst>
      <p:ext uri="{BB962C8B-B14F-4D97-AF65-F5344CB8AC3E}">
        <p14:creationId xmlns:p14="http://schemas.microsoft.com/office/powerpoint/2010/main" val="3762355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What is Agentic AI?</a:t>
            </a:r>
          </a:p>
        </p:txBody>
      </p:sp>
      <p:sp>
        <p:nvSpPr>
          <p:cNvPr id="4" name="Slide Number Placeholder 3"/>
          <p:cNvSpPr>
            <a:spLocks noGrp="1"/>
          </p:cNvSpPr>
          <p:nvPr>
            <p:ph type="sldNum" sz="quarter" idx="5"/>
          </p:nvPr>
        </p:nvSpPr>
        <p:spPr/>
        <p:txBody>
          <a:bodyPr/>
          <a:lstStyle/>
          <a:p>
            <a:fld id="{2CCADFD1-52C1-4CFA-BF38-F646F4154DCB}" type="slidenum">
              <a:t>8</a:t>
            </a:fld>
            <a:endParaRPr lang="en-US"/>
          </a:p>
        </p:txBody>
      </p:sp>
    </p:spTree>
    <p:extLst>
      <p:ext uri="{BB962C8B-B14F-4D97-AF65-F5344CB8AC3E}">
        <p14:creationId xmlns:p14="http://schemas.microsoft.com/office/powerpoint/2010/main" val="2470555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Agentic AI is an advanced form of artificial intelligence that transcends the traditional capabilities of chatbots and language models. Unlike conventional AI systems that merely respond to user prompts, Agentic AI possesses the ability to plan, make decisions, and take autonomous actions toward achieving specific goals. This evolution marks a significant shift in AI functionality, introducing initiative and goal-oriented behavior into machine intelligence. By integrating reasoning, planning, and action, Agentic AI transforms from a passive responder into an active participant in task execution. This capability allows it to operate more independently, making it a valuable asset in dynamic and complex environments where proactive problem-solving is essential.</a:t>
            </a:r>
          </a:p>
        </p:txBody>
      </p:sp>
      <p:sp>
        <p:nvSpPr>
          <p:cNvPr id="4" name="Slide Number Placeholder 3"/>
          <p:cNvSpPr>
            <a:spLocks noGrp="1"/>
          </p:cNvSpPr>
          <p:nvPr>
            <p:ph type="sldNum" sz="quarter" idx="5"/>
          </p:nvPr>
        </p:nvSpPr>
        <p:spPr/>
        <p:txBody>
          <a:bodyPr/>
          <a:lstStyle/>
          <a:p>
            <a:fld id="{2CCADFD1-52C1-4CFA-BF38-F646F4154DCB}" type="slidenum">
              <a:t>11</a:t>
            </a:fld>
            <a:endParaRPr lang="en-US"/>
          </a:p>
        </p:txBody>
      </p:sp>
    </p:spTree>
    <p:extLst>
      <p:ext uri="{BB962C8B-B14F-4D97-AF65-F5344CB8AC3E}">
        <p14:creationId xmlns:p14="http://schemas.microsoft.com/office/powerpoint/2010/main" val="3692244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It Works (High Level), Why It’s Different from LLMs</a:t>
            </a:r>
          </a:p>
        </p:txBody>
      </p:sp>
      <p:sp>
        <p:nvSpPr>
          <p:cNvPr id="4" name="Slide Number Placeholder 3"/>
          <p:cNvSpPr>
            <a:spLocks noGrp="1"/>
          </p:cNvSpPr>
          <p:nvPr>
            <p:ph type="sldNum" sz="quarter" idx="5"/>
          </p:nvPr>
        </p:nvSpPr>
        <p:spPr/>
        <p:txBody>
          <a:bodyPr/>
          <a:lstStyle/>
          <a:p>
            <a:fld id="{2CCADFD1-52C1-4CFA-BF38-F646F4154DCB}" type="slidenum">
              <a:t>12</a:t>
            </a:fld>
            <a:endParaRPr lang="en-US"/>
          </a:p>
        </p:txBody>
      </p:sp>
    </p:spTree>
    <p:extLst>
      <p:ext uri="{BB962C8B-B14F-4D97-AF65-F5344CB8AC3E}">
        <p14:creationId xmlns:p14="http://schemas.microsoft.com/office/powerpoint/2010/main" val="3448610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Agentic AI operates through a layered approach that includes reasoning, planning, and acting. The reasoning layer enables the AI to comprehend goals and deconstruct them into manageable steps. Planning involves selecting appropriate tools, data sources, and actions required to achieve the objectives. Finally, the acting layer executes these actions, learns from the outcomes, and refines future steps accordingly. This structured methodology empowers Agentic AI to function autonomously, adapting to changing circumstances and improving its performance over time. Unlike traditional LLMs that rely on user input for each step, Agentic AI can initiate and complete tasks independently, making it a more robust and versatile solution for real-world applications.</a:t>
            </a:r>
          </a:p>
        </p:txBody>
      </p:sp>
      <p:sp>
        <p:nvSpPr>
          <p:cNvPr id="4" name="Slide Number Placeholder 3"/>
          <p:cNvSpPr>
            <a:spLocks noGrp="1"/>
          </p:cNvSpPr>
          <p:nvPr>
            <p:ph type="sldNum" sz="quarter" idx="5"/>
          </p:nvPr>
        </p:nvSpPr>
        <p:spPr/>
        <p:txBody>
          <a:bodyPr/>
          <a:lstStyle/>
          <a:p>
            <a:fld id="{2CCADFD1-52C1-4CFA-BF38-F646F4154DCB}" type="slidenum">
              <a:t>13</a:t>
            </a:fld>
            <a:endParaRPr lang="en-US"/>
          </a:p>
        </p:txBody>
      </p:sp>
    </p:spTree>
    <p:extLst>
      <p:ext uri="{BB962C8B-B14F-4D97-AF65-F5344CB8AC3E}">
        <p14:creationId xmlns:p14="http://schemas.microsoft.com/office/powerpoint/2010/main" val="885126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Real-Time Example, Current Applications</a:t>
            </a:r>
          </a:p>
        </p:txBody>
      </p:sp>
      <p:sp>
        <p:nvSpPr>
          <p:cNvPr id="4" name="Slide Number Placeholder 3"/>
          <p:cNvSpPr>
            <a:spLocks noGrp="1"/>
          </p:cNvSpPr>
          <p:nvPr>
            <p:ph type="sldNum" sz="quarter" idx="5"/>
          </p:nvPr>
        </p:nvSpPr>
        <p:spPr/>
        <p:txBody>
          <a:bodyPr/>
          <a:lstStyle/>
          <a:p>
            <a:fld id="{2CCADFD1-52C1-4CFA-BF38-F646F4154DCB}" type="slidenum">
              <a:t>15</a:t>
            </a:fld>
            <a:endParaRPr lang="en-US"/>
          </a:p>
        </p:txBody>
      </p:sp>
    </p:spTree>
    <p:extLst>
      <p:ext uri="{BB962C8B-B14F-4D97-AF65-F5344CB8AC3E}">
        <p14:creationId xmlns:p14="http://schemas.microsoft.com/office/powerpoint/2010/main" val="2675990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Consider the scenario of planning a business trip. A traditional LLM can suggest flight options if provided with all necessary details. However, an Agentic AI can take this a step further by autonomously searching for flight options online, comparing hotel prices, scheduling meetings on your calendar, and adjusting plans if a flight gets canceled. This level of functionality transforms the AI into a proactive digital teammate that not only assists but also manages tasks independently. Such real-time examples highlight the practical benefits of Agentic AI in streamlining complex processes and enhancing productivity through intelligent automation.</a:t>
            </a:r>
          </a:p>
        </p:txBody>
      </p:sp>
      <p:sp>
        <p:nvSpPr>
          <p:cNvPr id="4" name="Slide Number Placeholder 3"/>
          <p:cNvSpPr>
            <a:spLocks noGrp="1"/>
          </p:cNvSpPr>
          <p:nvPr>
            <p:ph type="sldNum" sz="quarter" idx="5"/>
          </p:nvPr>
        </p:nvSpPr>
        <p:spPr/>
        <p:txBody>
          <a:bodyPr/>
          <a:lstStyle/>
          <a:p>
            <a:fld id="{2CCADFD1-52C1-4CFA-BF38-F646F4154DCB}" type="slidenum">
              <a:t>16</a:t>
            </a:fld>
            <a:endParaRPr lang="en-US"/>
          </a:p>
        </p:txBody>
      </p:sp>
    </p:spTree>
    <p:extLst>
      <p:ext uri="{BB962C8B-B14F-4D97-AF65-F5344CB8AC3E}">
        <p14:creationId xmlns:p14="http://schemas.microsoft.com/office/powerpoint/2010/main" val="258459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Agentic AI is already making significant impacts across various industries. In customer support, it handles issues end-to-end, providing comprehensive solutions without human intervention. In finance, it monitors transactions and performs auto-investing based on predefined strategies. Healthcare applications include scheduling appointments, managing follow-ups, and generating reports. In software engineering, Agentic AI assists in writing, testing, and deploying code, thereby accelerating development cycles. Sales and marketing teams use it for lead qualification, outreach, and campaign optimization. These diverse applications demonstrate the versatility and effectiveness of Agentic AI in enhancing operational efficiency and delivering value across sectors.</a:t>
            </a:r>
          </a:p>
        </p:txBody>
      </p:sp>
      <p:sp>
        <p:nvSpPr>
          <p:cNvPr id="4" name="Slide Number Placeholder 3"/>
          <p:cNvSpPr>
            <a:spLocks noGrp="1"/>
          </p:cNvSpPr>
          <p:nvPr>
            <p:ph type="sldNum" sz="quarter" idx="5"/>
          </p:nvPr>
        </p:nvSpPr>
        <p:spPr/>
        <p:txBody>
          <a:bodyPr/>
          <a:lstStyle/>
          <a:p>
            <a:fld id="{2CCADFD1-52C1-4CFA-BF38-F646F4154DCB}" type="slidenum">
              <a:t>19</a:t>
            </a:fld>
            <a:endParaRPr lang="en-US"/>
          </a:p>
        </p:txBody>
      </p:sp>
    </p:spTree>
    <p:extLst>
      <p:ext uri="{BB962C8B-B14F-4D97-AF65-F5344CB8AC3E}">
        <p14:creationId xmlns:p14="http://schemas.microsoft.com/office/powerpoint/2010/main" val="530776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to Create an Agentic AI, Tools &amp; Frameworks Available</a:t>
            </a:r>
          </a:p>
        </p:txBody>
      </p:sp>
      <p:sp>
        <p:nvSpPr>
          <p:cNvPr id="4" name="Slide Number Placeholder 3"/>
          <p:cNvSpPr>
            <a:spLocks noGrp="1"/>
          </p:cNvSpPr>
          <p:nvPr>
            <p:ph type="sldNum" sz="quarter" idx="5"/>
          </p:nvPr>
        </p:nvSpPr>
        <p:spPr/>
        <p:txBody>
          <a:bodyPr/>
          <a:lstStyle/>
          <a:p>
            <a:fld id="{2CCADFD1-52C1-4CFA-BF38-F646F4154DCB}" type="slidenum">
              <a:t>20</a:t>
            </a:fld>
            <a:endParaRPr lang="en-US"/>
          </a:p>
        </p:txBody>
      </p:sp>
    </p:spTree>
    <p:extLst>
      <p:ext uri="{BB962C8B-B14F-4D97-AF65-F5344CB8AC3E}">
        <p14:creationId xmlns:p14="http://schemas.microsoft.com/office/powerpoint/2010/main" val="347819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an Agentic AI involves integrating several key components. The foundation is an LLM core that provides reasoning and language capabilities. This core is augmented with tools and APIs such as web search, email, and databases to enable interaction with external systems. Memory is another crucial element, allowing the AI to track history, preferences, and context for more personalized and informed decision-making. An orchestration framework ties these components together, coordinating planning, actions, and monitoring to ensure seamless operation. By combining these elements, developers can build AI agents that are not only intelligent but also capable of autonomous execution and continuous improvement.</a:t>
            </a:r>
          </a:p>
        </p:txBody>
      </p:sp>
      <p:sp>
        <p:nvSpPr>
          <p:cNvPr id="4" name="Slide Number Placeholder 3"/>
          <p:cNvSpPr>
            <a:spLocks noGrp="1"/>
          </p:cNvSpPr>
          <p:nvPr>
            <p:ph type="sldNum" sz="quarter" idx="5"/>
          </p:nvPr>
        </p:nvSpPr>
        <p:spPr/>
        <p:txBody>
          <a:bodyPr/>
          <a:lstStyle/>
          <a:p>
            <a:fld id="{2CCADFD1-52C1-4CFA-BF38-F646F4154DCB}" type="slidenum">
              <a:t>21</a:t>
            </a:fld>
            <a:endParaRPr lang="en-US"/>
          </a:p>
        </p:txBody>
      </p:sp>
    </p:spTree>
    <p:extLst>
      <p:ext uri="{BB962C8B-B14F-4D97-AF65-F5344CB8AC3E}">
        <p14:creationId xmlns:p14="http://schemas.microsoft.com/office/powerpoint/2010/main" val="692745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frameworks and platforms are available to facilitate the development of Agentic AI. LangChain is widely used for building AI agents with integrated tools. AutoGen by Microsoft supports multi-agent collaboration, enabling complex task execution. CrewAI specializes in coordinating multiple specialized agents for enhanced performance. OpenAI’s Function Calling and Assistants API offer structured agentic capabilities, allowing developers to define and manage agent behaviors effectively. LlamaIndex connects AI with diverse data sources, enhancing its contextual understanding and decision-making. These tools simplify the development process, providing robust infrastructure and features that accelerate the creation of sophisticated AI agents.</a:t>
            </a:r>
          </a:p>
        </p:txBody>
      </p:sp>
      <p:sp>
        <p:nvSpPr>
          <p:cNvPr id="4" name="Slide Number Placeholder 3"/>
          <p:cNvSpPr>
            <a:spLocks noGrp="1"/>
          </p:cNvSpPr>
          <p:nvPr>
            <p:ph type="sldNum" sz="quarter" idx="5"/>
          </p:nvPr>
        </p:nvSpPr>
        <p:spPr/>
        <p:txBody>
          <a:bodyPr/>
          <a:lstStyle/>
          <a:p>
            <a:fld id="{2CCADFD1-52C1-4CFA-BF38-F646F4154DCB}" type="slidenum">
              <a:t>22</a:t>
            </a:fld>
            <a:endParaRPr lang="en-US"/>
          </a:p>
        </p:txBody>
      </p:sp>
    </p:spTree>
    <p:extLst>
      <p:ext uri="{BB962C8B-B14F-4D97-AF65-F5344CB8AC3E}">
        <p14:creationId xmlns:p14="http://schemas.microsoft.com/office/powerpoint/2010/main" val="1308244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Limitations &amp; Risks, The Future of Work with Agentic AI</a:t>
            </a:r>
          </a:p>
        </p:txBody>
      </p:sp>
      <p:sp>
        <p:nvSpPr>
          <p:cNvPr id="4" name="Slide Number Placeholder 3"/>
          <p:cNvSpPr>
            <a:spLocks noGrp="1"/>
          </p:cNvSpPr>
          <p:nvPr>
            <p:ph type="sldNum" sz="quarter" idx="5"/>
          </p:nvPr>
        </p:nvSpPr>
        <p:spPr/>
        <p:txBody>
          <a:bodyPr/>
          <a:lstStyle/>
          <a:p>
            <a:fld id="{2CCADFD1-52C1-4CFA-BF38-F646F4154DCB}" type="slidenum">
              <a:t>23</a:t>
            </a:fld>
            <a:endParaRPr lang="en-US"/>
          </a:p>
        </p:txBody>
      </p:sp>
    </p:spTree>
    <p:extLst>
      <p:ext uri="{BB962C8B-B14F-4D97-AF65-F5344CB8AC3E}">
        <p14:creationId xmlns:p14="http://schemas.microsoft.com/office/powerpoint/2010/main" val="1278448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advantages, Agentic AI faces several limitations and risks. Reliability remains a concern, as the technology is still prone to errors or hallucinations. Over-dependence on AI can lead to reduced human oversight and decision-making. Security risks arise when agents access sensitive tools or data, necessitating robust safeguards. The cost of running complex agents can be high, impacting scalability and accessibility. Ethical considerations also come into play, particularly regarding the level of autonomy granted to AI systems. Addressing these challenges is crucial to ensuring the safe and effective deployment of Agentic AI in various domains.</a:t>
            </a:r>
          </a:p>
        </p:txBody>
      </p:sp>
      <p:sp>
        <p:nvSpPr>
          <p:cNvPr id="4" name="Slide Number Placeholder 3"/>
          <p:cNvSpPr>
            <a:spLocks noGrp="1"/>
          </p:cNvSpPr>
          <p:nvPr>
            <p:ph type="sldNum" sz="quarter" idx="5"/>
          </p:nvPr>
        </p:nvSpPr>
        <p:spPr/>
        <p:txBody>
          <a:bodyPr/>
          <a:lstStyle/>
          <a:p>
            <a:fld id="{2CCADFD1-52C1-4CFA-BF38-F646F4154DCB}" type="slidenum">
              <a:t>24</a:t>
            </a:fld>
            <a:endParaRPr lang="en-US"/>
          </a:p>
        </p:txBody>
      </p:sp>
    </p:spTree>
    <p:extLst>
      <p:ext uri="{BB962C8B-B14F-4D97-AF65-F5344CB8AC3E}">
        <p14:creationId xmlns:p14="http://schemas.microsoft.com/office/powerpoint/2010/main" val="2000883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future of work is poised to be transformed by Agentic AI. We can expect teams where humans and AI agents collaborate seamlessly, with AI managing workflows rather than just individual tasks. These agents will become more personalized and adaptive, learning users’ working styles to provide tailored support. This evolution represents a paradigm shift comparable to the transition from the internet to smartphones. As Agentic AI becomes more integrated into daily operations, it will redefine roles, enhance productivity, and foster innovation. Embracing this change will be essential for organizations aiming to stay competitive in a rapidly evolving technological landscape.</a:t>
            </a:r>
          </a:p>
        </p:txBody>
      </p:sp>
      <p:sp>
        <p:nvSpPr>
          <p:cNvPr id="4" name="Slide Number Placeholder 3"/>
          <p:cNvSpPr>
            <a:spLocks noGrp="1"/>
          </p:cNvSpPr>
          <p:nvPr>
            <p:ph type="sldNum" sz="quarter" idx="5"/>
          </p:nvPr>
        </p:nvSpPr>
        <p:spPr/>
        <p:txBody>
          <a:bodyPr/>
          <a:lstStyle/>
          <a:p>
            <a:fld id="{2CCADFD1-52C1-4CFA-BF38-F646F4154DCB}" type="slidenum">
              <a:t>25</a:t>
            </a:fld>
            <a:endParaRPr lang="en-US"/>
          </a:p>
        </p:txBody>
      </p:sp>
    </p:spTree>
    <p:extLst>
      <p:ext uri="{BB962C8B-B14F-4D97-AF65-F5344CB8AC3E}">
        <p14:creationId xmlns:p14="http://schemas.microsoft.com/office/powerpoint/2010/main" val="3752915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Closing</a:t>
            </a:r>
          </a:p>
        </p:txBody>
      </p:sp>
      <p:sp>
        <p:nvSpPr>
          <p:cNvPr id="4" name="Slide Number Placeholder 3"/>
          <p:cNvSpPr>
            <a:spLocks noGrp="1"/>
          </p:cNvSpPr>
          <p:nvPr>
            <p:ph type="sldNum" sz="quarter" idx="5"/>
          </p:nvPr>
        </p:nvSpPr>
        <p:spPr/>
        <p:txBody>
          <a:bodyPr/>
          <a:lstStyle/>
          <a:p>
            <a:fld id="{2CCADFD1-52C1-4CFA-BF38-F646F4154DCB}" type="slidenum">
              <a:t>26</a:t>
            </a:fld>
            <a:endParaRPr lang="en-US"/>
          </a:p>
        </p:txBody>
      </p:sp>
    </p:spTree>
    <p:extLst>
      <p:ext uri="{BB962C8B-B14F-4D97-AF65-F5344CB8AC3E}">
        <p14:creationId xmlns:p14="http://schemas.microsoft.com/office/powerpoint/2010/main" val="700669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Agentic AI combines the capabilities of LLMs with planning, tools, memory, and action to create a proactive and autonomous system. It is already reshaping industries by enhancing efficiency and enabling intelligent automation. While there are limitations, the potential benefits are substantial. Importantly, Agentic AI is not about replacing humans but augmenting their abilities, allowing for more strategic and creative engagement. Understanding and leveraging this technology can lead to significant advancements in how we work and solve problems.</a:t>
            </a:r>
          </a:p>
        </p:txBody>
      </p:sp>
      <p:sp>
        <p:nvSpPr>
          <p:cNvPr id="4" name="Slide Number Placeholder 3"/>
          <p:cNvSpPr>
            <a:spLocks noGrp="1"/>
          </p:cNvSpPr>
          <p:nvPr>
            <p:ph type="sldNum" sz="quarter" idx="5"/>
          </p:nvPr>
        </p:nvSpPr>
        <p:spPr/>
        <p:txBody>
          <a:bodyPr/>
          <a:lstStyle/>
          <a:p>
            <a:fld id="{2CCADFD1-52C1-4CFA-BF38-F646F4154DCB}" type="slidenum">
              <a:t>27</a:t>
            </a:fld>
            <a:endParaRPr lang="en-US"/>
          </a:p>
        </p:txBody>
      </p:sp>
    </p:spTree>
    <p:extLst>
      <p:ext uri="{BB962C8B-B14F-4D97-AF65-F5344CB8AC3E}">
        <p14:creationId xmlns:p14="http://schemas.microsoft.com/office/powerpoint/2010/main" val="3049066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wrap up, Agentic AI represents a major leap forward in artificial intelligence. Its proactive and autonomous nature enables it to execute real tasks, transforming AI from a passive tool into an active collaborator. By adopting this technology wisely, we can revolutionize our workflows and drive innovation. The journey begins with exploring how Agentic AI can be applied within our own environments to unlock new possibilities and efficiencies.</a:t>
            </a:r>
          </a:p>
        </p:txBody>
      </p:sp>
      <p:sp>
        <p:nvSpPr>
          <p:cNvPr id="4" name="Slide Number Placeholder 3"/>
          <p:cNvSpPr>
            <a:spLocks noGrp="1"/>
          </p:cNvSpPr>
          <p:nvPr>
            <p:ph type="sldNum" sz="quarter" idx="5"/>
          </p:nvPr>
        </p:nvSpPr>
        <p:spPr/>
        <p:txBody>
          <a:bodyPr/>
          <a:lstStyle/>
          <a:p>
            <a:fld id="{2CCADFD1-52C1-4CFA-BF38-F646F4154DCB}" type="slidenum">
              <a:t>28</a:t>
            </a:fld>
            <a:endParaRPr lang="en-US"/>
          </a:p>
        </p:txBody>
      </p:sp>
    </p:spTree>
    <p:extLst>
      <p:ext uri="{BB962C8B-B14F-4D97-AF65-F5344CB8AC3E}">
        <p14:creationId xmlns:p14="http://schemas.microsoft.com/office/powerpoint/2010/main" val="9451138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3989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826184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anchor="ct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a:lstStyle/>
          <a:p>
            <a:fld id="{FA9F19E7-5A41-482B-8FA2-1C0353416DB6}"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14755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9/4/2025</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3485869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a:lstStyle/>
          <a:p>
            <a:fld id="{4C6CA39F-8041-4925-BD95-F0F6BD0D2137}"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207389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a:lstStyle/>
          <a:p>
            <a:fld id="{A198F7BC-ABFF-4CAB-9ECC-8B1B0BCD965C}"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78698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a:lstStyle/>
          <a:p>
            <a:fld id="{3939EC85-F003-4305-AB12-223D18998537}"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60260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06866CBB-6F1F-436D-A8C6-FABC4CF2B536}"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4684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32727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93C8270A-2846-4BCB-A403-59E7E90A2BA8}" type="datetime1">
              <a:rPr lang="en-US" smtClean="0"/>
              <a:t>9/4/2025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3593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9/4/2025</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561403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anchor="b">
            <a:normAutofit/>
          </a:bodyPr>
          <a:lstStyle>
            <a:lvl1pPr>
              <a:lnSpc>
                <a:spcPct val="80000"/>
              </a:lnSpc>
              <a:defRPr sz="11500" spc="-170" baseline="0">
                <a:ln>
                  <a:noFill/>
                </a:ln>
                <a:solidFill>
                  <a:schemeClr val="accent2">
                    <a:lumMod val="60000"/>
                    <a:lumOff val="40000"/>
                    <a:alpha val="80000"/>
                  </a:schemeClr>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anchor="t"/>
          <a:lstStyle>
            <a:lvl1pPr algn="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a:lstStyle>
            <a:lvl1pPr>
              <a:defRPr>
                <a:solidFill>
                  <a:schemeClr val="bg1"/>
                </a:solidFill>
              </a:defRPr>
            </a:lvl1pPr>
          </a:lstStyle>
          <a:p>
            <a:fld id="{3FC4DBFB-5124-40F9-A2E3-2D0FD410E55D}" type="datetime1">
              <a:rPr lang="en-US" smtClean="0"/>
              <a:t>9/4/2025</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77145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4769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83330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anchor="t">
            <a:normAutofit/>
          </a:bodyPr>
          <a:lstStyle>
            <a:lvl1pPr>
              <a:defRPr sz="12400">
                <a:solidFill>
                  <a:schemeClr val="bg2"/>
                </a:solidFill>
              </a:defRPr>
            </a:lvl1pPr>
          </a:lstStyle>
          <a:p>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anchor="t"/>
          <a:lstStyle>
            <a:lvl1pPr algn="r">
              <a:defRPr sz="1050"/>
            </a:lvl1pPr>
          </a:lstStyle>
          <a:p>
            <a:r>
              <a:rPr lang="en-US"/>
              <a:t>Sample Footer Text</a:t>
            </a:r>
          </a:p>
        </p:txBody>
      </p:sp>
      <p:sp>
        <p:nvSpPr>
          <p:cNvPr id="12" name="Picture Placeholder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a:lstStyle/>
          <a:p>
            <a:fld id="{CF3028B4-C775-4D6E-9ECF-E9C671E76E75}"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21290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A3EC7C9B-995E-4643-8C14-3CF0B0A04E72}"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304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anchor="b"/>
          <a:lstStyle>
            <a:lvl1pPr algn="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EB6F6598-C52E-418B-8497-C4DAE4F0985A}"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169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931782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C3EE3A63-0174-4F36-AB66-61B83C7C9647}"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81959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196574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E2E51BF4-D56D-4D12-A5A9-E780D160D1C6}"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739670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707043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642D680-A112-485C-AB9D-C4786EC59251}"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209382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890000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832005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33876A1-EAF9-4915-94FE-FB92EEABD687}"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32241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538451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3D9CFEE7-1948-428C-8A1B-930C420A85C1}"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497753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252942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702453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970718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a:lstStyle>
            <a:lvl1pPr algn="l">
              <a:defRPr/>
            </a:lvl1pPr>
          </a:lstStyle>
          <a:p>
            <a:fld id="{E396167E-13CB-492D-A43B-8BD084C7EA4B}"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545719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577974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3CF85C1-8AE5-42AC-A9E5-BFA1AA4ECE1A}"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9210173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a:lstStyle/>
          <a:p>
            <a:fld id="{F9764A69-0D4A-41EE-B368-4D0114C52684}"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3673761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C869251-F212-4557-A92A-BBFE6D38B002}"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062107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0814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anchor="t"/>
          <a:lstStyle>
            <a:lvl1pPr algn="r">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a:lstStyle/>
          <a:p>
            <a:fld id="{C26E53DC-2C2B-436E-8F81-6F56D67B2094}"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493690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7384646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anchor="t"/>
          <a:lstStyle>
            <a:lvl1pPr>
              <a:defRPr/>
            </a:lvl1pPr>
          </a:lstStyle>
          <a:p>
            <a:r>
              <a:rPr lang="en-US"/>
              <a:t>Click to edit Master title style</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a:lstStyle/>
          <a:p>
            <a:fld id="{1A3891DC-7E15-43B5-BCFB-370696C30398}"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381390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2617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Number Larg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anchor="t">
            <a:normAutofit/>
          </a:bodyPr>
          <a:lstStyle>
            <a:lvl1pPr algn="r">
              <a:defRPr sz="3200" b="0" cap="none" baseline="0">
                <a:solidFill>
                  <a:schemeClr val="accent5">
                    <a:lumMod val="75000"/>
                  </a:schemeClr>
                </a:solidFill>
                <a:effectLst/>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C860212-EC80-4550-8977-412BA68CEEAD}"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553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Number Larg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anchor="t"/>
          <a:lstStyle>
            <a:lvl1pPr algn="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1"/>
                </a:solidFill>
              </a:defRPr>
            </a:lvl1pPr>
          </a:lstStyle>
          <a:p>
            <a:fld id="{C58B63FC-A13C-4EAB-9220-41BEA3370D02}"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1"/>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8401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reserve="1">
  <p:cSld name="Number Larg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anchor="t"/>
          <a:lstStyle>
            <a:lvl1pPr algn="r">
              <a:defRPr b="1" spc="100" baseline="0">
                <a:solidFill>
                  <a:schemeClr val="bg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4D133BBB-C9BA-478D-ACC3-56E69C31B4D0}"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6311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Number Larg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anchor="t">
            <a:normAutofit/>
          </a:bodyPr>
          <a:lstStyle>
            <a:lvl1pPr algn="r">
              <a:defRPr sz="2800" b="0" spc="100" baseline="0">
                <a:solidFill>
                  <a:schemeClr val="bg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anchor="t"/>
          <a:lstStyle>
            <a:lvl1pPr algn="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D386BD3A-3427-4776-A455-FF38304F4878}"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8048879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2151213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Statem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a:lstStyle>
            <a:lvl1pPr>
              <a:defRPr>
                <a:solidFill>
                  <a:schemeClr val="bg1"/>
                </a:solidFill>
              </a:defRPr>
            </a:lvl1pPr>
          </a:lstStyle>
          <a:p>
            <a:fld id="{F0400140-9243-4AE1-A76C-D8BD9EF938F5}"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7444459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Statem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F978418A-E4AD-4F4D-B99D-9E40C1234D23}"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6499224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Statem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1A57725C-F3FD-4B16-984B-FC904AD58D64}"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5757030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Statem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a:lstStyle>
            <a:lvl1pPr>
              <a:defRPr>
                <a:solidFill>
                  <a:schemeClr val="tx2"/>
                </a:solidFill>
              </a:defRPr>
            </a:lvl1pPr>
          </a:lstStyle>
          <a:p>
            <a:fld id="{F4C780C6-F0FD-455F-A2B8-0A9691723AFF}"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5211770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9/4/2025</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9975652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13" name="Straight Connector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anchor="ctr">
            <a:normAutofit/>
          </a:bodyPr>
          <a:lstStyle>
            <a:lvl1pPr algn="r">
              <a:defRPr sz="2000" b="1" cap="none" baseline="0">
                <a:solidFill>
                  <a:schemeClr val="accent5"/>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a:normAutofit/>
          </a:bodyPr>
          <a:lstStyle>
            <a:lvl1pPr marL="228600" indent="-228600">
              <a:lnSpc>
                <a:spcPct val="85000"/>
              </a:lnSpc>
              <a:spcBef>
                <a:spcPts val="0"/>
              </a:spcBef>
              <a:buNone/>
              <a:defRPr sz="5400" b="0" cap="all" spc="0" baseline="0">
                <a:solidFill>
                  <a:schemeClr val="accent2"/>
                </a:solidFill>
                <a:latin typeface="+mj-lt"/>
              </a:defRPr>
            </a:lvl1pPr>
          </a:lstStyle>
          <a:p>
            <a:pPr lvl="0"/>
            <a:r>
              <a:rPr lang="en-US"/>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anchor="ctr"/>
          <a:lstStyle>
            <a:lvl1pPr algn="l">
              <a:defRPr b="0" spc="0">
                <a:solidFill>
                  <a:schemeClr val="accent5"/>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a:lstStyle>
            <a:lvl1pPr algn="r">
              <a:defRPr b="0">
                <a:solidFill>
                  <a:schemeClr val="accent5"/>
                </a:solidFill>
                <a:latin typeface="+mn-lt"/>
              </a:defRPr>
            </a:lvl1pPr>
          </a:lstStyle>
          <a:p>
            <a:fld id="{67891EA0-6E5D-4821-92F4-23CFFDAC5E38}"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425868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anchor="ctr">
            <a:normAutofit/>
          </a:bodyPr>
          <a:lstStyle>
            <a:lvl1pPr algn="ctr">
              <a:defRPr sz="1600">
                <a:solidFill>
                  <a:schemeClr val="accent2"/>
                </a:solidFill>
              </a:defRPr>
            </a:lvl1pPr>
          </a:lstStyle>
          <a:p>
            <a:r>
              <a:rPr lang="en-US"/>
              <a:t>Quote Author</a:t>
            </a:r>
          </a:p>
        </p:txBody>
      </p:sp>
      <p:sp>
        <p:nvSpPr>
          <p:cNvPr id="14" name="Footer Placeholder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a:lstStyle>
            <a:lvl1pPr>
              <a:defRPr b="0">
                <a:solidFill>
                  <a:schemeClr val="accent5"/>
                </a:solidFill>
              </a:defRPr>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anchor="ctr">
            <a:normAutofit/>
          </a:bodyPr>
          <a:lstStyle>
            <a:lvl1pPr marL="0" indent="0" algn="ctr">
              <a:lnSpc>
                <a:spcPct val="85000"/>
              </a:lnSpc>
              <a:buNone/>
              <a:defRPr sz="4800" b="0" cap="none" spc="0" baseline="0">
                <a:solidFill>
                  <a:schemeClr val="accent5"/>
                </a:solidFill>
                <a:latin typeface="+mn-lt"/>
              </a:defRPr>
            </a:lvl1pPr>
          </a:lstStyle>
          <a:p>
            <a:pPr lvl="0"/>
            <a:r>
              <a:rPr lang="en-US"/>
              <a:t>Click to edit quote</a:t>
            </a:r>
          </a:p>
        </p:txBody>
      </p:sp>
      <p:sp>
        <p:nvSpPr>
          <p:cNvPr id="13" name="Date Placeholder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a:lstStyle>
            <a:lvl1pPr>
              <a:defRPr>
                <a:solidFill>
                  <a:schemeClr val="accent5"/>
                </a:solidFill>
              </a:defRPr>
            </a:lvl1pPr>
          </a:lstStyle>
          <a:p>
            <a:fld id="{869CC736-6517-4DE3-9A18-5EB6F27EF875}" type="datetime1">
              <a:rPr lang="en-US" smtClean="0"/>
              <a:t>9/4/2025</a:t>
            </a:fld>
            <a:endParaRPr lang="en-US"/>
          </a:p>
        </p:txBody>
      </p:sp>
      <p:sp>
        <p:nvSpPr>
          <p:cNvPr id="15" name="Slide Number Placeholder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820883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pic>
        <p:nvPicPr>
          <p:cNvPr id="8" name="Picture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anchor="ctr">
            <a:normAutofit/>
          </a:bodyPr>
          <a:lstStyle>
            <a:lvl1pPr algn="r">
              <a:defRPr sz="1800">
                <a:solidFill>
                  <a:schemeClr val="accent2"/>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a:normAutofit/>
          </a:bodyPr>
          <a:lstStyle>
            <a:lvl1pPr marL="228600" indent="-228600">
              <a:lnSpc>
                <a:spcPct val="100000"/>
              </a:lnSpc>
              <a:spcBef>
                <a:spcPts val="0"/>
              </a:spcBef>
              <a:buNone/>
              <a:defRPr sz="5400" b="0" cap="none" spc="0" baseline="0">
                <a:solidFill>
                  <a:schemeClr val="bg2"/>
                </a:solidFill>
              </a:defRPr>
            </a:lvl1pPr>
          </a:lstStyle>
          <a:p>
            <a:pPr lvl="0"/>
            <a:r>
              <a:rPr lang="en-US"/>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a:lstStyle>
            <a:lvl1pPr algn="l">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55971960-CC10-477C-A0E8-32CE7F9D38E0}"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7" name="Straight Connector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0440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11" name="Rectangle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anchor="ctr">
            <a:normAutofit/>
          </a:bodyPr>
          <a:lstStyle>
            <a:lvl1pPr algn="r">
              <a:defRPr sz="1800">
                <a:solidFill>
                  <a:schemeClr val="accent2"/>
                </a:solidFill>
              </a:defRPr>
            </a:lvl1pPr>
          </a:lstStyle>
          <a:p>
            <a:r>
              <a:rPr lang="en-US"/>
              <a:t>Quote Author</a:t>
            </a:r>
          </a:p>
        </p:txBody>
      </p:sp>
      <p:sp>
        <p:nvSpPr>
          <p:cNvPr id="8" name="Content Placeholder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a:normAutofit/>
          </a:bodyPr>
          <a:lstStyle>
            <a:lvl1pPr marL="228600" indent="-228600">
              <a:lnSpc>
                <a:spcPct val="85000"/>
              </a:lnSpc>
              <a:buNone/>
              <a:defRPr sz="5400">
                <a:solidFill>
                  <a:schemeClr val="accent5"/>
                </a:solidFill>
              </a:defRPr>
            </a:lvl1pPr>
          </a:lstStyle>
          <a:p>
            <a:pPr lvl="0"/>
            <a:r>
              <a:rPr lang="en-US"/>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lstStyle>
            <a:lvl1pPr algn="l">
              <a:defRPr b="0" spc="0">
                <a:solidFill>
                  <a:schemeClr val="accent5"/>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a:lstStyle>
            <a:lvl1pPr algn="r">
              <a:defRPr>
                <a:solidFill>
                  <a:schemeClr val="accent5"/>
                </a:solidFill>
              </a:defRPr>
            </a:lvl1pPr>
          </a:lstStyle>
          <a:p>
            <a:fld id="{84D8584C-2125-40A2-8519-09FB9A8C3315}"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8925849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9/4/2025</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242827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9/4/2025</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895682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9/4/2025</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7288740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9/4/2025</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3287693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5FB557B-A6AB-0141-61F5-2C6D1D26D589}"/>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4346670-62CE-41B6-24CD-DB7BF2AECDF4}"/>
              </a:ext>
            </a:extLst>
          </p:cNvPr>
          <p:cNvSpPr>
            <a:spLocks noGrp="1"/>
          </p:cNvSpPr>
          <p:nvPr>
            <p:ph type="dt" sz="half" idx="10"/>
          </p:nvPr>
        </p:nvSpPr>
        <p:spPr/>
        <p:txBody>
          <a:bodyPr/>
          <a:lstStyle/>
          <a:p>
            <a:fld id="{95967112-4E38-4DE6-886D-C6360575EE2E}" type="datetime1">
              <a:rPr lang="en-US" smtClean="0"/>
              <a:t>9/4/2025</a:t>
            </a:fld>
            <a:endParaRPr lang="en-US"/>
          </a:p>
        </p:txBody>
      </p:sp>
      <p:sp>
        <p:nvSpPr>
          <p:cNvPr id="7" name="Slide Number Placeholder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032740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anchor="b">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FB5E2938-E6DE-EB90-C8DE-0D078BDD0A8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a:lstStyle/>
          <a:p>
            <a:fld id="{8493712A-E27F-4D57-B2CA-5B36D6E8A4B0}" type="datetime1">
              <a:rPr lang="en-US" smtClean="0"/>
              <a:t>9/4/2025</a:t>
            </a:fld>
            <a:endParaRPr lang="en-US"/>
          </a:p>
        </p:txBody>
      </p:sp>
      <p:sp>
        <p:nvSpPr>
          <p:cNvPr id="7" name="Slide Number Placeholder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9975381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734974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9/4/2025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1546785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9/4/2025</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
        <p:nvSpPr>
          <p:cNvPr id="9" name="TextBox 8">
            <a:extLst>
              <a:ext uri="{FF2B5EF4-FFF2-40B4-BE49-F238E27FC236}">
                <a16:creationId xmlns:a16="http://schemas.microsoft.com/office/drawing/2014/main" id="{4039E68D-C63E-AB1F-6BD9-8BF1E9019F77}"/>
              </a:ext>
            </a:extLst>
          </p:cNvPr>
          <p:cNvSpPr txBox="1"/>
          <p:nvPr>
            <p:extLst>
              <p:ext uri="{1162E1C5-73C7-4A58-AE30-91384D911F3F}">
                <p184:classification xmlns:p184="http://schemas.microsoft.com/office/powerpoint/2018/4/main" val="ftr"/>
              </p:ext>
            </p:extLst>
          </p:nvPr>
        </p:nvSpPr>
        <p:spPr>
          <a:xfrm>
            <a:off x="190500" y="6560820"/>
            <a:ext cx="454025" cy="106680"/>
          </a:xfrm>
          <a:prstGeom prst="rect">
            <a:avLst/>
          </a:prstGeom>
        </p:spPr>
        <p:txBody>
          <a:bodyPr horzOverflow="overflow" lIns="0" tIns="0" rIns="0" bIns="0">
            <a:spAutoFit/>
          </a:bodyPr>
          <a:lstStyle/>
          <a:p>
            <a:pPr algn="l"/>
            <a:r>
              <a:rPr lang="en-US" sz="700">
                <a:solidFill>
                  <a:srgbClr val="000000">
                    <a:alpha val="50000"/>
                  </a:srgbClr>
                </a:solidFill>
                <a:latin typeface="Aptos" panose="020B0004020202020204" pitchFamily="34" charset="0"/>
              </a:rPr>
              <a:t>C2 General</a:t>
            </a:r>
          </a:p>
        </p:txBody>
      </p:sp>
    </p:spTree>
    <p:extLst>
      <p:ext uri="{BB962C8B-B14F-4D97-AF65-F5344CB8AC3E}">
        <p14:creationId xmlns:p14="http://schemas.microsoft.com/office/powerpoint/2010/main" val="2884717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fferent coloured dots on white wall">
            <a:extLst>
              <a:ext uri="{FF2B5EF4-FFF2-40B4-BE49-F238E27FC236}">
                <a16:creationId xmlns:a16="http://schemas.microsoft.com/office/drawing/2014/main" id="{9352D9FA-AD19-4137-A5E4-91BFECBC1E97}"/>
              </a:ext>
            </a:extLst>
          </p:cNvPr>
          <p:cNvPicPr>
            <a:picLocks noChangeAspect="1"/>
          </p:cNvPicPr>
          <p:nvPr/>
        </p:nvPicPr>
        <p:blipFill>
          <a:blip r:embed="rId3"/>
          <a:srcRect l="6812" r="8266" b="2"/>
          <a:stretch>
            <a:fillRect/>
          </a:stretch>
        </p:blipFill>
        <p:spPr>
          <a:xfrm>
            <a:off x="5503863" y="1354138"/>
            <a:ext cx="5322887" cy="4481512"/>
          </a:xfrm>
          <a:prstGeom prst="rect">
            <a:avLst/>
          </a:prstGeom>
          <a:noFill/>
        </p:spPr>
      </p:pic>
      <p:sp>
        <p:nvSpPr>
          <p:cNvPr id="2" name="Title 1">
            <a:extLst>
              <a:ext uri="{FF2B5EF4-FFF2-40B4-BE49-F238E27FC236}">
                <a16:creationId xmlns:a16="http://schemas.microsoft.com/office/drawing/2014/main" id="{88F976DD-4E16-1850-1E3F-C4132912014E}"/>
              </a:ext>
            </a:extLst>
          </p:cNvPr>
          <p:cNvSpPr>
            <a:spLocks noGrp="1"/>
          </p:cNvSpPr>
          <p:nvPr>
            <p:ph type="ctrTitle"/>
          </p:nvPr>
        </p:nvSpPr>
        <p:spPr>
          <a:xfrm>
            <a:off x="914400" y="831992"/>
            <a:ext cx="5897880" cy="4258956"/>
          </a:xfrm>
        </p:spPr>
        <p:txBody>
          <a:bodyPr anchor="b">
            <a:normAutofit/>
          </a:bodyPr>
          <a:lstStyle/>
          <a:p>
            <a:r>
              <a:rPr lang="en-US"/>
              <a:t>Agentic AI: The Next Evolution Beyond LLMs</a:t>
            </a:r>
          </a:p>
        </p:txBody>
      </p:sp>
      <p:sp>
        <p:nvSpPr>
          <p:cNvPr id="3" name="Subtitle 2">
            <a:extLst>
              <a:ext uri="{FF2B5EF4-FFF2-40B4-BE49-F238E27FC236}">
                <a16:creationId xmlns:a16="http://schemas.microsoft.com/office/drawing/2014/main" id="{7BF4171E-955B-046D-3E48-FE988671B72C}"/>
              </a:ext>
            </a:extLst>
          </p:cNvPr>
          <p:cNvSpPr>
            <a:spLocks noGrp="1"/>
          </p:cNvSpPr>
          <p:nvPr>
            <p:ph type="subTitle" idx="1"/>
          </p:nvPr>
        </p:nvSpPr>
        <p:spPr>
          <a:xfrm>
            <a:off x="605431" y="5372809"/>
            <a:ext cx="2364946" cy="909119"/>
          </a:xfrm>
        </p:spPr>
        <p:txBody>
          <a:bodyPr anchor="b">
            <a:normAutofit/>
          </a:bodyPr>
          <a:lstStyle/>
          <a:p>
            <a:r>
              <a:rPr lang="en-US"/>
              <a:t>Exploring autonomous capabilities in artificial intelligence</a:t>
            </a:r>
          </a:p>
        </p:txBody>
      </p:sp>
      <p:sp>
        <p:nvSpPr>
          <p:cNvPr id="4" name="Footer Placeholder 3">
            <a:extLst>
              <a:ext uri="{FF2B5EF4-FFF2-40B4-BE49-F238E27FC236}">
                <a16:creationId xmlns:a16="http://schemas.microsoft.com/office/drawing/2014/main" id="{B61D9245-B00E-2414-E36B-E7BA357BAD73}"/>
              </a:ext>
            </a:extLst>
          </p:cNvPr>
          <p:cNvSpPr>
            <a:spLocks noGrp="1"/>
          </p:cNvSpPr>
          <p:nvPr>
            <p:ph type="ftr" sz="quarter" idx="11"/>
          </p:nvPr>
        </p:nvSpPr>
        <p:spPr>
          <a:xfrm>
            <a:off x="9547529" y="612251"/>
            <a:ext cx="2070397" cy="518965"/>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92DBB16-D68A-7501-1D71-0703F418C814}"/>
              </a:ext>
            </a:extLst>
          </p:cNvPr>
          <p:cNvSpPr>
            <a:spLocks noGrp="1"/>
          </p:cNvSpPr>
          <p:nvPr>
            <p:ph type="dt" sz="half" idx="10"/>
          </p:nvPr>
        </p:nvSpPr>
        <p:spPr>
          <a:xfrm rot="5400000">
            <a:off x="10897326" y="5229935"/>
            <a:ext cx="1223795"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00F7A791-1BA1-0477-1174-ACE5ADDBB67C}"/>
              </a:ext>
            </a:extLst>
          </p:cNvPr>
          <p:cNvSpPr>
            <a:spLocks noGrp="1"/>
          </p:cNvSpPr>
          <p:nvPr>
            <p:ph type="sldNum" sz="quarter" idx="12"/>
          </p:nvPr>
        </p:nvSpPr>
        <p:spPr>
          <a:xfrm>
            <a:off x="11201400" y="6029866"/>
            <a:ext cx="461438" cy="365125"/>
          </a:xfrm>
        </p:spPr>
        <p:txBody>
          <a:bodyPr anchor="ctr">
            <a:normAutofit/>
          </a:bodyPr>
          <a:lstStyle/>
          <a:p>
            <a:pPr>
              <a:spcAft>
                <a:spcPts val="600"/>
              </a:spcAft>
            </a:pPr>
            <a:fld id="{27F8DDA4-3B80-4E8A-A8F5-521F73BF9127}" type="slidenum">
              <a:rPr lang="en-US" smtClean="0"/>
              <a:pPr>
                <a:spcAft>
                  <a:spcPts val="600"/>
                </a:spcAft>
              </a:pPr>
              <a:t>1</a:t>
            </a:fld>
            <a:endParaRPr lang="en-US"/>
          </a:p>
        </p:txBody>
      </p:sp>
    </p:spTree>
    <p:extLst>
      <p:ext uri="{BB962C8B-B14F-4D97-AF65-F5344CB8AC3E}">
        <p14:creationId xmlns:p14="http://schemas.microsoft.com/office/powerpoint/2010/main" val="368966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7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700"/>
                                        <p:tgtEl>
                                          <p:spTgt spid="3">
                                            <p:txEl>
                                              <p:pRg st="0" end="0"/>
                                            </p:txEl>
                                          </p:spTgt>
                                        </p:tgtEl>
                                      </p:cBhvr>
                                    </p:animEffect>
                                  </p:childTnLst>
                                </p:cTn>
                              </p:par>
                              <p:par>
                                <p:cTn id="16" presetID="10"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3"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8AFEBCB-BBBC-7CE1-CF88-DE17BB363673}"/>
              </a:ext>
            </a:extLst>
          </p:cNvPr>
          <p:cNvSpPr>
            <a:spLocks noGrp="1"/>
          </p:cNvSpPr>
          <p:nvPr>
            <p:ph type="title"/>
          </p:nvPr>
        </p:nvSpPr>
        <p:spPr>
          <a:xfrm>
            <a:off x="603504" y="650915"/>
            <a:ext cx="3054096" cy="1711285"/>
          </a:xfrm>
        </p:spPr>
        <p:txBody>
          <a:bodyPr/>
          <a:lstStyle/>
          <a:p>
            <a:r>
              <a:rPr lang="en-US" dirty="0"/>
              <a:t>Large Language Model </a:t>
            </a:r>
          </a:p>
        </p:txBody>
      </p:sp>
      <p:pic>
        <p:nvPicPr>
          <p:cNvPr id="5" name="Content Placeholder 4" descr="A diagram of a computer&#10;&#10;AI-generated content may be incorrect.">
            <a:extLst>
              <a:ext uri="{FF2B5EF4-FFF2-40B4-BE49-F238E27FC236}">
                <a16:creationId xmlns:a16="http://schemas.microsoft.com/office/drawing/2014/main" id="{FF347D95-BA35-9E90-B132-3818F4EA02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26716" y="706784"/>
            <a:ext cx="7479484" cy="5104747"/>
          </a:xfrm>
          <a:noFill/>
        </p:spPr>
      </p:pic>
      <p:sp>
        <p:nvSpPr>
          <p:cNvPr id="12" name="Footer Placeholder 3">
            <a:extLst>
              <a:ext uri="{FF2B5EF4-FFF2-40B4-BE49-F238E27FC236}">
                <a16:creationId xmlns:a16="http://schemas.microsoft.com/office/drawing/2014/main" id="{50671D3D-B01F-2954-55B5-A504FB46FE44}"/>
              </a:ext>
            </a:extLst>
          </p:cNvPr>
          <p:cNvSpPr>
            <a:spLocks noGrp="1"/>
          </p:cNvSpPr>
          <p:nvPr>
            <p:ph type="ftr" sz="quarter" idx="11"/>
          </p:nvPr>
        </p:nvSpPr>
        <p:spPr>
          <a:xfrm>
            <a:off x="605430" y="6029868"/>
            <a:ext cx="1911096" cy="365125"/>
          </a:xfrm>
        </p:spPr>
        <p:txBody>
          <a:bodyPr/>
          <a:lstStyle/>
          <a:p>
            <a:pPr>
              <a:spcAft>
                <a:spcPts val="600"/>
              </a:spcAft>
            </a:pPr>
            <a:r>
              <a:rPr lang="en-US"/>
              <a:t>Sample Footer Text</a:t>
            </a:r>
          </a:p>
        </p:txBody>
      </p:sp>
      <p:sp>
        <p:nvSpPr>
          <p:cNvPr id="14" name="Date Placeholder 4">
            <a:extLst>
              <a:ext uri="{FF2B5EF4-FFF2-40B4-BE49-F238E27FC236}">
                <a16:creationId xmlns:a16="http://schemas.microsoft.com/office/drawing/2014/main" id="{01B9B19E-CECF-3754-64D7-4F8279A3CC31}"/>
              </a:ext>
            </a:extLst>
          </p:cNvPr>
          <p:cNvSpPr>
            <a:spLocks noGrp="1"/>
          </p:cNvSpPr>
          <p:nvPr>
            <p:ph type="dt" sz="half" idx="10"/>
          </p:nvPr>
        </p:nvSpPr>
        <p:spPr>
          <a:xfrm>
            <a:off x="10058400" y="6029867"/>
            <a:ext cx="1179576" cy="365125"/>
          </a:xfrm>
        </p:spPr>
        <p:txBody>
          <a:bodyPr/>
          <a:lstStyle/>
          <a:p>
            <a:pPr>
              <a:spcAft>
                <a:spcPts val="600"/>
              </a:spcAft>
            </a:pPr>
            <a:fld id="{E2E51BF4-D56D-4D12-A5A9-E780D160D1C6}" type="datetime1">
              <a:rPr lang="en-US" smtClean="0"/>
              <a:pPr>
                <a:spcAft>
                  <a:spcPts val="600"/>
                </a:spcAft>
              </a:pPr>
              <a:t>9/4/2025</a:t>
            </a:fld>
            <a:endParaRPr lang="en-US"/>
          </a:p>
        </p:txBody>
      </p:sp>
      <p:sp>
        <p:nvSpPr>
          <p:cNvPr id="16" name="Slide Number Placeholder 5">
            <a:extLst>
              <a:ext uri="{FF2B5EF4-FFF2-40B4-BE49-F238E27FC236}">
                <a16:creationId xmlns:a16="http://schemas.microsoft.com/office/drawing/2014/main" id="{708625FC-0770-589E-61C4-87F31FC753D9}"/>
              </a:ext>
            </a:extLst>
          </p:cNvPr>
          <p:cNvSpPr>
            <a:spLocks noGrp="1"/>
          </p:cNvSpPr>
          <p:nvPr>
            <p:ph type="sldNum" sz="quarter" idx="12"/>
          </p:nvPr>
        </p:nvSpPr>
        <p:spPr>
          <a:xfrm>
            <a:off x="11233434" y="6029868"/>
            <a:ext cx="429372" cy="365125"/>
          </a:xfrm>
        </p:spPr>
        <p:txBody>
          <a:bodyPr/>
          <a:lstStyle/>
          <a:p>
            <a:pPr>
              <a:spcAft>
                <a:spcPts val="600"/>
              </a:spcAft>
            </a:pPr>
            <a:fld id="{27F8DDA4-3B80-4E8A-A8F5-521F73BF9127}" type="slidenum">
              <a:rPr lang="en-US" smtClean="0"/>
              <a:pPr>
                <a:spcAft>
                  <a:spcPts val="600"/>
                </a:spcAft>
              </a:pPr>
              <a:t>2</a:t>
            </a:fld>
            <a:endParaRPr lang="en-US"/>
          </a:p>
        </p:txBody>
      </p:sp>
    </p:spTree>
    <p:extLst>
      <p:ext uri="{BB962C8B-B14F-4D97-AF65-F5344CB8AC3E}">
        <p14:creationId xmlns:p14="http://schemas.microsoft.com/office/powerpoint/2010/main" val="1899682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867C244-4C11-C932-5123-1D87313D3ACF}"/>
              </a:ext>
            </a:extLst>
          </p:cNvPr>
          <p:cNvSpPr>
            <a:spLocks noGrp="1"/>
          </p:cNvSpPr>
          <p:nvPr>
            <p:ph type="title"/>
          </p:nvPr>
        </p:nvSpPr>
        <p:spPr>
          <a:xfrm>
            <a:off x="602986" y="265728"/>
            <a:ext cx="10981137" cy="1325563"/>
          </a:xfrm>
        </p:spPr>
        <p:txBody>
          <a:bodyPr anchor="b">
            <a:normAutofit/>
          </a:bodyPr>
          <a:lstStyle/>
          <a:p>
            <a:r>
              <a:rPr lang="en-US" dirty="0"/>
              <a:t>Workflow of LLM</a:t>
            </a:r>
          </a:p>
        </p:txBody>
      </p:sp>
      <p:pic>
        <p:nvPicPr>
          <p:cNvPr id="7" name="Picture 6" descr="A diagram of a diagram&#10;&#10;AI-generated content may be incorrect.">
            <a:extLst>
              <a:ext uri="{FF2B5EF4-FFF2-40B4-BE49-F238E27FC236}">
                <a16:creationId xmlns:a16="http://schemas.microsoft.com/office/drawing/2014/main" id="{97F2EF28-063D-4A6D-DE4D-9C58D00272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116" y="1736176"/>
            <a:ext cx="5348876" cy="4198867"/>
          </a:xfrm>
          <a:prstGeom prst="rect">
            <a:avLst/>
          </a:prstGeom>
          <a:noFill/>
        </p:spPr>
      </p:pic>
      <p:sp>
        <p:nvSpPr>
          <p:cNvPr id="3" name="Footer Placeholder 2">
            <a:extLst>
              <a:ext uri="{FF2B5EF4-FFF2-40B4-BE49-F238E27FC236}">
                <a16:creationId xmlns:a16="http://schemas.microsoft.com/office/drawing/2014/main" id="{FAE0CA36-6E8C-4619-5D77-C512BEF9F191}"/>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EC3DECEF-E898-29CB-59D9-704DEC09DF3D}"/>
              </a:ext>
            </a:extLst>
          </p:cNvPr>
          <p:cNvSpPr>
            <a:spLocks noGrp="1"/>
          </p:cNvSpPr>
          <p:nvPr>
            <p:ph type="dt" sz="half" idx="10"/>
          </p:nvPr>
        </p:nvSpPr>
        <p:spPr>
          <a:xfrm>
            <a:off x="10058400" y="6029868"/>
            <a:ext cx="1182686" cy="365125"/>
          </a:xfrm>
        </p:spPr>
        <p:txBody>
          <a:bodyPr anchor="ctr">
            <a:normAutofit/>
          </a:bodyPr>
          <a:lstStyle/>
          <a:p>
            <a:pPr>
              <a:spcAft>
                <a:spcPts val="600"/>
              </a:spcAft>
            </a:pPr>
            <a:fld id="{3FC4DBFB-5124-40F9-A2E3-2D0FD410E55D}" type="datetime1">
              <a:rPr lang="en-US" smtClean="0"/>
              <a:pPr>
                <a:spcAft>
                  <a:spcPts val="600"/>
                </a:spcAft>
              </a:pPr>
              <a:t>9/4/2025</a:t>
            </a:fld>
            <a:endParaRPr lang="en-US"/>
          </a:p>
        </p:txBody>
      </p:sp>
      <p:sp>
        <p:nvSpPr>
          <p:cNvPr id="5" name="Slide Number Placeholder 4">
            <a:extLst>
              <a:ext uri="{FF2B5EF4-FFF2-40B4-BE49-F238E27FC236}">
                <a16:creationId xmlns:a16="http://schemas.microsoft.com/office/drawing/2014/main" id="{5BC050F0-9F87-4370-B8C3-7C74F1153F8F}"/>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3</a:t>
            </a:fld>
            <a:endParaRPr lang="en-US"/>
          </a:p>
        </p:txBody>
      </p:sp>
    </p:spTree>
    <p:extLst>
      <p:ext uri="{BB962C8B-B14F-4D97-AF65-F5344CB8AC3E}">
        <p14:creationId xmlns:p14="http://schemas.microsoft.com/office/powerpoint/2010/main" val="3078837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onceptual image of supercomputer, 3D generated image.">
            <a:extLst>
              <a:ext uri="{FF2B5EF4-FFF2-40B4-BE49-F238E27FC236}">
                <a16:creationId xmlns:a16="http://schemas.microsoft.com/office/drawing/2014/main" id="{847508DE-6D51-483F-8146-584B60BE16C3}"/>
              </a:ext>
            </a:extLst>
          </p:cNvPr>
          <p:cNvPicPr>
            <a:picLocks noGrp="1" noChangeAspect="1"/>
          </p:cNvPicPr>
          <p:nvPr>
            <p:ph type="pic" sz="quarter" idx="13"/>
          </p:nvPr>
        </p:nvPicPr>
        <p:blipFill>
          <a:blip r:embed="rId3"/>
          <a:srcRect l="14947" r="19218" b="2"/>
          <a:stretch>
            <a:fillRect/>
          </a:stretch>
        </p:blipFill>
        <p:spPr>
          <a:xfrm>
            <a:off x="20" y="10"/>
            <a:ext cx="5486380" cy="5562590"/>
          </a:xfrm>
          <a:prstGeom prst="rect">
            <a:avLst/>
          </a:prstGeom>
          <a:noFill/>
        </p:spPr>
      </p:pic>
      <p:sp>
        <p:nvSpPr>
          <p:cNvPr id="2" name="Title 1">
            <a:extLst>
              <a:ext uri="{FF2B5EF4-FFF2-40B4-BE49-F238E27FC236}">
                <a16:creationId xmlns:a16="http://schemas.microsoft.com/office/drawing/2014/main" id="{EF53E7E8-D60A-8F08-9D1C-4B9469B404B3}"/>
              </a:ext>
            </a:extLst>
          </p:cNvPr>
          <p:cNvSpPr>
            <a:spLocks noGrp="1"/>
          </p:cNvSpPr>
          <p:nvPr>
            <p:ph type="title"/>
          </p:nvPr>
        </p:nvSpPr>
        <p:spPr>
          <a:xfrm>
            <a:off x="5063318" y="0"/>
            <a:ext cx="4385481" cy="1796124"/>
          </a:xfrm>
        </p:spPr>
        <p:txBody>
          <a:bodyPr anchor="b">
            <a:normAutofit/>
          </a:bodyPr>
          <a:lstStyle/>
          <a:p>
            <a:r>
              <a:rPr lang="en-US"/>
              <a:t>Introduction</a:t>
            </a:r>
          </a:p>
        </p:txBody>
      </p:sp>
      <p:sp>
        <p:nvSpPr>
          <p:cNvPr id="4" name="Content Placeholder 3">
            <a:extLst>
              <a:ext uri="{FF2B5EF4-FFF2-40B4-BE49-F238E27FC236}">
                <a16:creationId xmlns:a16="http://schemas.microsoft.com/office/drawing/2014/main" id="{DAF38049-EC95-C798-7519-1A2CA0CB937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55056" y="1965281"/>
            <a:ext cx="4859992" cy="3732876"/>
          </a:xfrm>
        </p:spPr>
        <p:txBody>
          <a:bodyPr>
            <a:normAutofit/>
          </a:bodyPr>
          <a:lstStyle/>
          <a:p>
            <a:pPr marL="0" indent="0">
              <a:spcBef>
                <a:spcPts val="2500"/>
              </a:spcBef>
              <a:buFont typeface="Arial" panose="020B0604020202020204" pitchFamily="34" charset="0"/>
              <a:buNone/>
            </a:pPr>
            <a:r>
              <a:rPr lang="en-US" sz="1800" b="1" dirty="0"/>
              <a:t>Agentic AI Overview</a:t>
            </a:r>
          </a:p>
          <a:p>
            <a:pPr marL="0" lvl="1" indent="0">
              <a:buFont typeface="Arial" panose="020B0604020202020204" pitchFamily="34" charset="0"/>
              <a:buNone/>
            </a:pPr>
            <a:r>
              <a:rPr sz="1800" dirty="0"/>
              <a:t>Agentic AI represents an advanced form of AI that performs autonomous actions beyond simple prompt responses.</a:t>
            </a:r>
            <a:endParaRPr lang="en-US" sz="1800" dirty="0"/>
          </a:p>
          <a:p>
            <a:pPr marL="0" indent="0">
              <a:spcBef>
                <a:spcPts val="2500"/>
              </a:spcBef>
              <a:buFont typeface="Arial" panose="020B0604020202020204" pitchFamily="34" charset="0"/>
              <a:buNone/>
            </a:pPr>
            <a:r>
              <a:rPr lang="en-US" sz="1800" b="1" dirty="0"/>
              <a:t>Presentation Scope</a:t>
            </a:r>
          </a:p>
          <a:p>
            <a:pPr marL="0" lvl="1" indent="0">
              <a:buFont typeface="Arial" panose="020B0604020202020204" pitchFamily="34" charset="0"/>
              <a:buNone/>
            </a:pPr>
            <a:r>
              <a:rPr sz="1800" dirty="0"/>
              <a:t>The talk will cover Agentic AI’s definition, workings, real-world examples, useful tools, limitations, and importance.</a:t>
            </a:r>
            <a:endParaRPr lang="en-US" sz="1800" dirty="0"/>
          </a:p>
        </p:txBody>
      </p:sp>
      <p:sp>
        <p:nvSpPr>
          <p:cNvPr id="5" name="Footer Placeholder 4">
            <a:extLst>
              <a:ext uri="{FF2B5EF4-FFF2-40B4-BE49-F238E27FC236}">
                <a16:creationId xmlns:a16="http://schemas.microsoft.com/office/drawing/2014/main" id="{572BB51A-6D84-EFD9-3999-2840FE14C372}"/>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dirty="0"/>
              <a:t> </a:t>
            </a:r>
          </a:p>
        </p:txBody>
      </p:sp>
      <p:sp>
        <p:nvSpPr>
          <p:cNvPr id="6" name="Date Placeholder 5">
            <a:extLst>
              <a:ext uri="{FF2B5EF4-FFF2-40B4-BE49-F238E27FC236}">
                <a16:creationId xmlns:a16="http://schemas.microsoft.com/office/drawing/2014/main" id="{046A4B67-0D11-18E1-EA44-C45EDF49D247}"/>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E0C66CDE-97BC-C800-A59A-E690FEA90D08}"/>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4</a:t>
            </a:fld>
            <a:endParaRPr lang="en-US"/>
          </a:p>
        </p:txBody>
      </p:sp>
    </p:spTree>
    <p:extLst>
      <p:ext uri="{BB962C8B-B14F-4D97-AF65-F5344CB8AC3E}">
        <p14:creationId xmlns:p14="http://schemas.microsoft.com/office/powerpoint/2010/main" val="3685290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E2C9B-3943-40AE-2CF6-D10ABDE113BC}"/>
              </a:ext>
            </a:extLst>
          </p:cNvPr>
          <p:cNvSpPr>
            <a:spLocks noGrp="1"/>
          </p:cNvSpPr>
          <p:nvPr>
            <p:ph type="title"/>
          </p:nvPr>
        </p:nvSpPr>
        <p:spPr/>
        <p:txBody>
          <a:bodyPr/>
          <a:lstStyle/>
          <a:p>
            <a:endParaRPr lang="en-US"/>
          </a:p>
        </p:txBody>
      </p:sp>
      <p:pic>
        <p:nvPicPr>
          <p:cNvPr id="8" name="Content Placeholder 7" descr="A person pointing at a robot&#10;&#10;AI-generated content may be incorrect.">
            <a:extLst>
              <a:ext uri="{FF2B5EF4-FFF2-40B4-BE49-F238E27FC236}">
                <a16:creationId xmlns:a16="http://schemas.microsoft.com/office/drawing/2014/main" id="{981867B3-F341-F8B3-EDB1-DBBE79CBFE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2986" y="463007"/>
            <a:ext cx="10981137" cy="5800007"/>
          </a:xfrm>
        </p:spPr>
      </p:pic>
      <p:sp>
        <p:nvSpPr>
          <p:cNvPr id="4" name="Footer Placeholder 3">
            <a:extLst>
              <a:ext uri="{FF2B5EF4-FFF2-40B4-BE49-F238E27FC236}">
                <a16:creationId xmlns:a16="http://schemas.microsoft.com/office/drawing/2014/main" id="{81B92674-0E6A-6BCE-0EEC-6859A31A1AA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FB774848-76AE-720F-61D4-2F193F6682C6}"/>
              </a:ext>
            </a:extLst>
          </p:cNvPr>
          <p:cNvSpPr>
            <a:spLocks noGrp="1"/>
          </p:cNvSpPr>
          <p:nvPr>
            <p:ph type="dt" sz="half" idx="10"/>
          </p:nvPr>
        </p:nvSpPr>
        <p:spPr/>
        <p:txBody>
          <a:bodyPr/>
          <a:lstStyle/>
          <a:p>
            <a:fld id="{D849E410-BE9E-427B-BCB5-604E33C4348E}" type="datetime1">
              <a:rPr lang="en-US" smtClean="0"/>
              <a:t>9/4/2025</a:t>
            </a:fld>
            <a:endParaRPr lang="en-US"/>
          </a:p>
        </p:txBody>
      </p:sp>
      <p:sp>
        <p:nvSpPr>
          <p:cNvPr id="6" name="Slide Number Placeholder 5">
            <a:extLst>
              <a:ext uri="{FF2B5EF4-FFF2-40B4-BE49-F238E27FC236}">
                <a16:creationId xmlns:a16="http://schemas.microsoft.com/office/drawing/2014/main" id="{0A202ACF-E578-71DC-D164-6A113B2600CD}"/>
              </a:ext>
            </a:extLst>
          </p:cNvPr>
          <p:cNvSpPr>
            <a:spLocks noGrp="1"/>
          </p:cNvSpPr>
          <p:nvPr>
            <p:ph type="sldNum" sz="quarter" idx="12"/>
          </p:nvPr>
        </p:nvSpPr>
        <p:spPr/>
        <p:txBody>
          <a:bodyPr/>
          <a:lstStyle/>
          <a:p>
            <a:fld id="{27F8DDA4-3B80-4E8A-A8F5-521F73BF9127}" type="slidenum">
              <a:rPr lang="en-US" smtClean="0"/>
              <a:t>5</a:t>
            </a:fld>
            <a:endParaRPr lang="en-US"/>
          </a:p>
        </p:txBody>
      </p:sp>
    </p:spTree>
    <p:extLst>
      <p:ext uri="{BB962C8B-B14F-4D97-AF65-F5344CB8AC3E}">
        <p14:creationId xmlns:p14="http://schemas.microsoft.com/office/powerpoint/2010/main" val="1075331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diagram of a machine&#10;&#10;AI-generated content may be incorrect.">
            <a:extLst>
              <a:ext uri="{FF2B5EF4-FFF2-40B4-BE49-F238E27FC236}">
                <a16:creationId xmlns:a16="http://schemas.microsoft.com/office/drawing/2014/main" id="{FF1A6E0E-A85A-AE79-A7A6-ED921C0C043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333"/>
          <a:stretch>
            <a:fillRect/>
          </a:stretch>
        </p:blipFill>
        <p:spPr>
          <a:xfrm>
            <a:off x="20" y="10"/>
            <a:ext cx="12191980" cy="6857990"/>
          </a:xfrm>
          <a:noFill/>
        </p:spPr>
      </p:pic>
      <p:sp>
        <p:nvSpPr>
          <p:cNvPr id="4" name="Footer Placeholder 3">
            <a:extLst>
              <a:ext uri="{FF2B5EF4-FFF2-40B4-BE49-F238E27FC236}">
                <a16:creationId xmlns:a16="http://schemas.microsoft.com/office/drawing/2014/main" id="{5D29E6CE-0550-93C0-06DA-91F5A8B997C2}"/>
              </a:ext>
            </a:extLst>
          </p:cNvPr>
          <p:cNvSpPr>
            <a:spLocks noGrp="1"/>
          </p:cNvSpPr>
          <p:nvPr>
            <p:ph type="ftr" sz="quarter" idx="11"/>
          </p:nvPr>
        </p:nvSpPr>
        <p:spPr/>
        <p:txBody>
          <a:bodyPr/>
          <a:lstStyle/>
          <a:p>
            <a:pPr>
              <a:spcAft>
                <a:spcPts val="600"/>
              </a:spcAft>
            </a:pPr>
            <a:r>
              <a:rPr lang="en-US"/>
              <a:t>Sample Footer Text</a:t>
            </a:r>
          </a:p>
        </p:txBody>
      </p:sp>
      <p:sp>
        <p:nvSpPr>
          <p:cNvPr id="5" name="Date Placeholder 4" hidden="1">
            <a:extLst>
              <a:ext uri="{FF2B5EF4-FFF2-40B4-BE49-F238E27FC236}">
                <a16:creationId xmlns:a16="http://schemas.microsoft.com/office/drawing/2014/main" id="{8FB01F20-32A1-A2E9-9BDF-A4B6696DB6C0}"/>
              </a:ext>
            </a:extLst>
          </p:cNvPr>
          <p:cNvSpPr>
            <a:spLocks noGrp="1"/>
          </p:cNvSpPr>
          <p:nvPr>
            <p:ph type="dt" sz="half" idx="10"/>
          </p:nvPr>
        </p:nvSpPr>
        <p:spPr/>
        <p:txBody>
          <a:bodyPr/>
          <a:lstStyle/>
          <a:p>
            <a:pPr>
              <a:spcAft>
                <a:spcPts val="600"/>
              </a:spcAft>
            </a:pPr>
            <a:fld id="{D849E410-BE9E-427B-BCB5-604E33C4348E}" type="datetime1">
              <a:rPr lang="en-US" smtClean="0"/>
              <a:pPr>
                <a:spcAft>
                  <a:spcPts val="600"/>
                </a:spcAft>
              </a:pPr>
              <a:t>9/4/2025</a:t>
            </a:fld>
            <a:endParaRPr lang="en-US"/>
          </a:p>
        </p:txBody>
      </p:sp>
      <p:sp>
        <p:nvSpPr>
          <p:cNvPr id="6" name="Slide Number Placeholder 5" hidden="1">
            <a:extLst>
              <a:ext uri="{FF2B5EF4-FFF2-40B4-BE49-F238E27FC236}">
                <a16:creationId xmlns:a16="http://schemas.microsoft.com/office/drawing/2014/main" id="{B6D14646-5000-E3AB-5069-60136F1453F2}"/>
              </a:ext>
            </a:extLst>
          </p:cNvPr>
          <p:cNvSpPr>
            <a:spLocks noGrp="1"/>
          </p:cNvSpPr>
          <p:nvPr>
            <p:ph type="sldNum" sz="quarter" idx="12"/>
          </p:nvPr>
        </p:nvSpPr>
        <p:spPr/>
        <p:txBody>
          <a:bodyPr/>
          <a:lstStyle/>
          <a:p>
            <a:pPr>
              <a:spcAft>
                <a:spcPts val="600"/>
              </a:spcAft>
            </a:pPr>
            <a:fld id="{27F8DDA4-3B80-4E8A-A8F5-521F73BF9127}" type="slidenum">
              <a:rPr lang="en-US" smtClean="0"/>
              <a:pPr>
                <a:spcAft>
                  <a:spcPts val="600"/>
                </a:spcAft>
              </a:pPr>
              <a:t>6</a:t>
            </a:fld>
            <a:endParaRPr lang="en-US"/>
          </a:p>
        </p:txBody>
      </p:sp>
    </p:spTree>
    <p:extLst>
      <p:ext uri="{BB962C8B-B14F-4D97-AF65-F5344CB8AC3E}">
        <p14:creationId xmlns:p14="http://schemas.microsoft.com/office/powerpoint/2010/main" val="117647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yellow and blue background with words and symbols&#10;&#10;AI-generated content may be incorrect.">
            <a:extLst>
              <a:ext uri="{FF2B5EF4-FFF2-40B4-BE49-F238E27FC236}">
                <a16:creationId xmlns:a16="http://schemas.microsoft.com/office/drawing/2014/main" id="{DA9C6D33-AC4F-DA8F-C05D-3A40155A6F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5678" y="391319"/>
            <a:ext cx="10800644" cy="6075362"/>
          </a:xfrm>
          <a:noFill/>
        </p:spPr>
      </p:pic>
      <p:sp>
        <p:nvSpPr>
          <p:cNvPr id="4" name="Footer Placeholder 3">
            <a:extLst>
              <a:ext uri="{FF2B5EF4-FFF2-40B4-BE49-F238E27FC236}">
                <a16:creationId xmlns:a16="http://schemas.microsoft.com/office/drawing/2014/main" id="{F6DB416B-2124-3A2D-FF94-A799F3E962B2}"/>
              </a:ext>
            </a:extLst>
          </p:cNvPr>
          <p:cNvSpPr>
            <a:spLocks noGrp="1"/>
          </p:cNvSpPr>
          <p:nvPr>
            <p:ph type="ftr" sz="quarter" idx="11"/>
          </p:nvPr>
        </p:nvSpPr>
        <p:spPr/>
        <p:txBody>
          <a:bodyPr/>
          <a:lstStyle/>
          <a:p>
            <a:pPr>
              <a:spcAft>
                <a:spcPts val="600"/>
              </a:spcAft>
            </a:pPr>
            <a:r>
              <a:rPr lang="en-US"/>
              <a:t>Sample Footer Text</a:t>
            </a:r>
          </a:p>
        </p:txBody>
      </p:sp>
      <p:sp>
        <p:nvSpPr>
          <p:cNvPr id="5" name="Date Placeholder 4" hidden="1">
            <a:extLst>
              <a:ext uri="{FF2B5EF4-FFF2-40B4-BE49-F238E27FC236}">
                <a16:creationId xmlns:a16="http://schemas.microsoft.com/office/drawing/2014/main" id="{EAB25E34-F179-6A39-3506-D75251D23B89}"/>
              </a:ext>
            </a:extLst>
          </p:cNvPr>
          <p:cNvSpPr>
            <a:spLocks noGrp="1"/>
          </p:cNvSpPr>
          <p:nvPr>
            <p:ph type="dt" sz="half" idx="10"/>
          </p:nvPr>
        </p:nvSpPr>
        <p:spPr/>
        <p:txBody>
          <a:bodyPr/>
          <a:lstStyle/>
          <a:p>
            <a:pPr>
              <a:spcAft>
                <a:spcPts val="600"/>
              </a:spcAft>
            </a:pPr>
            <a:fld id="{D849E410-BE9E-427B-BCB5-604E33C4348E}" type="datetime1">
              <a:rPr lang="en-US" smtClean="0"/>
              <a:pPr>
                <a:spcAft>
                  <a:spcPts val="600"/>
                </a:spcAft>
              </a:pPr>
              <a:t>9/4/2025</a:t>
            </a:fld>
            <a:endParaRPr lang="en-US"/>
          </a:p>
        </p:txBody>
      </p:sp>
      <p:sp>
        <p:nvSpPr>
          <p:cNvPr id="6" name="Slide Number Placeholder 5" hidden="1">
            <a:extLst>
              <a:ext uri="{FF2B5EF4-FFF2-40B4-BE49-F238E27FC236}">
                <a16:creationId xmlns:a16="http://schemas.microsoft.com/office/drawing/2014/main" id="{1BAA0123-F902-6933-9F0C-28F13D628866}"/>
              </a:ext>
            </a:extLst>
          </p:cNvPr>
          <p:cNvSpPr>
            <a:spLocks noGrp="1"/>
          </p:cNvSpPr>
          <p:nvPr>
            <p:ph type="sldNum" sz="quarter" idx="12"/>
          </p:nvPr>
        </p:nvSpPr>
        <p:spPr/>
        <p:txBody>
          <a:bodyPr/>
          <a:lstStyle/>
          <a:p>
            <a:pPr>
              <a:spcAft>
                <a:spcPts val="600"/>
              </a:spcAft>
            </a:pPr>
            <a:fld id="{27F8DDA4-3B80-4E8A-A8F5-521F73BF9127}" type="slidenum">
              <a:rPr lang="en-US" smtClean="0"/>
              <a:pPr>
                <a:spcAft>
                  <a:spcPts val="600"/>
                </a:spcAft>
              </a:pPr>
              <a:t>7</a:t>
            </a:fld>
            <a:endParaRPr lang="en-US"/>
          </a:p>
        </p:txBody>
      </p:sp>
    </p:spTree>
    <p:extLst>
      <p:ext uri="{BB962C8B-B14F-4D97-AF65-F5344CB8AC3E}">
        <p14:creationId xmlns:p14="http://schemas.microsoft.com/office/powerpoint/2010/main" val="214893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E3D0A-03CF-08C5-62B0-DE14249600E8}"/>
              </a:ext>
            </a:extLst>
          </p:cNvPr>
          <p:cNvSpPr>
            <a:spLocks noGrp="1"/>
          </p:cNvSpPr>
          <p:nvPr>
            <p:ph type="title"/>
          </p:nvPr>
        </p:nvSpPr>
        <p:spPr>
          <a:xfrm>
            <a:off x="128016" y="365760"/>
            <a:ext cx="11534790" cy="5525653"/>
          </a:xfrm>
        </p:spPr>
        <p:txBody>
          <a:bodyPr anchor="t">
            <a:normAutofit/>
          </a:bodyPr>
          <a:lstStyle/>
          <a:p>
            <a:r>
              <a:rPr lang="en-US"/>
              <a:t>Introduction to Agentic AI</a:t>
            </a:r>
          </a:p>
        </p:txBody>
      </p:sp>
      <p:sp>
        <p:nvSpPr>
          <p:cNvPr id="4" name="Footer Placeholder 3">
            <a:extLst>
              <a:ext uri="{FF2B5EF4-FFF2-40B4-BE49-F238E27FC236}">
                <a16:creationId xmlns:a16="http://schemas.microsoft.com/office/drawing/2014/main" id="{042529C3-CDA5-A54C-6267-6DD93BCF449D}"/>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EEC6152-297B-CB9D-8AD1-D43070F377B5}"/>
              </a:ext>
            </a:extLst>
          </p:cNvPr>
          <p:cNvSpPr>
            <a:spLocks noGrp="1"/>
          </p:cNvSpPr>
          <p:nvPr>
            <p:ph type="dt" sz="half" idx="10"/>
          </p:nvPr>
        </p:nvSpPr>
        <p:spPr>
          <a:xfrm>
            <a:off x="10058400" y="6029868"/>
            <a:ext cx="1182686"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80A5E965-7F0A-D943-9846-6D28E77A108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8</a:t>
            </a:fld>
            <a:endParaRPr lang="en-US"/>
          </a:p>
        </p:txBody>
      </p:sp>
    </p:spTree>
    <p:extLst>
      <p:ext uri="{BB962C8B-B14F-4D97-AF65-F5344CB8AC3E}">
        <p14:creationId xmlns:p14="http://schemas.microsoft.com/office/powerpoint/2010/main" val="1208422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A03F885-9FCB-732E-162C-8643AEE12E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477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61FE-FC89-06E6-DAC9-4178CE756308}"/>
              </a:ext>
            </a:extLst>
          </p:cNvPr>
          <p:cNvSpPr>
            <a:spLocks noGrp="1"/>
          </p:cNvSpPr>
          <p:nvPr>
            <p:ph type="title"/>
          </p:nvPr>
        </p:nvSpPr>
        <p:spPr/>
        <p:txBody>
          <a:bodyPr/>
          <a:lstStyle/>
          <a:p>
            <a:endParaRPr lang="en-US"/>
          </a:p>
        </p:txBody>
      </p:sp>
      <p:pic>
        <p:nvPicPr>
          <p:cNvPr id="3074" name="Picture 2">
            <a:extLst>
              <a:ext uri="{FF2B5EF4-FFF2-40B4-BE49-F238E27FC236}">
                <a16:creationId xmlns:a16="http://schemas.microsoft.com/office/drawing/2014/main" id="{E424EFA7-12E7-0E8A-6E44-10098B601A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4175" y="438150"/>
            <a:ext cx="11430000" cy="598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367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I city Network Server Technology">
            <a:extLst>
              <a:ext uri="{FF2B5EF4-FFF2-40B4-BE49-F238E27FC236}">
                <a16:creationId xmlns:a16="http://schemas.microsoft.com/office/drawing/2014/main" id="{2F72ED5F-0CF4-4E14-9752-9027E387F8CF}"/>
              </a:ext>
            </a:extLst>
          </p:cNvPr>
          <p:cNvPicPr>
            <a:picLocks noGrp="1" noChangeAspect="1"/>
          </p:cNvPicPr>
          <p:nvPr>
            <p:ph type="pic" sz="quarter" idx="13"/>
          </p:nvPr>
        </p:nvPicPr>
        <p:blipFill>
          <a:blip r:embed="rId3"/>
          <a:srcRect r="33550"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B4E803C2-8887-370F-7978-6A56C0AB70DF}"/>
              </a:ext>
            </a:extLst>
          </p:cNvPr>
          <p:cNvSpPr>
            <a:spLocks noGrp="1"/>
          </p:cNvSpPr>
          <p:nvPr>
            <p:ph type="title"/>
          </p:nvPr>
        </p:nvSpPr>
        <p:spPr>
          <a:xfrm>
            <a:off x="1002085" y="4374100"/>
            <a:ext cx="3897905" cy="1380814"/>
          </a:xfrm>
        </p:spPr>
        <p:txBody>
          <a:bodyPr anchor="t">
            <a:normAutofit/>
          </a:bodyPr>
          <a:lstStyle/>
          <a:p>
            <a:r>
              <a:rPr lang="en-US"/>
              <a:t>What is Agentic AI?</a:t>
            </a:r>
          </a:p>
        </p:txBody>
      </p:sp>
      <p:sp>
        <p:nvSpPr>
          <p:cNvPr id="4" name="Content Placeholder 3">
            <a:extLst>
              <a:ext uri="{FF2B5EF4-FFF2-40B4-BE49-F238E27FC236}">
                <a16:creationId xmlns:a16="http://schemas.microsoft.com/office/drawing/2014/main" id="{AD6C8502-2797-9C19-2F00-5A0EDB2B89B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lnSpcReduction="10000"/>
          </a:bodyPr>
          <a:lstStyle/>
          <a:p>
            <a:pPr marL="0" indent="0">
              <a:spcBef>
                <a:spcPts val="2500"/>
              </a:spcBef>
              <a:buFont typeface="Arial" panose="020B0604020202020204" pitchFamily="34" charset="0"/>
              <a:buNone/>
            </a:pPr>
            <a:r>
              <a:rPr lang="en-US" sz="1800" b="1" dirty="0"/>
              <a:t>Beyond Traditional AI</a:t>
            </a:r>
          </a:p>
          <a:p>
            <a:pPr marL="0" lvl="1" indent="0">
              <a:buFont typeface="Arial" panose="020B0604020202020204" pitchFamily="34" charset="0"/>
              <a:buNone/>
            </a:pPr>
            <a:r>
              <a:rPr sz="1800" dirty="0"/>
              <a:t>Agentic AI goes beyond simple responses by planning and making decisions independently to achieve goals.</a:t>
            </a:r>
            <a:endParaRPr lang="en-US" sz="1800" dirty="0"/>
          </a:p>
          <a:p>
            <a:pPr marL="0" indent="0">
              <a:spcBef>
                <a:spcPts val="2500"/>
              </a:spcBef>
              <a:buFont typeface="Arial" panose="020B0604020202020204" pitchFamily="34" charset="0"/>
              <a:buNone/>
            </a:pPr>
            <a:r>
              <a:rPr lang="en-US" sz="1800" b="1" dirty="0"/>
              <a:t>Goal-Oriented Behavior</a:t>
            </a:r>
          </a:p>
          <a:p>
            <a:pPr marL="0" lvl="1" indent="0">
              <a:buFont typeface="Arial" panose="020B0604020202020204" pitchFamily="34" charset="0"/>
              <a:buNone/>
            </a:pPr>
            <a:r>
              <a:rPr sz="1800" dirty="0"/>
              <a:t>This AI actively pursues specific goals, showing initiative unlike conventional chatbots or language models.</a:t>
            </a:r>
            <a:endParaRPr lang="en-US" sz="1800" dirty="0"/>
          </a:p>
          <a:p>
            <a:pPr marL="0" indent="0">
              <a:spcBef>
                <a:spcPts val="2500"/>
              </a:spcBef>
              <a:buFont typeface="Arial" panose="020B0604020202020204" pitchFamily="34" charset="0"/>
              <a:buNone/>
            </a:pPr>
            <a:r>
              <a:rPr lang="en-US" sz="1800" b="1" dirty="0"/>
              <a:t>Active Task Execution</a:t>
            </a:r>
          </a:p>
          <a:p>
            <a:pPr marL="0" lvl="1" indent="0">
              <a:buFont typeface="Arial" panose="020B0604020202020204" pitchFamily="34" charset="0"/>
              <a:buNone/>
            </a:pPr>
            <a:r>
              <a:rPr sz="1800" dirty="0"/>
              <a:t>Agentic AI integrates reasoning, planning, and action, becoming an active participant in tasks.</a:t>
            </a:r>
            <a:endParaRPr lang="en-US" sz="1800" dirty="0"/>
          </a:p>
          <a:p>
            <a:pPr marL="0" indent="0">
              <a:spcBef>
                <a:spcPts val="2500"/>
              </a:spcBef>
              <a:buFont typeface="Arial" panose="020B0604020202020204" pitchFamily="34" charset="0"/>
              <a:buNone/>
            </a:pPr>
            <a:r>
              <a:rPr lang="en-US" sz="1800" b="1" dirty="0"/>
              <a:t>Independent Problem Solving</a:t>
            </a:r>
          </a:p>
          <a:p>
            <a:pPr marL="0" lvl="1" indent="0">
              <a:buFont typeface="Arial" panose="020B0604020202020204" pitchFamily="34" charset="0"/>
              <a:buNone/>
            </a:pPr>
            <a:r>
              <a:rPr sz="1800" dirty="0"/>
              <a:t>It operates independently in dynamic environments, enabling proactive and effective problem-solving</a:t>
            </a:r>
            <a:r>
              <a:rPr dirty="0"/>
              <a:t>.</a:t>
            </a:r>
            <a:endParaRPr lang="en-US" dirty="0"/>
          </a:p>
        </p:txBody>
      </p:sp>
      <p:sp>
        <p:nvSpPr>
          <p:cNvPr id="5" name="Footer Placeholder 4">
            <a:extLst>
              <a:ext uri="{FF2B5EF4-FFF2-40B4-BE49-F238E27FC236}">
                <a16:creationId xmlns:a16="http://schemas.microsoft.com/office/drawing/2014/main" id="{854C17C0-EC8F-3C18-BCC1-A817120E5B36}"/>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C317ADCB-8F64-CF1B-46D7-B8F25286F4D6}"/>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8E1999F8-2D9C-313F-3CB2-EB913C94B1E6}"/>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11</a:t>
            </a:fld>
            <a:endParaRPr lang="en-US"/>
          </a:p>
        </p:txBody>
      </p:sp>
    </p:spTree>
    <p:extLst>
      <p:ext uri="{BB962C8B-B14F-4D97-AF65-F5344CB8AC3E}">
        <p14:creationId xmlns:p14="http://schemas.microsoft.com/office/powerpoint/2010/main" val="39516720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2ED52-7830-134F-8AE6-3D9F21DC41ED}"/>
              </a:ext>
            </a:extLst>
          </p:cNvPr>
          <p:cNvSpPr>
            <a:spLocks noGrp="1"/>
          </p:cNvSpPr>
          <p:nvPr>
            <p:ph type="title"/>
          </p:nvPr>
        </p:nvSpPr>
        <p:spPr>
          <a:xfrm>
            <a:off x="185877" y="1062360"/>
            <a:ext cx="9948723" cy="5762371"/>
          </a:xfrm>
        </p:spPr>
        <p:txBody>
          <a:bodyPr anchor="b">
            <a:normAutofit/>
          </a:bodyPr>
          <a:lstStyle/>
          <a:p>
            <a:r>
              <a:rPr lang="en-US"/>
              <a:t>Mechanics and Differentiation</a:t>
            </a:r>
          </a:p>
        </p:txBody>
      </p:sp>
      <p:sp>
        <p:nvSpPr>
          <p:cNvPr id="4" name="Footer Placeholder 3">
            <a:extLst>
              <a:ext uri="{FF2B5EF4-FFF2-40B4-BE49-F238E27FC236}">
                <a16:creationId xmlns:a16="http://schemas.microsoft.com/office/drawing/2014/main" id="{986E06D1-E9F2-8653-83ED-7A3C2B32A356}"/>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B6C104A4-A423-43D7-FBB8-A50A9FB71D07}"/>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2EDB67E5-BEEB-CC19-F6C0-C25CD1106772}"/>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12</a:t>
            </a:fld>
            <a:endParaRPr lang="en-US"/>
          </a:p>
        </p:txBody>
      </p:sp>
    </p:spTree>
    <p:extLst>
      <p:ext uri="{BB962C8B-B14F-4D97-AF65-F5344CB8AC3E}">
        <p14:creationId xmlns:p14="http://schemas.microsoft.com/office/powerpoint/2010/main" val="1155857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hiny pyramid greenhouse sustainable growth and finance concept">
            <a:extLst>
              <a:ext uri="{FF2B5EF4-FFF2-40B4-BE49-F238E27FC236}">
                <a16:creationId xmlns:a16="http://schemas.microsoft.com/office/drawing/2014/main" id="{A7CB7751-4966-4801-A6B1-31727E8C360C}"/>
              </a:ext>
            </a:extLst>
          </p:cNvPr>
          <p:cNvPicPr>
            <a:picLocks noGrp="1" noChangeAspect="1"/>
          </p:cNvPicPr>
          <p:nvPr>
            <p:ph type="pic" sz="quarter" idx="13"/>
          </p:nvPr>
        </p:nvPicPr>
        <p:blipFill>
          <a:blip r:embed="rId3"/>
          <a:srcRect l="31220" r="2330"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27589461-3A51-4D5E-FF81-59E615F8F838}"/>
              </a:ext>
            </a:extLst>
          </p:cNvPr>
          <p:cNvSpPr>
            <a:spLocks noGrp="1"/>
          </p:cNvSpPr>
          <p:nvPr>
            <p:ph type="title"/>
          </p:nvPr>
        </p:nvSpPr>
        <p:spPr>
          <a:xfrm>
            <a:off x="1002085" y="4374100"/>
            <a:ext cx="3897905" cy="1380814"/>
          </a:xfrm>
        </p:spPr>
        <p:txBody>
          <a:bodyPr anchor="t">
            <a:normAutofit/>
          </a:bodyPr>
          <a:lstStyle/>
          <a:p>
            <a:r>
              <a:rPr lang="en-US"/>
              <a:t>How It Works (High Level)</a:t>
            </a:r>
          </a:p>
        </p:txBody>
      </p:sp>
      <p:sp>
        <p:nvSpPr>
          <p:cNvPr id="4" name="Content Placeholder 3">
            <a:extLst>
              <a:ext uri="{FF2B5EF4-FFF2-40B4-BE49-F238E27FC236}">
                <a16:creationId xmlns:a16="http://schemas.microsoft.com/office/drawing/2014/main" id="{4113FB0C-DAF1-C0B0-B166-F4305B59500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Reasoning Layer</a:t>
            </a:r>
          </a:p>
          <a:p>
            <a:pPr marL="0" lvl="1" indent="0">
              <a:buFont typeface="Arial" panose="020B0604020202020204" pitchFamily="34" charset="0"/>
              <a:buNone/>
            </a:pPr>
            <a:r>
              <a:t>The reasoning layer helps AI understand goals and break them into manageable steps for effective processing.</a:t>
            </a:r>
            <a:endParaRPr lang="en-US"/>
          </a:p>
          <a:p>
            <a:pPr marL="0" indent="0">
              <a:spcBef>
                <a:spcPts val="2500"/>
              </a:spcBef>
              <a:buFont typeface="Arial" panose="020B0604020202020204" pitchFamily="34" charset="0"/>
              <a:buNone/>
            </a:pPr>
            <a:r>
              <a:rPr lang="en-US" b="1"/>
              <a:t>Planning Layer</a:t>
            </a:r>
          </a:p>
          <a:p>
            <a:pPr marL="0" lvl="1" indent="0">
              <a:buFont typeface="Arial" panose="020B0604020202020204" pitchFamily="34" charset="0"/>
              <a:buNone/>
            </a:pPr>
            <a:r>
              <a:t>Planning selects the right tools, data, and actions necessary to meet the objectives efficiently.</a:t>
            </a:r>
            <a:endParaRPr lang="en-US"/>
          </a:p>
          <a:p>
            <a:pPr marL="0" indent="0">
              <a:spcBef>
                <a:spcPts val="2500"/>
              </a:spcBef>
              <a:buFont typeface="Arial" panose="020B0604020202020204" pitchFamily="34" charset="0"/>
              <a:buNone/>
            </a:pPr>
            <a:r>
              <a:rPr lang="en-US" b="1"/>
              <a:t>Acting Layer</a:t>
            </a:r>
          </a:p>
          <a:p>
            <a:pPr marL="0" lvl="1" indent="0">
              <a:buFont typeface="Arial" panose="020B0604020202020204" pitchFamily="34" charset="0"/>
              <a:buNone/>
            </a:pPr>
            <a:r>
              <a:t>The acting layer executes actions, learns from results, and refines future steps for continuous improvement.</a:t>
            </a:r>
            <a:endParaRPr lang="en-US"/>
          </a:p>
          <a:p>
            <a:pPr marL="0" indent="0">
              <a:spcBef>
                <a:spcPts val="2500"/>
              </a:spcBef>
              <a:buFont typeface="Arial" panose="020B0604020202020204" pitchFamily="34" charset="0"/>
              <a:buNone/>
            </a:pPr>
            <a:r>
              <a:rPr lang="en-US" b="1"/>
              <a:t>Autonomous Execution</a:t>
            </a:r>
          </a:p>
          <a:p>
            <a:pPr marL="0" lvl="1" indent="0">
              <a:buFont typeface="Arial" panose="020B0604020202020204" pitchFamily="34" charset="0"/>
              <a:buNone/>
            </a:pPr>
            <a:r>
              <a:t>Agentic AI works independently, initiating and completing tasks without user input, enhancing versatility.</a:t>
            </a:r>
            <a:endParaRPr lang="en-US"/>
          </a:p>
        </p:txBody>
      </p:sp>
      <p:sp>
        <p:nvSpPr>
          <p:cNvPr id="5" name="Footer Placeholder 4">
            <a:extLst>
              <a:ext uri="{FF2B5EF4-FFF2-40B4-BE49-F238E27FC236}">
                <a16:creationId xmlns:a16="http://schemas.microsoft.com/office/drawing/2014/main" id="{7379CD21-C9FD-48BD-0BE9-E88BD77526B7}"/>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8521888-0DD8-7114-211A-44B24674B853}"/>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D442D8DD-F115-2B57-470D-F0F8EC893890}"/>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13</a:t>
            </a:fld>
            <a:endParaRPr lang="en-US"/>
          </a:p>
        </p:txBody>
      </p:sp>
    </p:spTree>
    <p:extLst>
      <p:ext uri="{BB962C8B-B14F-4D97-AF65-F5344CB8AC3E}">
        <p14:creationId xmlns:p14="http://schemas.microsoft.com/office/powerpoint/2010/main" val="17842185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robot next to a cell phone&#10;&#10;AI-generated content may be incorrect.">
            <a:extLst>
              <a:ext uri="{FF2B5EF4-FFF2-40B4-BE49-F238E27FC236}">
                <a16:creationId xmlns:a16="http://schemas.microsoft.com/office/drawing/2014/main" id="{712F9B47-4BD8-A849-6867-FB98B53AA13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9710" r="15290"/>
          <a:stretch>
            <a:fillRect/>
          </a:stretch>
        </p:blipFill>
        <p:spPr>
          <a:xfrm>
            <a:off x="20" y="10"/>
            <a:ext cx="3771880" cy="6857990"/>
          </a:xfrm>
          <a:noFill/>
        </p:spPr>
      </p:pic>
      <p:sp>
        <p:nvSpPr>
          <p:cNvPr id="2" name="Title 1"/>
          <p:cNvSpPr>
            <a:spLocks noGrp="1"/>
          </p:cNvSpPr>
          <p:nvPr>
            <p:ph type="title"/>
          </p:nvPr>
        </p:nvSpPr>
        <p:spPr>
          <a:xfrm>
            <a:off x="3124200" y="0"/>
            <a:ext cx="7391400" cy="1207008"/>
          </a:xfrm>
        </p:spPr>
        <p:txBody>
          <a:bodyPr anchor="b">
            <a:normAutofit/>
          </a:bodyPr>
          <a:lstStyle/>
          <a:p>
            <a:r>
              <a:rPr lang="en-US" b="1" dirty="0"/>
              <a:t>How Agentic AI Chooses the Right App</a:t>
            </a:r>
          </a:p>
        </p:txBody>
      </p:sp>
      <p:sp>
        <p:nvSpPr>
          <p:cNvPr id="3" name="Content Placeholder 2"/>
          <p:cNvSpPr>
            <a:spLocks noGrp="1"/>
          </p:cNvSpPr>
          <p:nvPr>
            <p:ph idx="1"/>
          </p:nvPr>
        </p:nvSpPr>
        <p:spPr>
          <a:xfrm>
            <a:off x="4358608" y="1367622"/>
            <a:ext cx="7171976" cy="4477552"/>
          </a:xfrm>
        </p:spPr>
        <p:txBody>
          <a:bodyPr>
            <a:normAutofit fontScale="92500" lnSpcReduction="10000"/>
          </a:bodyPr>
          <a:lstStyle/>
          <a:p>
            <a:r>
              <a:rPr lang="en-US" sz="1800" dirty="0">
                <a:latin typeface="Congenial" panose="020F0502020204030204" pitchFamily="2" charset="0"/>
              </a:rPr>
              <a:t>Agentic AI doesn't randomly open apps — it uses smart decision-making:</a:t>
            </a:r>
          </a:p>
          <a:p>
            <a:endParaRPr lang="en-US" sz="1800" dirty="0">
              <a:latin typeface="Congenial" panose="020F0502020204030204" pitchFamily="2" charset="0"/>
            </a:endParaRPr>
          </a:p>
          <a:p>
            <a:r>
              <a:rPr lang="en-US" sz="1800" dirty="0">
                <a:latin typeface="Congenial" panose="020F0502020204030204" pitchFamily="2" charset="0"/>
              </a:rPr>
              <a:t>1. Goal Understanding: Breaks down your request into tasks.</a:t>
            </a:r>
          </a:p>
          <a:p>
            <a:r>
              <a:rPr lang="en-US" sz="1800" dirty="0">
                <a:latin typeface="Congenial" panose="020F0502020204030204" pitchFamily="2" charset="0"/>
              </a:rPr>
              <a:t>2. Tool Awareness: Knows what each app/API can do.</a:t>
            </a:r>
          </a:p>
          <a:p>
            <a:r>
              <a:rPr lang="en-US" sz="1800" dirty="0">
                <a:latin typeface="Congenial" panose="020F0502020204030204" pitchFamily="2" charset="0"/>
              </a:rPr>
              <a:t>3. Planning Logic: Chooses the best tool for each step.</a:t>
            </a:r>
          </a:p>
          <a:p>
            <a:r>
              <a:rPr lang="en-US" sz="1800" dirty="0">
                <a:latin typeface="Congenial" panose="020F0502020204030204" pitchFamily="2" charset="0"/>
              </a:rPr>
              <a:t>4. Autonomous Execution: Executes actions and adapts if needed.</a:t>
            </a:r>
          </a:p>
          <a:p>
            <a:endParaRPr lang="en-US" sz="1800" dirty="0">
              <a:latin typeface="Congenial" panose="020F0502020204030204" pitchFamily="2" charset="0"/>
            </a:endParaRPr>
          </a:p>
          <a:p>
            <a:r>
              <a:rPr lang="en-US" sz="1800" dirty="0">
                <a:latin typeface="Congenial" panose="020F0502020204030204" pitchFamily="2" charset="0"/>
              </a:rPr>
              <a:t>Analogy: It's like a smart intern who knows which software to use for each task —</a:t>
            </a:r>
          </a:p>
          <a:p>
            <a:r>
              <a:rPr lang="en-US" sz="1800" dirty="0">
                <a:latin typeface="Congenial" panose="020F0502020204030204" pitchFamily="2" charset="0"/>
              </a:rPr>
              <a:t>you just tell them the goal, and they figure out the rest.</a:t>
            </a:r>
          </a:p>
        </p:txBody>
      </p:sp>
      <p:sp>
        <p:nvSpPr>
          <p:cNvPr id="17" name="Footer Placeholder 4">
            <a:extLst>
              <a:ext uri="{FF2B5EF4-FFF2-40B4-BE49-F238E27FC236}">
                <a16:creationId xmlns:a16="http://schemas.microsoft.com/office/drawing/2014/main" id="{D4E171F2-4216-DAE9-D14A-A95039178753}"/>
              </a:ext>
            </a:extLst>
          </p:cNvPr>
          <p:cNvSpPr>
            <a:spLocks noGrp="1"/>
          </p:cNvSpPr>
          <p:nvPr>
            <p:ph type="ftr" sz="quarter" idx="11"/>
          </p:nvPr>
        </p:nvSpPr>
        <p:spPr>
          <a:xfrm>
            <a:off x="4358608" y="6029868"/>
            <a:ext cx="2024542" cy="365125"/>
          </a:xfrm>
        </p:spPr>
        <p:txBody>
          <a:bodyPr anchor="ctr">
            <a:normAutofit/>
          </a:bodyPr>
          <a:lstStyle/>
          <a:p>
            <a:pPr>
              <a:spcAft>
                <a:spcPts val="600"/>
              </a:spcAft>
            </a:pPr>
            <a:r>
              <a:rPr lang="en-US"/>
              <a:t>Sample Footer Text</a:t>
            </a:r>
          </a:p>
        </p:txBody>
      </p:sp>
      <p:sp>
        <p:nvSpPr>
          <p:cNvPr id="18" name="Date Placeholder 5">
            <a:extLst>
              <a:ext uri="{FF2B5EF4-FFF2-40B4-BE49-F238E27FC236}">
                <a16:creationId xmlns:a16="http://schemas.microsoft.com/office/drawing/2014/main" id="{3474E403-648C-BB09-24BD-A0F688013A43}"/>
              </a:ext>
            </a:extLst>
          </p:cNvPr>
          <p:cNvSpPr>
            <a:spLocks noGrp="1"/>
          </p:cNvSpPr>
          <p:nvPr>
            <p:ph type="dt" sz="half" idx="10"/>
          </p:nvPr>
        </p:nvSpPr>
        <p:spPr>
          <a:xfrm>
            <a:off x="10058400" y="6029868"/>
            <a:ext cx="1179576" cy="365125"/>
          </a:xfrm>
        </p:spPr>
        <p:txBody>
          <a:bodyPr anchor="ctr">
            <a:normAutofit/>
          </a:bodyPr>
          <a:lstStyle/>
          <a:p>
            <a:pPr>
              <a:spcAft>
                <a:spcPts val="600"/>
              </a:spcAft>
            </a:pPr>
            <a:fld id="{8493712A-E27F-4D57-B2CA-5B36D6E8A4B0}" type="datetime1">
              <a:rPr lang="en-US" smtClean="0"/>
              <a:pPr>
                <a:spcAft>
                  <a:spcPts val="600"/>
                </a:spcAft>
              </a:pPr>
              <a:t>9/4/2025</a:t>
            </a:fld>
            <a:endParaRPr lang="en-US"/>
          </a:p>
        </p:txBody>
      </p:sp>
      <p:sp>
        <p:nvSpPr>
          <p:cNvPr id="19" name="Slide Number Placeholder 6">
            <a:extLst>
              <a:ext uri="{FF2B5EF4-FFF2-40B4-BE49-F238E27FC236}">
                <a16:creationId xmlns:a16="http://schemas.microsoft.com/office/drawing/2014/main" id="{C39A1375-EC15-29BA-D788-07F046767099}"/>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8CA6-F95F-F817-8D40-D8EB113A0D05}"/>
              </a:ext>
            </a:extLst>
          </p:cNvPr>
          <p:cNvSpPr>
            <a:spLocks noGrp="1"/>
          </p:cNvSpPr>
          <p:nvPr>
            <p:ph type="title"/>
          </p:nvPr>
        </p:nvSpPr>
        <p:spPr>
          <a:xfrm>
            <a:off x="185877" y="1062360"/>
            <a:ext cx="9948723" cy="5762371"/>
          </a:xfrm>
        </p:spPr>
        <p:txBody>
          <a:bodyPr anchor="b">
            <a:normAutofit/>
          </a:bodyPr>
          <a:lstStyle/>
          <a:p>
            <a:r>
              <a:rPr lang="en-US"/>
              <a:t>Applications and Examples</a:t>
            </a:r>
          </a:p>
        </p:txBody>
      </p:sp>
      <p:sp>
        <p:nvSpPr>
          <p:cNvPr id="4" name="Footer Placeholder 3">
            <a:extLst>
              <a:ext uri="{FF2B5EF4-FFF2-40B4-BE49-F238E27FC236}">
                <a16:creationId xmlns:a16="http://schemas.microsoft.com/office/drawing/2014/main" id="{A424EE82-2FD3-0CDC-DE83-4C76219AC1BC}"/>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464C7BD-E342-45A8-9910-A7ACFB52011D}"/>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5E0EB73A-E0BA-92D2-A518-EBDA1C44BD68}"/>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15</a:t>
            </a:fld>
            <a:endParaRPr lang="en-US"/>
          </a:p>
        </p:txBody>
      </p:sp>
    </p:spTree>
    <p:extLst>
      <p:ext uri="{BB962C8B-B14F-4D97-AF65-F5344CB8AC3E}">
        <p14:creationId xmlns:p14="http://schemas.microsoft.com/office/powerpoint/2010/main" val="25326572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Plane and Flight information screens double Exposure Concepts">
            <a:extLst>
              <a:ext uri="{FF2B5EF4-FFF2-40B4-BE49-F238E27FC236}">
                <a16:creationId xmlns:a16="http://schemas.microsoft.com/office/drawing/2014/main" id="{142920F8-272C-449C-8BDA-44922DD3A8E3}"/>
              </a:ext>
            </a:extLst>
          </p:cNvPr>
          <p:cNvPicPr>
            <a:picLocks noGrp="1" noChangeAspect="1"/>
          </p:cNvPicPr>
          <p:nvPr>
            <p:ph type="pic" sz="quarter" idx="13"/>
          </p:nvPr>
        </p:nvPicPr>
        <p:blipFill>
          <a:blip r:embed="rId3"/>
          <a:srcRect l="25222" r="8943" b="2"/>
          <a:stretch>
            <a:fillRect/>
          </a:stretch>
        </p:blipFill>
        <p:spPr>
          <a:xfrm>
            <a:off x="20" y="10"/>
            <a:ext cx="5486380" cy="5562590"/>
          </a:xfrm>
          <a:prstGeom prst="rect">
            <a:avLst/>
          </a:prstGeom>
          <a:noFill/>
        </p:spPr>
      </p:pic>
      <p:sp>
        <p:nvSpPr>
          <p:cNvPr id="2" name="Title 1">
            <a:extLst>
              <a:ext uri="{FF2B5EF4-FFF2-40B4-BE49-F238E27FC236}">
                <a16:creationId xmlns:a16="http://schemas.microsoft.com/office/drawing/2014/main" id="{CB808DD3-47AF-5A10-E317-4BF006CEA41F}"/>
              </a:ext>
            </a:extLst>
          </p:cNvPr>
          <p:cNvSpPr>
            <a:spLocks noGrp="1"/>
          </p:cNvSpPr>
          <p:nvPr>
            <p:ph type="title"/>
          </p:nvPr>
        </p:nvSpPr>
        <p:spPr>
          <a:xfrm>
            <a:off x="5063318" y="0"/>
            <a:ext cx="4385481" cy="1796124"/>
          </a:xfrm>
        </p:spPr>
        <p:txBody>
          <a:bodyPr anchor="b">
            <a:normAutofit/>
          </a:bodyPr>
          <a:lstStyle/>
          <a:p>
            <a:r>
              <a:rPr lang="en-US"/>
              <a:t>Real-Time Example</a:t>
            </a:r>
          </a:p>
        </p:txBody>
      </p:sp>
      <p:sp>
        <p:nvSpPr>
          <p:cNvPr id="4" name="Content Placeholder 3">
            <a:extLst>
              <a:ext uri="{FF2B5EF4-FFF2-40B4-BE49-F238E27FC236}">
                <a16:creationId xmlns:a16="http://schemas.microsoft.com/office/drawing/2014/main" id="{B7DE57F6-098C-9BEC-B667-5FDECDF23D1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55056" y="1965281"/>
            <a:ext cx="4859992" cy="3732876"/>
          </a:xfrm>
        </p:spPr>
        <p:txBody>
          <a:bodyPr>
            <a:normAutofit/>
          </a:bodyPr>
          <a:lstStyle/>
          <a:p>
            <a:pPr marL="0" indent="0">
              <a:spcBef>
                <a:spcPts val="2500"/>
              </a:spcBef>
              <a:buFont typeface="Arial" panose="020B0604020202020204" pitchFamily="34" charset="0"/>
              <a:buNone/>
            </a:pPr>
            <a:r>
              <a:rPr lang="en-US" b="1"/>
              <a:t>Traditional LLM Assistance</a:t>
            </a:r>
          </a:p>
          <a:p>
            <a:pPr marL="0" lvl="1" indent="0">
              <a:buFont typeface="Arial" panose="020B0604020202020204" pitchFamily="34" charset="0"/>
              <a:buNone/>
            </a:pPr>
            <a:r>
              <a:rPr lang="en-US"/>
              <a:t>Traditional language models suggest flight options when given necessary input but lack proactive task management capabilities.</a:t>
            </a:r>
          </a:p>
          <a:p>
            <a:pPr marL="0" indent="0">
              <a:spcBef>
                <a:spcPts val="2500"/>
              </a:spcBef>
              <a:buFont typeface="Arial" panose="020B0604020202020204" pitchFamily="34" charset="0"/>
              <a:buNone/>
            </a:pPr>
            <a:r>
              <a:rPr lang="en-US" b="1"/>
              <a:t>Agentic AI Autonomy</a:t>
            </a:r>
          </a:p>
          <a:p>
            <a:pPr marL="0" lvl="1" indent="0">
              <a:buFont typeface="Arial" panose="020B0604020202020204" pitchFamily="34" charset="0"/>
              <a:buNone/>
            </a:pPr>
            <a:r>
              <a:rPr lang="en-US"/>
              <a:t>Agentic AI autonomously searches flights, compares hotel prices, schedules meetings, and adjusts plans automatically.</a:t>
            </a:r>
          </a:p>
          <a:p>
            <a:pPr marL="0" indent="0">
              <a:spcBef>
                <a:spcPts val="2500"/>
              </a:spcBef>
              <a:buFont typeface="Arial" panose="020B0604020202020204" pitchFamily="34" charset="0"/>
              <a:buNone/>
            </a:pPr>
            <a:r>
              <a:rPr lang="en-US" b="1"/>
              <a:t>Proactive Digital Teammate</a:t>
            </a:r>
          </a:p>
          <a:p>
            <a:pPr marL="0" lvl="1" indent="0">
              <a:buFont typeface="Arial" panose="020B0604020202020204" pitchFamily="34" charset="0"/>
              <a:buNone/>
            </a:pPr>
            <a:r>
              <a:rPr lang="en-US"/>
              <a:t>Agentic AI acts as a proactive teammate managing complex tasks independently to enhance productivity and streamline processes.</a:t>
            </a:r>
          </a:p>
        </p:txBody>
      </p:sp>
      <p:sp>
        <p:nvSpPr>
          <p:cNvPr id="5" name="Footer Placeholder 4">
            <a:extLst>
              <a:ext uri="{FF2B5EF4-FFF2-40B4-BE49-F238E27FC236}">
                <a16:creationId xmlns:a16="http://schemas.microsoft.com/office/drawing/2014/main" id="{543CE51F-1F41-63D8-9C91-9024E7E6B5FE}"/>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5EE3B621-C81F-41E6-A3CD-5A29456D6E6C}"/>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13A2D27E-FCFD-C699-C60A-3963D9FDBC01}"/>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16</a:t>
            </a:fld>
            <a:endParaRPr lang="en-US"/>
          </a:p>
        </p:txBody>
      </p:sp>
    </p:spTree>
    <p:extLst>
      <p:ext uri="{BB962C8B-B14F-4D97-AF65-F5344CB8AC3E}">
        <p14:creationId xmlns:p14="http://schemas.microsoft.com/office/powerpoint/2010/main" val="2539429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I in Hospitality &amp; Travel: 18 Examples + Best Practices | Sendbird">
            <a:extLst>
              <a:ext uri="{FF2B5EF4-FFF2-40B4-BE49-F238E27FC236}">
                <a16:creationId xmlns:a16="http://schemas.microsoft.com/office/drawing/2014/main" id="{64395707-4B01-2EF4-21A7-BF1A4362EB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667"/>
          <a:stretch>
            <a:fillRect/>
          </a:stretch>
        </p:blipFill>
        <p:spPr bwMode="auto">
          <a:xfrm>
            <a:off x="20" y="10"/>
            <a:ext cx="12191980" cy="685799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02308B8F-48B4-BB74-CB86-A737D2D8F337}"/>
              </a:ext>
            </a:extLst>
          </p:cNvPr>
          <p:cNvSpPr>
            <a:spLocks noGrp="1"/>
          </p:cNvSpPr>
          <p:nvPr>
            <p:ph type="ftr" sz="quarter" idx="11"/>
          </p:nvPr>
        </p:nvSpPr>
        <p:spPr/>
        <p:txBody>
          <a:bodyPr/>
          <a:lstStyle/>
          <a:p>
            <a:pPr>
              <a:spcAft>
                <a:spcPts val="600"/>
              </a:spcAft>
            </a:pPr>
            <a:r>
              <a:rPr lang="en-US"/>
              <a:t>Sample Footer Text</a:t>
            </a:r>
          </a:p>
        </p:txBody>
      </p:sp>
      <p:sp>
        <p:nvSpPr>
          <p:cNvPr id="6" name="Date Placeholder 5" hidden="1">
            <a:extLst>
              <a:ext uri="{FF2B5EF4-FFF2-40B4-BE49-F238E27FC236}">
                <a16:creationId xmlns:a16="http://schemas.microsoft.com/office/drawing/2014/main" id="{CC01E4D0-E251-2740-89A8-4C0BF27DEAC9}"/>
              </a:ext>
            </a:extLst>
          </p:cNvPr>
          <p:cNvSpPr>
            <a:spLocks noGrp="1"/>
          </p:cNvSpPr>
          <p:nvPr>
            <p:ph type="dt" sz="half" idx="10"/>
          </p:nvPr>
        </p:nvSpPr>
        <p:spPr/>
        <p:txBody>
          <a:bodyPr/>
          <a:lstStyle/>
          <a:p>
            <a:pPr>
              <a:spcAft>
                <a:spcPts val="600"/>
              </a:spcAft>
            </a:pPr>
            <a:fld id="{A25B1B0E-4CBA-421A-9FF9-BD907EE313C7}" type="datetime1">
              <a:rPr lang="en-US" smtClean="0"/>
              <a:pPr>
                <a:spcAft>
                  <a:spcPts val="600"/>
                </a:spcAft>
              </a:pPr>
              <a:t>9/4/2025</a:t>
            </a:fld>
            <a:endParaRPr lang="en-US"/>
          </a:p>
        </p:txBody>
      </p:sp>
      <p:sp>
        <p:nvSpPr>
          <p:cNvPr id="7" name="Slide Number Placeholder 6" hidden="1">
            <a:extLst>
              <a:ext uri="{FF2B5EF4-FFF2-40B4-BE49-F238E27FC236}">
                <a16:creationId xmlns:a16="http://schemas.microsoft.com/office/drawing/2014/main" id="{FE1B6AA2-3D8F-D02D-7EFC-11445C53DC63}"/>
              </a:ext>
            </a:extLst>
          </p:cNvPr>
          <p:cNvSpPr>
            <a:spLocks noGrp="1"/>
          </p:cNvSpPr>
          <p:nvPr>
            <p:ph type="sldNum" sz="quarter" idx="12"/>
          </p:nvPr>
        </p:nvSpPr>
        <p:spPr/>
        <p:txBody>
          <a:bodyPr/>
          <a:lstStyle/>
          <a:p>
            <a:pPr>
              <a:spcAft>
                <a:spcPts val="600"/>
              </a:spcAft>
            </a:pPr>
            <a:fld id="{27F8DDA4-3B80-4E8A-A8F5-521F73BF9127}" type="slidenum">
              <a:rPr lang="en-US" smtClean="0"/>
              <a:pPr>
                <a:spcAft>
                  <a:spcPts val="600"/>
                </a:spcAft>
              </a:pPr>
              <a:t>17</a:t>
            </a:fld>
            <a:endParaRPr lang="en-US"/>
          </a:p>
        </p:txBody>
      </p:sp>
    </p:spTree>
    <p:extLst>
      <p:ext uri="{BB962C8B-B14F-4D97-AF65-F5344CB8AC3E}">
        <p14:creationId xmlns:p14="http://schemas.microsoft.com/office/powerpoint/2010/main" val="591741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descr="A screenshot of a video game&#10;&#10;AI-generated content may be incorrect.">
            <a:extLst>
              <a:ext uri="{FF2B5EF4-FFF2-40B4-BE49-F238E27FC236}">
                <a16:creationId xmlns:a16="http://schemas.microsoft.com/office/drawing/2014/main" id="{FDED8BE6-216D-91B7-D2B6-0E8162D05EB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5755" r="4644" b="-2"/>
          <a:stretch>
            <a:fillRect/>
          </a:stretch>
        </p:blipFill>
        <p:spPr bwMode="auto">
          <a:xfrm>
            <a:off x="4800600" y="1371600"/>
            <a:ext cx="6705599" cy="419100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54492C2C-D385-B2A3-8ED8-9C8D2194100F}"/>
              </a:ext>
            </a:extLst>
          </p:cNvPr>
          <p:cNvSpPr>
            <a:spLocks noGrp="1"/>
          </p:cNvSpPr>
          <p:nvPr>
            <p:ph type="ctrTitle"/>
          </p:nvPr>
        </p:nvSpPr>
        <p:spPr>
          <a:xfrm>
            <a:off x="500213" y="3447288"/>
            <a:ext cx="5852160" cy="3072792"/>
          </a:xfrm>
        </p:spPr>
        <p:txBody>
          <a:bodyPr anchor="b">
            <a:normAutofit/>
          </a:bodyPr>
          <a:lstStyle/>
          <a:p>
            <a:r>
              <a:rPr lang="en-US" sz="4000" b="1"/>
              <a:t>Video game NPCs</a:t>
            </a:r>
            <a:r>
              <a:rPr lang="en-US" sz="4000"/>
              <a:t> are now powered by Agentic AI, allowing characters to evolve across playthroughs.</a:t>
            </a:r>
            <a:br>
              <a:rPr lang="en-US" sz="4000"/>
            </a:br>
            <a:endParaRPr lang="en-US" sz="4000"/>
          </a:p>
        </p:txBody>
      </p:sp>
      <p:sp>
        <p:nvSpPr>
          <p:cNvPr id="25" name="Subtitle 3">
            <a:extLst>
              <a:ext uri="{FF2B5EF4-FFF2-40B4-BE49-F238E27FC236}">
                <a16:creationId xmlns:a16="http://schemas.microsoft.com/office/drawing/2014/main" id="{9EFA8A09-7627-E35E-3282-A09231F9F76F}"/>
              </a:ext>
            </a:extLst>
          </p:cNvPr>
          <p:cNvSpPr>
            <a:spLocks noGrp="1"/>
          </p:cNvSpPr>
          <p:nvPr>
            <p:ph type="subTitle" idx="1"/>
          </p:nvPr>
        </p:nvSpPr>
        <p:spPr>
          <a:xfrm>
            <a:off x="592362" y="612648"/>
            <a:ext cx="3248116" cy="758952"/>
          </a:xfrm>
        </p:spPr>
        <p:txBody>
          <a:bodyPr>
            <a:normAutofit/>
          </a:bodyPr>
          <a:lstStyle/>
          <a:p>
            <a:r>
              <a:rPr lang="en-US" dirty="0"/>
              <a:t> </a:t>
            </a:r>
          </a:p>
        </p:txBody>
      </p:sp>
      <p:sp>
        <p:nvSpPr>
          <p:cNvPr id="5" name="Footer Placeholder 4">
            <a:extLst>
              <a:ext uri="{FF2B5EF4-FFF2-40B4-BE49-F238E27FC236}">
                <a16:creationId xmlns:a16="http://schemas.microsoft.com/office/drawing/2014/main" id="{3F10DE05-21A6-0E0F-7E5B-C114DC505CCB}"/>
              </a:ext>
            </a:extLst>
          </p:cNvPr>
          <p:cNvSpPr>
            <a:spLocks noGrp="1"/>
          </p:cNvSpPr>
          <p:nvPr>
            <p:ph type="ftr" sz="quarter" idx="11"/>
          </p:nvPr>
        </p:nvSpPr>
        <p:spPr>
          <a:xfrm>
            <a:off x="8763000" y="620267"/>
            <a:ext cx="2854926" cy="443682"/>
          </a:xfrm>
        </p:spPr>
        <p:txBody>
          <a:bodyPr anchor="t">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B1CBB705-C796-0D08-3F03-F8FFF02C7A41}"/>
              </a:ext>
            </a:extLst>
          </p:cNvPr>
          <p:cNvSpPr>
            <a:spLocks noGrp="1"/>
          </p:cNvSpPr>
          <p:nvPr>
            <p:ph type="dt" sz="half" idx="10"/>
          </p:nvPr>
        </p:nvSpPr>
        <p:spPr>
          <a:xfrm>
            <a:off x="9973610" y="6055170"/>
            <a:ext cx="1256738" cy="365125"/>
          </a:xfrm>
        </p:spPr>
        <p:txBody>
          <a:bodyPr anchor="ctr">
            <a:normAutofit/>
          </a:bodyPr>
          <a:lstStyle/>
          <a:p>
            <a:pPr>
              <a:spcAft>
                <a:spcPts val="600"/>
              </a:spcAft>
            </a:pPr>
            <a:fld id="{A25B1B0E-4CBA-421A-9FF9-BD907EE313C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12A694F4-94C1-FDF5-75AE-550C884DB8A1}"/>
              </a:ext>
            </a:extLst>
          </p:cNvPr>
          <p:cNvSpPr>
            <a:spLocks noGrp="1"/>
          </p:cNvSpPr>
          <p:nvPr>
            <p:ph type="sldNum" sz="quarter" idx="12"/>
          </p:nvPr>
        </p:nvSpPr>
        <p:spPr>
          <a:xfrm>
            <a:off x="11230348" y="6055170"/>
            <a:ext cx="461440" cy="365125"/>
          </a:xfrm>
        </p:spPr>
        <p:txBody>
          <a:bodyPr anchor="ctr">
            <a:normAutofit/>
          </a:bodyPr>
          <a:lstStyle/>
          <a:p>
            <a:pPr>
              <a:spcAft>
                <a:spcPts val="600"/>
              </a:spcAft>
            </a:pPr>
            <a:fld id="{27F8DDA4-3B80-4E8A-A8F5-521F73BF9127}" type="slidenum">
              <a:rPr lang="en-US" smtClean="0"/>
              <a:pPr>
                <a:spcAft>
                  <a:spcPts val="600"/>
                </a:spcAft>
              </a:pPr>
              <a:t>18</a:t>
            </a:fld>
            <a:endParaRPr lang="en-US"/>
          </a:p>
        </p:txBody>
      </p:sp>
    </p:spTree>
    <p:extLst>
      <p:ext uri="{BB962C8B-B14F-4D97-AF65-F5344CB8AC3E}">
        <p14:creationId xmlns:p14="http://schemas.microsoft.com/office/powerpoint/2010/main" val="1542971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CE9B-ACCC-7666-AF90-FB64C325BF61}"/>
              </a:ext>
            </a:extLst>
          </p:cNvPr>
          <p:cNvSpPr>
            <a:spLocks noGrp="1"/>
          </p:cNvSpPr>
          <p:nvPr>
            <p:ph type="title"/>
          </p:nvPr>
        </p:nvSpPr>
        <p:spPr>
          <a:xfrm>
            <a:off x="603504" y="650915"/>
            <a:ext cx="3054096" cy="1711285"/>
          </a:xfrm>
        </p:spPr>
        <p:txBody>
          <a:bodyPr anchor="t">
            <a:normAutofit/>
          </a:bodyPr>
          <a:lstStyle/>
          <a:p>
            <a:r>
              <a:rPr lang="en-US"/>
              <a:t>Current Applications</a:t>
            </a:r>
          </a:p>
        </p:txBody>
      </p:sp>
      <p:sp>
        <p:nvSpPr>
          <p:cNvPr id="3" name="Content Placeholder 2">
            <a:extLst>
              <a:ext uri="{FF2B5EF4-FFF2-40B4-BE49-F238E27FC236}">
                <a16:creationId xmlns:a16="http://schemas.microsoft.com/office/drawing/2014/main" id="{A613AEA5-A5BB-92C7-1889-9A445D85B3E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26716" y="650915"/>
            <a:ext cx="7479484" cy="5216485"/>
          </a:xfrm>
        </p:spPr>
        <p:txBody>
          <a:bodyPr>
            <a:normAutofit/>
          </a:bodyPr>
          <a:lstStyle/>
          <a:p>
            <a:pPr marL="0" indent="0">
              <a:spcBef>
                <a:spcPts val="2500"/>
              </a:spcBef>
              <a:buFont typeface="Arial" panose="020B0604020202020204" pitchFamily="34" charset="0"/>
              <a:buNone/>
            </a:pPr>
            <a:r>
              <a:rPr lang="en-US" b="1"/>
              <a:t>Customer Support Automation</a:t>
            </a:r>
          </a:p>
          <a:p>
            <a:pPr marL="0" lvl="1" indent="0">
              <a:buFont typeface="Arial" panose="020B0604020202020204" pitchFamily="34" charset="0"/>
              <a:buNone/>
            </a:pPr>
            <a:r>
              <a:t>Agentic AI manages customer issues end-to-end, providing solutions without human intervention.</a:t>
            </a:r>
            <a:endParaRPr lang="en-US"/>
          </a:p>
          <a:p>
            <a:pPr marL="0" indent="0">
              <a:spcBef>
                <a:spcPts val="2500"/>
              </a:spcBef>
              <a:buFont typeface="Arial" panose="020B0604020202020204" pitchFamily="34" charset="0"/>
              <a:buNone/>
            </a:pPr>
            <a:r>
              <a:rPr lang="en-US" b="1"/>
              <a:t>Financial Monitoring and Investing</a:t>
            </a:r>
          </a:p>
          <a:p>
            <a:pPr marL="0" lvl="1" indent="0">
              <a:buFont typeface="Arial" panose="020B0604020202020204" pitchFamily="34" charset="0"/>
              <a:buNone/>
            </a:pPr>
            <a:r>
              <a:t>It monitors transactions and performs automated investing using predefined strategies.</a:t>
            </a:r>
            <a:endParaRPr lang="en-US"/>
          </a:p>
          <a:p>
            <a:pPr marL="0" indent="0">
              <a:spcBef>
                <a:spcPts val="2500"/>
              </a:spcBef>
              <a:buFont typeface="Arial" panose="020B0604020202020204" pitchFamily="34" charset="0"/>
              <a:buNone/>
            </a:pPr>
            <a:r>
              <a:rPr lang="en-US" b="1"/>
              <a:t>Healthcare Management</a:t>
            </a:r>
          </a:p>
          <a:p>
            <a:pPr marL="0" lvl="1" indent="0">
              <a:buFont typeface="Arial" panose="020B0604020202020204" pitchFamily="34" charset="0"/>
              <a:buNone/>
            </a:pPr>
            <a:r>
              <a:t>Agentic AI schedules appointments, manages follow-ups, and generates healthcare reports.</a:t>
            </a:r>
            <a:endParaRPr lang="en-US"/>
          </a:p>
          <a:p>
            <a:pPr marL="0" indent="0">
              <a:spcBef>
                <a:spcPts val="2500"/>
              </a:spcBef>
              <a:buFont typeface="Arial" panose="020B0604020202020204" pitchFamily="34" charset="0"/>
              <a:buNone/>
            </a:pPr>
            <a:r>
              <a:rPr lang="en-US" b="1"/>
              <a:t>Software Development Assistance</a:t>
            </a:r>
          </a:p>
          <a:p>
            <a:pPr marL="0" lvl="1" indent="0">
              <a:buFont typeface="Arial" panose="020B0604020202020204" pitchFamily="34" charset="0"/>
              <a:buNone/>
            </a:pPr>
            <a:r>
              <a:t>It aids in writing, testing, and deploying code, accelerating software development cycles.</a:t>
            </a:r>
            <a:endParaRPr lang="en-US"/>
          </a:p>
          <a:p>
            <a:pPr marL="0" indent="0">
              <a:spcBef>
                <a:spcPts val="2500"/>
              </a:spcBef>
              <a:buFont typeface="Arial" panose="020B0604020202020204" pitchFamily="34" charset="0"/>
              <a:buNone/>
            </a:pPr>
            <a:r>
              <a:rPr lang="en-US" b="1"/>
              <a:t>Sales and Marketing Optimization</a:t>
            </a:r>
          </a:p>
          <a:p>
            <a:pPr marL="0" lvl="1" indent="0">
              <a:buFont typeface="Arial" panose="020B0604020202020204" pitchFamily="34" charset="0"/>
              <a:buNone/>
            </a:pPr>
            <a:r>
              <a:t>Agentic AI supports lead qualification, outreach, and campaign optimization in sales and marketing.</a:t>
            </a:r>
            <a:endParaRPr lang="en-US"/>
          </a:p>
        </p:txBody>
      </p:sp>
      <p:sp>
        <p:nvSpPr>
          <p:cNvPr id="4" name="Footer Placeholder 3">
            <a:extLst>
              <a:ext uri="{FF2B5EF4-FFF2-40B4-BE49-F238E27FC236}">
                <a16:creationId xmlns:a16="http://schemas.microsoft.com/office/drawing/2014/main" id="{043EA6FE-1EA0-3AF0-2137-81FA20E067EE}"/>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AABEEE9-2BC3-E4AF-8943-515B2EA081FE}"/>
              </a:ext>
            </a:extLst>
          </p:cNvPr>
          <p:cNvSpPr>
            <a:spLocks noGrp="1"/>
          </p:cNvSpPr>
          <p:nvPr>
            <p:ph type="dt" sz="half" idx="10"/>
          </p:nvPr>
        </p:nvSpPr>
        <p:spPr>
          <a:xfrm>
            <a:off x="10058400" y="6029867"/>
            <a:ext cx="1179576" cy="365125"/>
          </a:xfrm>
        </p:spPr>
        <p:txBody>
          <a:bodyPr anchor="ctr">
            <a:normAutofit/>
          </a:bodyPr>
          <a:lstStyle/>
          <a:p>
            <a:pPr>
              <a:spcAft>
                <a:spcPts val="600"/>
              </a:spcAft>
            </a:pPr>
            <a:fld id="{D849E410-BE9E-427B-BCB5-604E33C4348E}"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2115F570-BED2-5B8F-83AF-5A980610485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19</a:t>
            </a:fld>
            <a:endParaRPr lang="en-US"/>
          </a:p>
        </p:txBody>
      </p:sp>
    </p:spTree>
    <p:extLst>
      <p:ext uri="{BB962C8B-B14F-4D97-AF65-F5344CB8AC3E}">
        <p14:creationId xmlns:p14="http://schemas.microsoft.com/office/powerpoint/2010/main" val="1637229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BFA99-B120-E5ED-93EF-025B3D112792}"/>
              </a:ext>
            </a:extLst>
          </p:cNvPr>
          <p:cNvSpPr>
            <a:spLocks noGrp="1"/>
          </p:cNvSpPr>
          <p:nvPr>
            <p:ph type="title"/>
          </p:nvPr>
        </p:nvSpPr>
        <p:spPr>
          <a:xfrm>
            <a:off x="185877" y="1062360"/>
            <a:ext cx="9948723" cy="5762371"/>
          </a:xfrm>
        </p:spPr>
        <p:txBody>
          <a:bodyPr anchor="b">
            <a:normAutofit/>
          </a:bodyPr>
          <a:lstStyle/>
          <a:p>
            <a:r>
              <a:rPr lang="en-US"/>
              <a:t>Building and Supporting Technologies</a:t>
            </a:r>
          </a:p>
        </p:txBody>
      </p:sp>
      <p:sp>
        <p:nvSpPr>
          <p:cNvPr id="4" name="Footer Placeholder 3">
            <a:extLst>
              <a:ext uri="{FF2B5EF4-FFF2-40B4-BE49-F238E27FC236}">
                <a16:creationId xmlns:a16="http://schemas.microsoft.com/office/drawing/2014/main" id="{2306F462-5E1F-31D6-C4C0-AB094CAAD8F7}"/>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B082A004-31BE-5E55-ADBE-39BA008A9A0F}"/>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29FB0510-9476-DB93-BDC7-E9108BD2B969}"/>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20</a:t>
            </a:fld>
            <a:endParaRPr lang="en-US"/>
          </a:p>
        </p:txBody>
      </p:sp>
    </p:spTree>
    <p:extLst>
      <p:ext uri="{BB962C8B-B14F-4D97-AF65-F5344CB8AC3E}">
        <p14:creationId xmlns:p14="http://schemas.microsoft.com/office/powerpoint/2010/main" val="962403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Global communication and collaboration intricately involving electronic ropes and keys through social networking of smart phones equipped with AI.">
            <a:extLst>
              <a:ext uri="{FF2B5EF4-FFF2-40B4-BE49-F238E27FC236}">
                <a16:creationId xmlns:a16="http://schemas.microsoft.com/office/drawing/2014/main" id="{8CF3F8C3-7BF6-40A9-84F9-F034B9E7E6AC}"/>
              </a:ext>
            </a:extLst>
          </p:cNvPr>
          <p:cNvPicPr>
            <a:picLocks noGrp="1" noChangeAspect="1"/>
          </p:cNvPicPr>
          <p:nvPr>
            <p:ph type="pic" sz="quarter" idx="13"/>
          </p:nvPr>
        </p:nvPicPr>
        <p:blipFill>
          <a:blip r:embed="rId3"/>
          <a:srcRect l="20762" r="12788"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4F5EE612-8C8A-8785-CD1D-3065E967FDBE}"/>
              </a:ext>
            </a:extLst>
          </p:cNvPr>
          <p:cNvSpPr>
            <a:spLocks noGrp="1"/>
          </p:cNvSpPr>
          <p:nvPr>
            <p:ph type="title"/>
          </p:nvPr>
        </p:nvSpPr>
        <p:spPr>
          <a:xfrm>
            <a:off x="1002085" y="4374100"/>
            <a:ext cx="3897905" cy="1380814"/>
          </a:xfrm>
        </p:spPr>
        <p:txBody>
          <a:bodyPr anchor="t">
            <a:normAutofit/>
          </a:bodyPr>
          <a:lstStyle/>
          <a:p>
            <a:r>
              <a:rPr lang="en-US"/>
              <a:t>How to Create an Agentic AI</a:t>
            </a:r>
          </a:p>
        </p:txBody>
      </p:sp>
      <p:sp>
        <p:nvSpPr>
          <p:cNvPr id="4" name="Content Placeholder 3">
            <a:extLst>
              <a:ext uri="{FF2B5EF4-FFF2-40B4-BE49-F238E27FC236}">
                <a16:creationId xmlns:a16="http://schemas.microsoft.com/office/drawing/2014/main" id="{1E32B6A1-6186-7D3C-DA8F-7B87659A454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dirty="0"/>
              <a:t>LLM Core Foundation</a:t>
            </a:r>
          </a:p>
          <a:p>
            <a:pPr marL="0" lvl="1" indent="0">
              <a:buFont typeface="Arial" panose="020B0604020202020204" pitchFamily="34" charset="0"/>
              <a:buNone/>
            </a:pPr>
            <a:r>
              <a:rPr dirty="0"/>
              <a:t>The LLM core provides essential reasoning and language capabilities for agentic AI development.</a:t>
            </a:r>
            <a:endParaRPr lang="en-US" dirty="0"/>
          </a:p>
          <a:p>
            <a:pPr marL="0" indent="0">
              <a:spcBef>
                <a:spcPts val="2500"/>
              </a:spcBef>
              <a:buFont typeface="Arial" panose="020B0604020202020204" pitchFamily="34" charset="0"/>
              <a:buNone/>
            </a:pPr>
            <a:r>
              <a:rPr lang="en-US" b="1" dirty="0"/>
              <a:t>Integration of Tools and APIs</a:t>
            </a:r>
          </a:p>
          <a:p>
            <a:pPr marL="0" lvl="1" indent="0">
              <a:buFont typeface="Arial" panose="020B0604020202020204" pitchFamily="34" charset="0"/>
              <a:buNone/>
            </a:pPr>
            <a:r>
              <a:rPr dirty="0"/>
              <a:t>Tools like web search, email, and databases enable the AI to interact with external systems effectively.</a:t>
            </a:r>
            <a:endParaRPr lang="en-US" dirty="0"/>
          </a:p>
          <a:p>
            <a:pPr marL="0" indent="0">
              <a:spcBef>
                <a:spcPts val="2500"/>
              </a:spcBef>
              <a:buFont typeface="Arial" panose="020B0604020202020204" pitchFamily="34" charset="0"/>
              <a:buNone/>
            </a:pPr>
            <a:r>
              <a:rPr lang="en-US" b="1" dirty="0"/>
              <a:t>Memory for Context Awareness</a:t>
            </a:r>
          </a:p>
          <a:p>
            <a:pPr marL="0" lvl="1" indent="0">
              <a:buFont typeface="Arial" panose="020B0604020202020204" pitchFamily="34" charset="0"/>
              <a:buNone/>
            </a:pPr>
            <a:r>
              <a:rPr dirty="0"/>
              <a:t>Memory allows AI to track history, preferences, and context for personalized decision-making.</a:t>
            </a:r>
            <a:endParaRPr lang="en-US" dirty="0"/>
          </a:p>
          <a:p>
            <a:pPr marL="0" indent="0">
              <a:spcBef>
                <a:spcPts val="2500"/>
              </a:spcBef>
              <a:buFont typeface="Arial" panose="020B0604020202020204" pitchFamily="34" charset="0"/>
              <a:buNone/>
            </a:pPr>
            <a:r>
              <a:rPr lang="en-US" b="1" dirty="0"/>
              <a:t>Orchestration Framework</a:t>
            </a:r>
          </a:p>
          <a:p>
            <a:pPr marL="0" lvl="1" indent="0">
              <a:buFont typeface="Arial" panose="020B0604020202020204" pitchFamily="34" charset="0"/>
              <a:buNone/>
            </a:pPr>
            <a:r>
              <a:rPr dirty="0"/>
              <a:t>An orchestration framework coordinates planning, actions, and monitoring ensuring smooth AI operations.</a:t>
            </a:r>
            <a:endParaRPr lang="en-US" dirty="0"/>
          </a:p>
        </p:txBody>
      </p:sp>
      <p:sp>
        <p:nvSpPr>
          <p:cNvPr id="5" name="Footer Placeholder 4">
            <a:extLst>
              <a:ext uri="{FF2B5EF4-FFF2-40B4-BE49-F238E27FC236}">
                <a16:creationId xmlns:a16="http://schemas.microsoft.com/office/drawing/2014/main" id="{97473853-E049-CD8D-78D2-B6863C80E292}"/>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1B5D7234-F8DD-DF65-5F90-8734501BBEF3}"/>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18EA86DC-A56F-5D11-D270-BE5F1E428BC6}"/>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21</a:t>
            </a:fld>
            <a:endParaRPr lang="en-US"/>
          </a:p>
        </p:txBody>
      </p:sp>
    </p:spTree>
    <p:extLst>
      <p:ext uri="{BB962C8B-B14F-4D97-AF65-F5344CB8AC3E}">
        <p14:creationId xmlns:p14="http://schemas.microsoft.com/office/powerpoint/2010/main" val="32545068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Laptop, smart phone and computer service on digital background">
            <a:extLst>
              <a:ext uri="{FF2B5EF4-FFF2-40B4-BE49-F238E27FC236}">
                <a16:creationId xmlns:a16="http://schemas.microsoft.com/office/drawing/2014/main" id="{81E21E8A-BEB7-44AC-AC4E-D4C965FF9643}"/>
              </a:ext>
            </a:extLst>
          </p:cNvPr>
          <p:cNvPicPr>
            <a:picLocks noGrp="1" noChangeAspect="1"/>
          </p:cNvPicPr>
          <p:nvPr>
            <p:ph type="pic" sz="quarter" idx="13"/>
          </p:nvPr>
        </p:nvPicPr>
        <p:blipFill>
          <a:blip r:embed="rId3"/>
          <a:srcRect r="452" b="1"/>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E0323070-1882-591D-A6EC-D3A8DC962492}"/>
              </a:ext>
            </a:extLst>
          </p:cNvPr>
          <p:cNvSpPr>
            <a:spLocks noGrp="1"/>
          </p:cNvSpPr>
          <p:nvPr>
            <p:ph type="title"/>
          </p:nvPr>
        </p:nvSpPr>
        <p:spPr>
          <a:xfrm>
            <a:off x="1002085" y="4374100"/>
            <a:ext cx="3897905" cy="1380814"/>
          </a:xfrm>
        </p:spPr>
        <p:txBody>
          <a:bodyPr anchor="t">
            <a:normAutofit/>
          </a:bodyPr>
          <a:lstStyle/>
          <a:p>
            <a:r>
              <a:rPr lang="en-US"/>
              <a:t>Tools &amp; Frameworks Available</a:t>
            </a:r>
          </a:p>
        </p:txBody>
      </p:sp>
      <p:sp>
        <p:nvSpPr>
          <p:cNvPr id="4" name="Content Placeholder 3">
            <a:extLst>
              <a:ext uri="{FF2B5EF4-FFF2-40B4-BE49-F238E27FC236}">
                <a16:creationId xmlns:a16="http://schemas.microsoft.com/office/drawing/2014/main" id="{E0BF599B-F2B9-8E66-13A7-FFD1D63A07B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lnSpcReduction="10000"/>
          </a:bodyPr>
          <a:lstStyle/>
          <a:p>
            <a:pPr marL="0" indent="0">
              <a:spcBef>
                <a:spcPts val="2500"/>
              </a:spcBef>
              <a:buFont typeface="Arial" panose="020B0604020202020204" pitchFamily="34" charset="0"/>
              <a:buNone/>
            </a:pPr>
            <a:r>
              <a:rPr lang="en-US" sz="1800" b="1" dirty="0" err="1"/>
              <a:t>LangChain</a:t>
            </a:r>
            <a:r>
              <a:rPr lang="en-US" sz="1800" b="1" dirty="0"/>
              <a:t> Framework</a:t>
            </a:r>
          </a:p>
          <a:p>
            <a:pPr marL="0" lvl="1" indent="0">
              <a:buFont typeface="Arial" panose="020B0604020202020204" pitchFamily="34" charset="0"/>
              <a:buNone/>
            </a:pPr>
            <a:r>
              <a:rPr sz="1800" dirty="0" err="1"/>
              <a:t>LangChain</a:t>
            </a:r>
            <a:r>
              <a:rPr sz="1800" dirty="0"/>
              <a:t> is a popular framework for building AI agents with integrated tool support, enhancing agent capabilities.</a:t>
            </a:r>
            <a:endParaRPr lang="en-US" sz="1800" dirty="0"/>
          </a:p>
          <a:p>
            <a:pPr marL="0" indent="0">
              <a:spcBef>
                <a:spcPts val="2500"/>
              </a:spcBef>
              <a:buFont typeface="Arial" panose="020B0604020202020204" pitchFamily="34" charset="0"/>
              <a:buNone/>
            </a:pPr>
            <a:r>
              <a:rPr lang="en-US" sz="1800" b="1" dirty="0"/>
              <a:t>Multi-Agent Collaboration</a:t>
            </a:r>
          </a:p>
          <a:p>
            <a:pPr marL="0" lvl="1" indent="0">
              <a:buFont typeface="Arial" panose="020B0604020202020204" pitchFamily="34" charset="0"/>
              <a:buNone/>
            </a:pPr>
            <a:r>
              <a:rPr sz="1800" dirty="0"/>
              <a:t>AutoGen enables multi-agent collaboration for executing complex tasks through coordinated AI agents.</a:t>
            </a:r>
            <a:endParaRPr lang="en-US" sz="1800" dirty="0"/>
          </a:p>
          <a:p>
            <a:pPr marL="0" indent="0">
              <a:spcBef>
                <a:spcPts val="2500"/>
              </a:spcBef>
              <a:buFont typeface="Arial" panose="020B0604020202020204" pitchFamily="34" charset="0"/>
              <a:buNone/>
            </a:pPr>
            <a:r>
              <a:rPr lang="en-US" sz="1800" b="1" dirty="0"/>
              <a:t>Agent Coordination by </a:t>
            </a:r>
            <a:r>
              <a:rPr lang="en-US" sz="1800" b="1" dirty="0" err="1"/>
              <a:t>CrewAI</a:t>
            </a:r>
            <a:endParaRPr lang="en-US" sz="1800" b="1" dirty="0"/>
          </a:p>
          <a:p>
            <a:pPr marL="0" lvl="1" indent="0">
              <a:buFont typeface="Arial" panose="020B0604020202020204" pitchFamily="34" charset="0"/>
              <a:buNone/>
            </a:pPr>
            <a:r>
              <a:rPr sz="1800" dirty="0" err="1"/>
              <a:t>CrewAI</a:t>
            </a:r>
            <a:r>
              <a:rPr sz="1800" dirty="0"/>
              <a:t> specializes in coordinating multiple specialized agents to improve overall AI performance.</a:t>
            </a:r>
            <a:endParaRPr lang="en-US" sz="1800" dirty="0"/>
          </a:p>
          <a:p>
            <a:pPr marL="0" indent="0">
              <a:spcBef>
                <a:spcPts val="2500"/>
              </a:spcBef>
              <a:buFont typeface="Arial" panose="020B0604020202020204" pitchFamily="34" charset="0"/>
              <a:buNone/>
            </a:pPr>
            <a:r>
              <a:rPr lang="en-US" sz="1800" b="1" dirty="0"/>
              <a:t>Enhanced Data Integration</a:t>
            </a:r>
          </a:p>
          <a:p>
            <a:pPr marL="0" lvl="1" indent="0">
              <a:buFont typeface="Arial" panose="020B0604020202020204" pitchFamily="34" charset="0"/>
              <a:buNone/>
            </a:pPr>
            <a:r>
              <a:rPr sz="1800" dirty="0" err="1"/>
              <a:t>LlamaIndex</a:t>
            </a:r>
            <a:r>
              <a:rPr sz="1800" dirty="0"/>
              <a:t> connects AI to diverse data sources, improving contextual understanding and decision-making</a:t>
            </a:r>
            <a:r>
              <a:rPr dirty="0"/>
              <a:t>.</a:t>
            </a:r>
            <a:endParaRPr lang="en-US" dirty="0"/>
          </a:p>
        </p:txBody>
      </p:sp>
      <p:sp>
        <p:nvSpPr>
          <p:cNvPr id="5" name="Footer Placeholder 4">
            <a:extLst>
              <a:ext uri="{FF2B5EF4-FFF2-40B4-BE49-F238E27FC236}">
                <a16:creationId xmlns:a16="http://schemas.microsoft.com/office/drawing/2014/main" id="{56B9F8EE-152E-0974-AA65-0B5B21B19A06}"/>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60F3B2D-A7F8-AC69-83F7-A42BD478A59D}"/>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E764D33D-14ED-5D98-118D-DDE056C9F82D}"/>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22</a:t>
            </a:fld>
            <a:endParaRPr lang="en-US"/>
          </a:p>
        </p:txBody>
      </p:sp>
    </p:spTree>
    <p:extLst>
      <p:ext uri="{BB962C8B-B14F-4D97-AF65-F5344CB8AC3E}">
        <p14:creationId xmlns:p14="http://schemas.microsoft.com/office/powerpoint/2010/main" val="2874552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C1058-E360-F52F-3B61-CE5C8B62190C}"/>
              </a:ext>
            </a:extLst>
          </p:cNvPr>
          <p:cNvSpPr>
            <a:spLocks noGrp="1"/>
          </p:cNvSpPr>
          <p:nvPr>
            <p:ph type="title"/>
          </p:nvPr>
        </p:nvSpPr>
        <p:spPr>
          <a:xfrm>
            <a:off x="185877" y="1062360"/>
            <a:ext cx="9948723" cy="5762371"/>
          </a:xfrm>
        </p:spPr>
        <p:txBody>
          <a:bodyPr anchor="b">
            <a:normAutofit/>
          </a:bodyPr>
          <a:lstStyle/>
          <a:p>
            <a:r>
              <a:rPr lang="en-US"/>
              <a:t>Challenges and Future Outlook</a:t>
            </a:r>
          </a:p>
        </p:txBody>
      </p:sp>
      <p:sp>
        <p:nvSpPr>
          <p:cNvPr id="4" name="Footer Placeholder 3">
            <a:extLst>
              <a:ext uri="{FF2B5EF4-FFF2-40B4-BE49-F238E27FC236}">
                <a16:creationId xmlns:a16="http://schemas.microsoft.com/office/drawing/2014/main" id="{A4820C3B-C4E2-A9EC-39B1-24C9D198A56A}"/>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BEEB1EF4-4426-D63F-F5C1-6BB682EA175F}"/>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4E0017B3-2F37-E304-9E5E-3BB99411F9AD}"/>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23</a:t>
            </a:fld>
            <a:endParaRPr lang="en-US"/>
          </a:p>
        </p:txBody>
      </p:sp>
    </p:spTree>
    <p:extLst>
      <p:ext uri="{BB962C8B-B14F-4D97-AF65-F5344CB8AC3E}">
        <p14:creationId xmlns:p14="http://schemas.microsoft.com/office/powerpoint/2010/main" val="1804620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0433-EA35-BB5F-61F4-FE0E273B8F4E}"/>
              </a:ext>
            </a:extLst>
          </p:cNvPr>
          <p:cNvSpPr>
            <a:spLocks noGrp="1"/>
          </p:cNvSpPr>
          <p:nvPr>
            <p:ph type="title"/>
          </p:nvPr>
        </p:nvSpPr>
        <p:spPr>
          <a:xfrm>
            <a:off x="603504" y="650915"/>
            <a:ext cx="3054096" cy="1711285"/>
          </a:xfrm>
        </p:spPr>
        <p:txBody>
          <a:bodyPr anchor="t">
            <a:normAutofit/>
          </a:bodyPr>
          <a:lstStyle/>
          <a:p>
            <a:r>
              <a:rPr lang="en-US"/>
              <a:t>Limitations &amp; Risks</a:t>
            </a:r>
          </a:p>
        </p:txBody>
      </p:sp>
      <p:sp>
        <p:nvSpPr>
          <p:cNvPr id="3" name="Content Placeholder 2">
            <a:extLst>
              <a:ext uri="{FF2B5EF4-FFF2-40B4-BE49-F238E27FC236}">
                <a16:creationId xmlns:a16="http://schemas.microsoft.com/office/drawing/2014/main" id="{62F3C855-A0C9-2E98-47AD-AA28249E460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26716" y="650915"/>
            <a:ext cx="7479484" cy="5216485"/>
          </a:xfrm>
        </p:spPr>
        <p:txBody>
          <a:bodyPr>
            <a:normAutofit/>
          </a:bodyPr>
          <a:lstStyle/>
          <a:p>
            <a:pPr marL="0" indent="0">
              <a:spcBef>
                <a:spcPts val="2500"/>
              </a:spcBef>
              <a:buFont typeface="Arial" panose="020B0604020202020204" pitchFamily="34" charset="0"/>
              <a:buNone/>
            </a:pPr>
            <a:r>
              <a:rPr lang="en-US" sz="1600" b="1" dirty="0"/>
              <a:t>Reliability Challenges</a:t>
            </a:r>
          </a:p>
          <a:p>
            <a:pPr marL="0" lvl="1" indent="0">
              <a:buFont typeface="Arial" panose="020B0604020202020204" pitchFamily="34" charset="0"/>
              <a:buNone/>
            </a:pPr>
            <a:r>
              <a:rPr sz="1600" dirty="0"/>
              <a:t>Agentic AI systems are prone to errors and hallucinations, raising concerns about their reliability.</a:t>
            </a:r>
            <a:endParaRPr lang="en-US" sz="1600" dirty="0"/>
          </a:p>
          <a:p>
            <a:pPr marL="0" indent="0">
              <a:spcBef>
                <a:spcPts val="2500"/>
              </a:spcBef>
              <a:buFont typeface="Arial" panose="020B0604020202020204" pitchFamily="34" charset="0"/>
              <a:buNone/>
            </a:pPr>
            <a:r>
              <a:rPr lang="en-US" sz="1600" b="1" dirty="0"/>
              <a:t>Reduced Human Oversight</a:t>
            </a:r>
          </a:p>
          <a:p>
            <a:pPr marL="0" lvl="1" indent="0">
              <a:buFont typeface="Arial" panose="020B0604020202020204" pitchFamily="34" charset="0"/>
              <a:buNone/>
            </a:pPr>
            <a:r>
              <a:rPr sz="1600" dirty="0"/>
              <a:t>Over-dependence on AI may reduce human involvement and critical decision-making in processes.</a:t>
            </a:r>
            <a:endParaRPr lang="en-US" sz="1600" dirty="0"/>
          </a:p>
          <a:p>
            <a:pPr marL="0" indent="0">
              <a:spcBef>
                <a:spcPts val="2500"/>
              </a:spcBef>
              <a:buFont typeface="Arial" panose="020B0604020202020204" pitchFamily="34" charset="0"/>
              <a:buNone/>
            </a:pPr>
            <a:r>
              <a:rPr lang="en-US" sz="1600" b="1" dirty="0"/>
              <a:t>Security Risks</a:t>
            </a:r>
          </a:p>
          <a:p>
            <a:pPr marL="0" lvl="1" indent="0">
              <a:buFont typeface="Arial" panose="020B0604020202020204" pitchFamily="34" charset="0"/>
              <a:buNone/>
            </a:pPr>
            <a:r>
              <a:rPr sz="1600" dirty="0"/>
              <a:t>AI agents accessing sensitive data pose security risks requiring strong protective measures.</a:t>
            </a:r>
            <a:endParaRPr lang="en-US" sz="1600" dirty="0"/>
          </a:p>
          <a:p>
            <a:pPr marL="0" indent="0">
              <a:spcBef>
                <a:spcPts val="2500"/>
              </a:spcBef>
              <a:buFont typeface="Arial" panose="020B0604020202020204" pitchFamily="34" charset="0"/>
              <a:buNone/>
            </a:pPr>
            <a:r>
              <a:rPr lang="en-US" sz="1600" b="1" dirty="0"/>
              <a:t>High Operational Costs</a:t>
            </a:r>
          </a:p>
          <a:p>
            <a:pPr marL="0" lvl="1" indent="0">
              <a:buFont typeface="Arial" panose="020B0604020202020204" pitchFamily="34" charset="0"/>
              <a:buNone/>
            </a:pPr>
            <a:r>
              <a:rPr sz="1600" dirty="0"/>
              <a:t>Running complex AI agents can be costly, affecting scalability and widespread accessibility.</a:t>
            </a:r>
            <a:endParaRPr lang="en-US" sz="1600" dirty="0"/>
          </a:p>
          <a:p>
            <a:pPr marL="0" indent="0">
              <a:spcBef>
                <a:spcPts val="2500"/>
              </a:spcBef>
              <a:buFont typeface="Arial" panose="020B0604020202020204" pitchFamily="34" charset="0"/>
              <a:buNone/>
            </a:pPr>
            <a:r>
              <a:rPr lang="en-US" sz="1600" b="1" dirty="0"/>
              <a:t>Ethical Considerations</a:t>
            </a:r>
          </a:p>
          <a:p>
            <a:pPr marL="0" lvl="1" indent="0">
              <a:buFont typeface="Arial" panose="020B0604020202020204" pitchFamily="34" charset="0"/>
              <a:buNone/>
            </a:pPr>
            <a:r>
              <a:rPr sz="1600" dirty="0"/>
              <a:t>Granting autonomy to AI systems raises ethical questions about responsibility and control.</a:t>
            </a:r>
            <a:endParaRPr lang="en-US" sz="1600" dirty="0"/>
          </a:p>
        </p:txBody>
      </p:sp>
      <p:sp>
        <p:nvSpPr>
          <p:cNvPr id="4" name="Footer Placeholder 3">
            <a:extLst>
              <a:ext uri="{FF2B5EF4-FFF2-40B4-BE49-F238E27FC236}">
                <a16:creationId xmlns:a16="http://schemas.microsoft.com/office/drawing/2014/main" id="{95342EF7-9980-3397-76E3-B84DC0952140}"/>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E578814-C3B8-4043-21F0-344322001AF9}"/>
              </a:ext>
            </a:extLst>
          </p:cNvPr>
          <p:cNvSpPr>
            <a:spLocks noGrp="1"/>
          </p:cNvSpPr>
          <p:nvPr>
            <p:ph type="dt" sz="half" idx="10"/>
          </p:nvPr>
        </p:nvSpPr>
        <p:spPr>
          <a:xfrm>
            <a:off x="10058400" y="6029867"/>
            <a:ext cx="1179576" cy="365125"/>
          </a:xfrm>
        </p:spPr>
        <p:txBody>
          <a:bodyPr anchor="ctr">
            <a:normAutofit/>
          </a:bodyPr>
          <a:lstStyle/>
          <a:p>
            <a:pPr>
              <a:spcAft>
                <a:spcPts val="600"/>
              </a:spcAft>
            </a:pPr>
            <a:fld id="{D849E410-BE9E-427B-BCB5-604E33C4348E}"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6C9C2503-2671-7FD7-7C07-6065FE5DD72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24</a:t>
            </a:fld>
            <a:endParaRPr lang="en-US"/>
          </a:p>
        </p:txBody>
      </p:sp>
    </p:spTree>
    <p:extLst>
      <p:ext uri="{BB962C8B-B14F-4D97-AF65-F5344CB8AC3E}">
        <p14:creationId xmlns:p14="http://schemas.microsoft.com/office/powerpoint/2010/main" val="3332600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Working in metaverse 3d rending">
            <a:extLst>
              <a:ext uri="{FF2B5EF4-FFF2-40B4-BE49-F238E27FC236}">
                <a16:creationId xmlns:a16="http://schemas.microsoft.com/office/drawing/2014/main" id="{BBF332A7-3F15-4DB7-A452-71C4C26B7A72}"/>
              </a:ext>
            </a:extLst>
          </p:cNvPr>
          <p:cNvPicPr>
            <a:picLocks noGrp="1" noChangeAspect="1"/>
          </p:cNvPicPr>
          <p:nvPr>
            <p:ph type="pic" sz="quarter" idx="13"/>
          </p:nvPr>
        </p:nvPicPr>
        <p:blipFill>
          <a:blip r:embed="rId3"/>
          <a:srcRect l="15264" r="18286" b="-2"/>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AA645D05-8CF7-C7BD-85A4-79B0A3AAC502}"/>
              </a:ext>
            </a:extLst>
          </p:cNvPr>
          <p:cNvSpPr>
            <a:spLocks noGrp="1"/>
          </p:cNvSpPr>
          <p:nvPr>
            <p:ph type="title"/>
          </p:nvPr>
        </p:nvSpPr>
        <p:spPr>
          <a:xfrm>
            <a:off x="1002085" y="4374100"/>
            <a:ext cx="3897905" cy="1380814"/>
          </a:xfrm>
        </p:spPr>
        <p:txBody>
          <a:bodyPr anchor="t">
            <a:normAutofit/>
          </a:bodyPr>
          <a:lstStyle/>
          <a:p>
            <a:r>
              <a:rPr lang="en-US"/>
              <a:t>The Future of Work with Agentic AI</a:t>
            </a:r>
          </a:p>
        </p:txBody>
      </p:sp>
      <p:sp>
        <p:nvSpPr>
          <p:cNvPr id="4" name="Content Placeholder 3">
            <a:extLst>
              <a:ext uri="{FF2B5EF4-FFF2-40B4-BE49-F238E27FC236}">
                <a16:creationId xmlns:a16="http://schemas.microsoft.com/office/drawing/2014/main" id="{B7759905-04B6-8178-3A2E-FEF7B1B12BC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Autofit/>
          </a:bodyPr>
          <a:lstStyle/>
          <a:p>
            <a:pPr marL="0" indent="0">
              <a:spcBef>
                <a:spcPts val="2500"/>
              </a:spcBef>
              <a:buFont typeface="Arial" panose="020B0604020202020204" pitchFamily="34" charset="0"/>
              <a:buNone/>
            </a:pPr>
            <a:r>
              <a:rPr lang="en-US" sz="1800" b="1" dirty="0"/>
              <a:t>Human-AI Collaboration</a:t>
            </a:r>
          </a:p>
          <a:p>
            <a:pPr marL="0" lvl="1" indent="0">
              <a:buFont typeface="Arial" panose="020B0604020202020204" pitchFamily="34" charset="0"/>
              <a:buNone/>
            </a:pPr>
            <a:r>
              <a:rPr sz="1800" dirty="0"/>
              <a:t>Agentic AI enables seamless teamwork where humans and AI agents collaborate effectively.</a:t>
            </a:r>
            <a:endParaRPr lang="en-US" sz="1800" dirty="0"/>
          </a:p>
          <a:p>
            <a:pPr marL="0" indent="0">
              <a:spcBef>
                <a:spcPts val="2500"/>
              </a:spcBef>
              <a:buFont typeface="Arial" panose="020B0604020202020204" pitchFamily="34" charset="0"/>
              <a:buNone/>
            </a:pPr>
            <a:r>
              <a:rPr lang="en-US" sz="1800" b="1" dirty="0"/>
              <a:t>Personalized Adaptive Agents</a:t>
            </a:r>
          </a:p>
          <a:p>
            <a:pPr marL="0" lvl="1" indent="0">
              <a:buFont typeface="Arial" panose="020B0604020202020204" pitchFamily="34" charset="0"/>
              <a:buNone/>
            </a:pPr>
            <a:r>
              <a:rPr sz="1800" dirty="0"/>
              <a:t>AI agents adapt to individual working styles, providing tailored and dynamic support.</a:t>
            </a:r>
            <a:endParaRPr lang="en-US" sz="1800" dirty="0"/>
          </a:p>
          <a:p>
            <a:pPr marL="0" indent="0">
              <a:spcBef>
                <a:spcPts val="2500"/>
              </a:spcBef>
              <a:buFont typeface="Arial" panose="020B0604020202020204" pitchFamily="34" charset="0"/>
              <a:buNone/>
            </a:pPr>
            <a:r>
              <a:rPr lang="en-US" sz="1800" b="1" dirty="0"/>
              <a:t>Workflow Management</a:t>
            </a:r>
          </a:p>
          <a:p>
            <a:pPr marL="0" lvl="1" indent="0">
              <a:buFont typeface="Arial" panose="020B0604020202020204" pitchFamily="34" charset="0"/>
              <a:buNone/>
            </a:pPr>
            <a:r>
              <a:rPr sz="1800" dirty="0"/>
              <a:t>Agentic AI manages workflows holistically, improving efficiency beyond isolated tasks.</a:t>
            </a:r>
            <a:endParaRPr lang="en-US" sz="1800" dirty="0"/>
          </a:p>
          <a:p>
            <a:pPr marL="0" indent="0">
              <a:spcBef>
                <a:spcPts val="2500"/>
              </a:spcBef>
              <a:buFont typeface="Arial" panose="020B0604020202020204" pitchFamily="34" charset="0"/>
              <a:buNone/>
            </a:pPr>
            <a:r>
              <a:rPr lang="en-US" sz="1800" b="1" dirty="0"/>
              <a:t>Productivity and Innovation</a:t>
            </a:r>
          </a:p>
          <a:p>
            <a:pPr marL="0" lvl="1" indent="0">
              <a:buFont typeface="Arial" panose="020B0604020202020204" pitchFamily="34" charset="0"/>
              <a:buNone/>
            </a:pPr>
            <a:r>
              <a:rPr sz="1800" dirty="0"/>
              <a:t>Integration of Agentic AI will redefine roles, boost productivity, and foster innovation.</a:t>
            </a:r>
            <a:endParaRPr lang="en-US" sz="1800" dirty="0"/>
          </a:p>
        </p:txBody>
      </p:sp>
      <p:sp>
        <p:nvSpPr>
          <p:cNvPr id="5" name="Footer Placeholder 4">
            <a:extLst>
              <a:ext uri="{FF2B5EF4-FFF2-40B4-BE49-F238E27FC236}">
                <a16:creationId xmlns:a16="http://schemas.microsoft.com/office/drawing/2014/main" id="{5F58241D-BE74-A2C7-F90D-16DE948B0D9C}"/>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11D40D5B-6D73-2555-2AD3-0D4B457B7225}"/>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E8E7ABB8-CC7D-73F0-F11A-2B4EBB352380}"/>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25</a:t>
            </a:fld>
            <a:endParaRPr lang="en-US"/>
          </a:p>
        </p:txBody>
      </p:sp>
    </p:spTree>
    <p:extLst>
      <p:ext uri="{BB962C8B-B14F-4D97-AF65-F5344CB8AC3E}">
        <p14:creationId xmlns:p14="http://schemas.microsoft.com/office/powerpoint/2010/main" val="1196010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D9A6-3C35-0F9F-09FF-DF87947F66F4}"/>
              </a:ext>
            </a:extLst>
          </p:cNvPr>
          <p:cNvSpPr>
            <a:spLocks noGrp="1"/>
          </p:cNvSpPr>
          <p:nvPr>
            <p:ph type="title"/>
          </p:nvPr>
        </p:nvSpPr>
        <p:spPr>
          <a:xfrm>
            <a:off x="185877" y="1062360"/>
            <a:ext cx="9948723" cy="5762371"/>
          </a:xfrm>
        </p:spPr>
        <p:txBody>
          <a:bodyPr anchor="b">
            <a:normAutofit/>
          </a:bodyPr>
          <a:lstStyle/>
          <a:p>
            <a:r>
              <a:rPr lang="en-US"/>
              <a:t>Conclusion and Call to Action</a:t>
            </a:r>
          </a:p>
        </p:txBody>
      </p:sp>
      <p:sp>
        <p:nvSpPr>
          <p:cNvPr id="4" name="Footer Placeholder 3">
            <a:extLst>
              <a:ext uri="{FF2B5EF4-FFF2-40B4-BE49-F238E27FC236}">
                <a16:creationId xmlns:a16="http://schemas.microsoft.com/office/drawing/2014/main" id="{C4CE954B-EC8E-C59A-0F22-681A45E04C48}"/>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5999F40-D648-008E-E374-F6B23E8BBB20}"/>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9/4/2025</a:t>
            </a:fld>
            <a:endParaRPr lang="en-US"/>
          </a:p>
        </p:txBody>
      </p:sp>
      <p:sp>
        <p:nvSpPr>
          <p:cNvPr id="6" name="Slide Number Placeholder 5">
            <a:extLst>
              <a:ext uri="{FF2B5EF4-FFF2-40B4-BE49-F238E27FC236}">
                <a16:creationId xmlns:a16="http://schemas.microsoft.com/office/drawing/2014/main" id="{C3DCF8D9-5E2C-23D0-3F98-63BED853B203}"/>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26</a:t>
            </a:fld>
            <a:endParaRPr lang="en-US"/>
          </a:p>
        </p:txBody>
      </p:sp>
    </p:spTree>
    <p:extLst>
      <p:ext uri="{BB962C8B-B14F-4D97-AF65-F5344CB8AC3E}">
        <p14:creationId xmlns:p14="http://schemas.microsoft.com/office/powerpoint/2010/main" val="301484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I Artificial intelligence abstract neural network future technology internet of things big data">
            <a:extLst>
              <a:ext uri="{FF2B5EF4-FFF2-40B4-BE49-F238E27FC236}">
                <a16:creationId xmlns:a16="http://schemas.microsoft.com/office/drawing/2014/main" id="{841DFEB8-A32B-4335-8BAB-5A3FCCEAE81E}"/>
              </a:ext>
            </a:extLst>
          </p:cNvPr>
          <p:cNvPicPr>
            <a:picLocks noGrp="1" noChangeAspect="1"/>
          </p:cNvPicPr>
          <p:nvPr>
            <p:ph type="pic" sz="quarter" idx="13"/>
          </p:nvPr>
        </p:nvPicPr>
        <p:blipFill>
          <a:blip r:embed="rId3"/>
          <a:srcRect l="12197" r="13144" b="3"/>
          <a:stretch>
            <a:fillRect/>
          </a:stretch>
        </p:blipFill>
        <p:spPr>
          <a:xfrm>
            <a:off x="20" y="1"/>
            <a:ext cx="4800580" cy="4822372"/>
          </a:xfrm>
          <a:prstGeom prst="rect">
            <a:avLst/>
          </a:prstGeom>
          <a:noFill/>
        </p:spPr>
      </p:pic>
      <p:sp>
        <p:nvSpPr>
          <p:cNvPr id="2" name="Title 1">
            <a:extLst>
              <a:ext uri="{FF2B5EF4-FFF2-40B4-BE49-F238E27FC236}">
                <a16:creationId xmlns:a16="http://schemas.microsoft.com/office/drawing/2014/main" id="{573C02B6-8E40-749C-8CB5-39C1614901A3}"/>
              </a:ext>
            </a:extLst>
          </p:cNvPr>
          <p:cNvSpPr>
            <a:spLocks noGrp="1"/>
          </p:cNvSpPr>
          <p:nvPr>
            <p:ph type="title"/>
          </p:nvPr>
        </p:nvSpPr>
        <p:spPr>
          <a:xfrm>
            <a:off x="1002085" y="4374100"/>
            <a:ext cx="3897905" cy="1380814"/>
          </a:xfrm>
        </p:spPr>
        <p:txBody>
          <a:bodyPr anchor="t">
            <a:normAutofit/>
          </a:bodyPr>
          <a:lstStyle/>
          <a:p>
            <a:r>
              <a:rPr lang="en-US"/>
              <a:t>Key Takeaways</a:t>
            </a:r>
          </a:p>
        </p:txBody>
      </p:sp>
      <p:sp>
        <p:nvSpPr>
          <p:cNvPr id="4" name="Content Placeholder 3">
            <a:extLst>
              <a:ext uri="{FF2B5EF4-FFF2-40B4-BE49-F238E27FC236}">
                <a16:creationId xmlns:a16="http://schemas.microsoft.com/office/drawing/2014/main" id="{CB3DF95C-A6A3-2F95-09A5-5A9AFA45981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Agentic AI Capabilities</a:t>
            </a:r>
          </a:p>
          <a:p>
            <a:pPr marL="0" lvl="1" indent="0">
              <a:buFont typeface="Arial" panose="020B0604020202020204" pitchFamily="34" charset="0"/>
              <a:buNone/>
            </a:pPr>
            <a:r>
              <a:t>Agentic AI integrates LLMs with planning, tools, memory, and actions to create proactive autonomous systems.</a:t>
            </a:r>
            <a:endParaRPr lang="en-US"/>
          </a:p>
          <a:p>
            <a:pPr marL="0" indent="0">
              <a:spcBef>
                <a:spcPts val="2500"/>
              </a:spcBef>
              <a:buFont typeface="Arial" panose="020B0604020202020204" pitchFamily="34" charset="0"/>
              <a:buNone/>
            </a:pPr>
            <a:r>
              <a:rPr lang="en-US" b="1"/>
              <a:t>Industry Transformation</a:t>
            </a:r>
          </a:p>
          <a:p>
            <a:pPr marL="0" lvl="1" indent="0">
              <a:buFont typeface="Arial" panose="020B0604020202020204" pitchFamily="34" charset="0"/>
              <a:buNone/>
            </a:pPr>
            <a:r>
              <a:t>Agentic AI enhances efficiency and enables intelligent automation, reshaping various industries.</a:t>
            </a:r>
            <a:endParaRPr lang="en-US"/>
          </a:p>
          <a:p>
            <a:pPr marL="0" indent="0">
              <a:spcBef>
                <a:spcPts val="2500"/>
              </a:spcBef>
              <a:buFont typeface="Arial" panose="020B0604020202020204" pitchFamily="34" charset="0"/>
              <a:buNone/>
            </a:pPr>
            <a:r>
              <a:rPr lang="en-US" b="1"/>
              <a:t>Human Augmentation</a:t>
            </a:r>
          </a:p>
          <a:p>
            <a:pPr marL="0" lvl="1" indent="0">
              <a:buFont typeface="Arial" panose="020B0604020202020204" pitchFamily="34" charset="0"/>
              <a:buNone/>
            </a:pPr>
            <a:r>
              <a:t>Agentic AI augments human abilities, promoting strategic and creative engagement rather than replacement.</a:t>
            </a:r>
            <a:endParaRPr lang="en-US"/>
          </a:p>
          <a:p>
            <a:pPr marL="0" indent="0">
              <a:spcBef>
                <a:spcPts val="2500"/>
              </a:spcBef>
              <a:buFont typeface="Arial" panose="020B0604020202020204" pitchFamily="34" charset="0"/>
              <a:buNone/>
            </a:pPr>
            <a:r>
              <a:rPr lang="en-US" b="1"/>
              <a:t>Future Advancements</a:t>
            </a:r>
          </a:p>
          <a:p>
            <a:pPr marL="0" lvl="1" indent="0">
              <a:buFont typeface="Arial" panose="020B0604020202020204" pitchFamily="34" charset="0"/>
              <a:buNone/>
            </a:pPr>
            <a:r>
              <a:t>Leveraging Agentic AI technology can lead to significant progress in work and problem-solving.</a:t>
            </a:r>
            <a:endParaRPr lang="en-US"/>
          </a:p>
        </p:txBody>
      </p:sp>
      <p:sp>
        <p:nvSpPr>
          <p:cNvPr id="5" name="Footer Placeholder 4">
            <a:extLst>
              <a:ext uri="{FF2B5EF4-FFF2-40B4-BE49-F238E27FC236}">
                <a16:creationId xmlns:a16="http://schemas.microsoft.com/office/drawing/2014/main" id="{9F88A29F-20BD-1AF0-5AA1-052328F58675}"/>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8C3DAA7C-3C4A-7A86-C760-A05BC6EE9BA7}"/>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96F449FD-9EDE-7220-5310-D26B134D5932}"/>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27</a:t>
            </a:fld>
            <a:endParaRPr lang="en-US"/>
          </a:p>
        </p:txBody>
      </p:sp>
    </p:spTree>
    <p:extLst>
      <p:ext uri="{BB962C8B-B14F-4D97-AF65-F5344CB8AC3E}">
        <p14:creationId xmlns:p14="http://schemas.microsoft.com/office/powerpoint/2010/main" val="3167528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D836F-D4C1-4757-BB96-D355513C800F}"/>
              </a:ext>
            </a:extLst>
          </p:cNvPr>
          <p:cNvSpPr>
            <a:spLocks noGrp="1"/>
          </p:cNvSpPr>
          <p:nvPr>
            <p:ph type="title"/>
          </p:nvPr>
        </p:nvSpPr>
        <p:spPr>
          <a:xfrm>
            <a:off x="603504" y="430047"/>
            <a:ext cx="4939005" cy="1166270"/>
          </a:xfrm>
        </p:spPr>
        <p:txBody>
          <a:bodyPr anchor="b">
            <a:normAutofit/>
          </a:bodyPr>
          <a:lstStyle/>
          <a:p>
            <a:r>
              <a:rPr lang="en-US"/>
              <a:t>Closing</a:t>
            </a:r>
          </a:p>
        </p:txBody>
      </p:sp>
      <p:sp>
        <p:nvSpPr>
          <p:cNvPr id="4" name="Content Placeholder 3">
            <a:extLst>
              <a:ext uri="{FF2B5EF4-FFF2-40B4-BE49-F238E27FC236}">
                <a16:creationId xmlns:a16="http://schemas.microsoft.com/office/drawing/2014/main" id="{AB49103C-29A6-16BB-1F4E-D6400260CAB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5432" y="1746792"/>
            <a:ext cx="5776896" cy="3969400"/>
          </a:xfrm>
        </p:spPr>
        <p:txBody>
          <a:bodyPr>
            <a:normAutofit/>
          </a:bodyPr>
          <a:lstStyle/>
          <a:p>
            <a:pPr marL="0" indent="0">
              <a:spcBef>
                <a:spcPts val="2500"/>
              </a:spcBef>
              <a:buFont typeface="Arial" panose="020B0604020202020204" pitchFamily="34" charset="0"/>
              <a:buNone/>
            </a:pPr>
            <a:r>
              <a:rPr lang="en-US" b="1"/>
              <a:t>Agentic AI Overview</a:t>
            </a:r>
          </a:p>
          <a:p>
            <a:pPr marL="0" lvl="1" indent="0">
              <a:buFont typeface="Arial" panose="020B0604020202020204" pitchFamily="34" charset="0"/>
              <a:buNone/>
            </a:pPr>
            <a:r>
              <a:t>Agentic AI actively executes tasks with autonomy, marking a leap in artificial intelligence capabilities.</a:t>
            </a:r>
            <a:endParaRPr lang="en-US"/>
          </a:p>
          <a:p>
            <a:pPr marL="0" indent="0">
              <a:spcBef>
                <a:spcPts val="2500"/>
              </a:spcBef>
              <a:buFont typeface="Arial" panose="020B0604020202020204" pitchFamily="34" charset="0"/>
              <a:buNone/>
            </a:pPr>
            <a:r>
              <a:rPr lang="en-US" b="1"/>
              <a:t>Transforming Workflows</a:t>
            </a:r>
          </a:p>
          <a:p>
            <a:pPr marL="0" lvl="1" indent="0">
              <a:buFont typeface="Arial" panose="020B0604020202020204" pitchFamily="34" charset="0"/>
              <a:buNone/>
            </a:pPr>
            <a:r>
              <a:t>This technology enables AI to move from passive tool to active collaborator in various workflows.</a:t>
            </a:r>
            <a:endParaRPr lang="en-US"/>
          </a:p>
          <a:p>
            <a:pPr marL="0" indent="0">
              <a:spcBef>
                <a:spcPts val="2500"/>
              </a:spcBef>
              <a:buFont typeface="Arial" panose="020B0604020202020204" pitchFamily="34" charset="0"/>
              <a:buNone/>
            </a:pPr>
            <a:r>
              <a:rPr lang="en-US" b="1"/>
              <a:t>Driving Innovation</a:t>
            </a:r>
          </a:p>
          <a:p>
            <a:pPr marL="0" lvl="1" indent="0">
              <a:buFont typeface="Arial" panose="020B0604020202020204" pitchFamily="34" charset="0"/>
              <a:buNone/>
            </a:pPr>
            <a:r>
              <a:t>Adopting Agentic AI wisely can revolutionize innovation and unlock new efficiencies.</a:t>
            </a:r>
            <a:endParaRPr lang="en-US"/>
          </a:p>
        </p:txBody>
      </p:sp>
      <p:pic>
        <p:nvPicPr>
          <p:cNvPr id="8" name="Content Placeholder 7" descr="Metaverse 3d rending.">
            <a:extLst>
              <a:ext uri="{FF2B5EF4-FFF2-40B4-BE49-F238E27FC236}">
                <a16:creationId xmlns:a16="http://schemas.microsoft.com/office/drawing/2014/main" id="{62C5F233-A419-4649-B699-EB57A0E8B592}"/>
              </a:ext>
            </a:extLst>
          </p:cNvPr>
          <p:cNvPicPr>
            <a:picLocks noGrp="1" noChangeAspect="1"/>
          </p:cNvPicPr>
          <p:nvPr>
            <p:ph type="pic" sz="quarter" idx="13"/>
          </p:nvPr>
        </p:nvPicPr>
        <p:blipFill>
          <a:blip r:embed="rId3"/>
          <a:srcRect l="25678" r="16717" b="2"/>
          <a:stretch>
            <a:fillRect/>
          </a:stretch>
        </p:blipFill>
        <p:spPr>
          <a:xfrm>
            <a:off x="7391400" y="10"/>
            <a:ext cx="4800600" cy="5562590"/>
          </a:xfrm>
          <a:prstGeom prst="rect">
            <a:avLst/>
          </a:prstGeom>
          <a:noFill/>
        </p:spPr>
      </p:pic>
      <p:sp>
        <p:nvSpPr>
          <p:cNvPr id="5" name="Footer Placeholder 4">
            <a:extLst>
              <a:ext uri="{FF2B5EF4-FFF2-40B4-BE49-F238E27FC236}">
                <a16:creationId xmlns:a16="http://schemas.microsoft.com/office/drawing/2014/main" id="{D4B57F1F-26A2-194F-F3B2-0F0329D8392A}"/>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3EA7CAFB-5B6F-9162-AFCA-A21A8CE40659}"/>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9/4/2025</a:t>
            </a:fld>
            <a:endParaRPr lang="en-US"/>
          </a:p>
        </p:txBody>
      </p:sp>
      <p:sp>
        <p:nvSpPr>
          <p:cNvPr id="7" name="Slide Number Placeholder 6">
            <a:extLst>
              <a:ext uri="{FF2B5EF4-FFF2-40B4-BE49-F238E27FC236}">
                <a16:creationId xmlns:a16="http://schemas.microsoft.com/office/drawing/2014/main" id="{FE6CE380-D52B-8EA9-0255-F0BE80C15FCA}"/>
              </a:ext>
            </a:extLst>
          </p:cNvPr>
          <p:cNvSpPr>
            <a:spLocks noGrp="1"/>
          </p:cNvSpPr>
          <p:nvPr>
            <p:ph type="sldNum" sz="quarter" idx="12"/>
          </p:nvPr>
        </p:nvSpPr>
        <p:spPr>
          <a:xfrm>
            <a:off x="11238206" y="6029868"/>
            <a:ext cx="429372" cy="365125"/>
          </a:xfrm>
        </p:spPr>
        <p:txBody>
          <a:bodyPr anchor="ctr">
            <a:normAutofit/>
          </a:bodyPr>
          <a:lstStyle/>
          <a:p>
            <a:pPr>
              <a:spcAft>
                <a:spcPts val="600"/>
              </a:spcAft>
            </a:pPr>
            <a:fld id="{27F8DDA4-3B80-4E8A-A8F5-521F73BF9127}" type="slidenum">
              <a:rPr lang="en-US" smtClean="0"/>
              <a:pPr>
                <a:spcAft>
                  <a:spcPts val="600"/>
                </a:spcAft>
              </a:pPr>
              <a:t>28</a:t>
            </a:fld>
            <a:endParaRPr lang="en-US"/>
          </a:p>
        </p:txBody>
      </p:sp>
    </p:spTree>
    <p:extLst>
      <p:ext uri="{BB962C8B-B14F-4D97-AF65-F5344CB8AC3E}">
        <p14:creationId xmlns:p14="http://schemas.microsoft.com/office/powerpoint/2010/main" val="41392221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2290</Words>
  <Application>Microsoft Office PowerPoint</Application>
  <PresentationFormat>Widescreen</PresentationFormat>
  <Paragraphs>231</Paragraphs>
  <Slides>28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Calibri</vt:lpstr>
      <vt:lpstr>Congenial</vt:lpstr>
      <vt:lpstr>Oswald SemiBold</vt:lpstr>
      <vt:lpstr>Univers Condensed Light</vt:lpstr>
      <vt:lpstr>Orange experience</vt:lpstr>
      <vt:lpstr>Agentic AI: The Next Evolution Beyond LLMs</vt:lpstr>
      <vt:lpstr>Large Language Model </vt:lpstr>
      <vt:lpstr>Workflow of LLM</vt:lpstr>
      <vt:lpstr>Introduction</vt:lpstr>
      <vt:lpstr>PowerPoint Presentation</vt:lpstr>
      <vt:lpstr>PowerPoint Presentation</vt:lpstr>
      <vt:lpstr>PowerPoint Presentation</vt:lpstr>
      <vt:lpstr>Introduction to Agentic AI</vt:lpstr>
      <vt:lpstr>PowerPoint Presentation</vt:lpstr>
      <vt:lpstr>PowerPoint Presentation</vt:lpstr>
      <vt:lpstr>What is Agentic AI?</vt:lpstr>
      <vt:lpstr>Mechanics and Differentiation</vt:lpstr>
      <vt:lpstr>How It Works (High Level)</vt:lpstr>
      <vt:lpstr>How Agentic AI Chooses the Right App</vt:lpstr>
      <vt:lpstr>Applications and Examples</vt:lpstr>
      <vt:lpstr>Real-Time Example</vt:lpstr>
      <vt:lpstr>PowerPoint Presentation</vt:lpstr>
      <vt:lpstr>Video game NPCs are now powered by Agentic AI, allowing characters to evolve across playthroughs. </vt:lpstr>
      <vt:lpstr>Current Applications</vt:lpstr>
      <vt:lpstr>Building and Supporting Technologies</vt:lpstr>
      <vt:lpstr>How to Create an Agentic AI</vt:lpstr>
      <vt:lpstr>Tools &amp; Frameworks Available</vt:lpstr>
      <vt:lpstr>Challenges and Future Outlook</vt:lpstr>
      <vt:lpstr>Limitations &amp; Risks</vt:lpstr>
      <vt:lpstr>The Future of Work with Agentic AI</vt:lpstr>
      <vt:lpstr>Conclusion and Call to Action</vt:lpstr>
      <vt:lpstr>Key Takeaways</vt:lpstr>
      <vt:lpstr>Closing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Zaid Khan, Vodafone</dc:creator>
  <cp:lastModifiedBy>Zaid Khan, Vodafone</cp:lastModifiedBy>
  <cp:revision>4</cp:revision>
  <dcterms:created xsi:type="dcterms:W3CDTF">2013-07-15T20:26:40Z</dcterms:created>
  <dcterms:modified xsi:type="dcterms:W3CDTF">2025-09-08T04:45:54Z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59f705-2ba0-454b-9cfc-6ce5bcaac040_Enabled">
    <vt:lpwstr>true</vt:lpwstr>
  </property>
  <property fmtid="{D5CDD505-2E9C-101B-9397-08002B2CF9AE}" pid="3" name="MSIP_Label_0359f705-2ba0-454b-9cfc-6ce5bcaac040_SetDate">
    <vt:lpwstr>2025-09-04T05:47:40Z</vt:lpwstr>
  </property>
  <property fmtid="{D5CDD505-2E9C-101B-9397-08002B2CF9AE}" pid="4" name="MSIP_Label_0359f705-2ba0-454b-9cfc-6ce5bcaac040_Method">
    <vt:lpwstr>Standard</vt:lpwstr>
  </property>
  <property fmtid="{D5CDD505-2E9C-101B-9397-08002B2CF9AE}" pid="5" name="MSIP_Label_0359f705-2ba0-454b-9cfc-6ce5bcaac040_Name">
    <vt:lpwstr>0359f705-2ba0-454b-9cfc-6ce5bcaac040</vt:lpwstr>
  </property>
  <property fmtid="{D5CDD505-2E9C-101B-9397-08002B2CF9AE}" pid="6" name="MSIP_Label_0359f705-2ba0-454b-9cfc-6ce5bcaac040_SiteId">
    <vt:lpwstr>68283f3b-8487-4c86-adb3-a5228f18b893</vt:lpwstr>
  </property>
  <property fmtid="{D5CDD505-2E9C-101B-9397-08002B2CF9AE}" pid="7" name="MSIP_Label_0359f705-2ba0-454b-9cfc-6ce5bcaac040_ActionId">
    <vt:lpwstr>31ca698c-da5a-473a-804f-527d32467a06</vt:lpwstr>
  </property>
  <property fmtid="{D5CDD505-2E9C-101B-9397-08002B2CF9AE}" pid="8" name="MSIP_Label_0359f705-2ba0-454b-9cfc-6ce5bcaac040_ContentBits">
    <vt:lpwstr>2</vt:lpwstr>
  </property>
  <property fmtid="{D5CDD505-2E9C-101B-9397-08002B2CF9AE}" pid="9" name="MSIP_Label_0359f705-2ba0-454b-9cfc-6ce5bcaac040_Tag">
    <vt:lpwstr>10, 3, 0, 2</vt:lpwstr>
  </property>
  <property fmtid="{D5CDD505-2E9C-101B-9397-08002B2CF9AE}" pid="10" name="ClassificationContentMarkingFooterLocations">
    <vt:lpwstr>Orange experience:9</vt:lpwstr>
  </property>
  <property fmtid="{D5CDD505-2E9C-101B-9397-08002B2CF9AE}" pid="11" name="ClassificationContentMarkingFooterText">
    <vt:lpwstr>C2 General</vt:lpwstr>
  </property>
</Properties>
</file>